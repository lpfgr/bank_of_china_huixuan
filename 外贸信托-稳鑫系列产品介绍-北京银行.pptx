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56" r:id="rId2"/>
  </p:sldIdLst>
  <p:sldSz cx="6858000" cy="25920700"/>
  <p:notesSz cx="12192000" cy="76200000"/>
  <p:embeddedFontLst>
    <p:embeddedFont>
      <p:font typeface="微软雅黑" panose="020B0503020204020204" pitchFamily="34" charset="-122"/>
      <p:regular r:id="rId4"/>
      <p:bold r:id="rId5"/>
    </p:embeddedFont>
    <p:embeddedFont>
      <p:font typeface="等线 Light" panose="02010600030101010101" pitchFamily="2" charset="-122"/>
      <p:regular r:id="rId6"/>
    </p:embeddedFont>
    <p:embeddedFont>
      <p:font typeface="等线" panose="02010600030101010101" pitchFamily="2" charset="-122"/>
      <p:regular r:id="rId7"/>
      <p:bold r:id="rId8"/>
    </p:embeddedFont>
    <p:embeddedFont>
      <p:font typeface="Calibri" panose="020F0502020204030204" pitchFamily="34" charset="0"/>
      <p:regular r:id="rId9"/>
      <p:bold r:id="rId10"/>
      <p:italic r:id="rId11"/>
      <p:boldItalic r:id="rId12"/>
    </p:embeddedFont>
    <p:embeddedFont>
      <p:font typeface="MiSans" panose="02010600030101010101" charset="-122"/>
      <p:regular r:id="rId13"/>
    </p:embeddedFont>
    <p:embeddedFont>
      <p:font typeface="Calibri Light" panose="020F0302020204030204" pitchFamily="34" charset="0"/>
      <p:regular r:id="rId14"/>
      <p:italic r:id="rId15"/>
    </p:embeddedFont>
  </p:embeddedFontLst>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982C"/>
    <a:srgbClr val="FEF4C7"/>
    <a:srgbClr val="FE90C7"/>
    <a:srgbClr val="FE90FF"/>
    <a:srgbClr val="1E3A5F"/>
    <a:srgbClr val="059669"/>
    <a:srgbClr val="F8FAFC"/>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0999" autoAdjust="0"/>
  </p:normalViewPr>
  <p:slideViewPr>
    <p:cSldViewPr snapToGrid="0" snapToObjects="1">
      <p:cViewPr>
        <p:scale>
          <a:sx n="150" d="100"/>
          <a:sy n="150" d="100"/>
        </p:scale>
        <p:origin x="1362" y="-99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charts/_rels/chart1.xml.rels><?xml version="1.0" encoding="UTF-8" standalone="yes"?>
<Relationships xmlns="http://schemas.openxmlformats.org/package/2006/relationships"><Relationship Id="rId3" Type="http://schemas.openxmlformats.org/officeDocument/2006/relationships/oleObject" Target="file:///C:\Wind\Wind.NET.Client\WindNET\tmp\CBA00101.C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273707407209688E-2"/>
          <c:y val="3.8817505992611731E-2"/>
          <c:w val="0.90692045724510972"/>
          <c:h val="0.69490207220575984"/>
        </c:manualLayout>
      </c:layout>
      <c:lineChart>
        <c:grouping val="standard"/>
        <c:varyColors val="0"/>
        <c:ser>
          <c:idx val="0"/>
          <c:order val="0"/>
          <c:tx>
            <c:strRef>
              <c:f>file!$B$1</c:f>
              <c:strCache>
                <c:ptCount val="1"/>
                <c:pt idx="0">
                  <c:v>中债-新综合财富(总值)指数</c:v>
                </c:pt>
              </c:strCache>
            </c:strRef>
          </c:tx>
          <c:spPr>
            <a:ln w="28575" cap="rnd">
              <a:solidFill>
                <a:schemeClr val="bg1">
                  <a:lumMod val="75000"/>
                </a:schemeClr>
              </a:solidFill>
              <a:round/>
            </a:ln>
            <a:effectLst/>
          </c:spPr>
          <c:marker>
            <c:symbol val="none"/>
          </c:marker>
          <c:cat>
            <c:numRef>
              <c:f>file!$A$2:$A$883</c:f>
              <c:numCache>
                <c:formatCode>m/d/yyyy</c:formatCode>
                <c:ptCount val="882"/>
                <c:pt idx="0">
                  <c:v>44782</c:v>
                </c:pt>
                <c:pt idx="1">
                  <c:v>44783</c:v>
                </c:pt>
                <c:pt idx="2">
                  <c:v>44784</c:v>
                </c:pt>
                <c:pt idx="3">
                  <c:v>44785</c:v>
                </c:pt>
                <c:pt idx="4">
                  <c:v>44788</c:v>
                </c:pt>
                <c:pt idx="5">
                  <c:v>44789</c:v>
                </c:pt>
                <c:pt idx="6">
                  <c:v>44790</c:v>
                </c:pt>
                <c:pt idx="7">
                  <c:v>44791</c:v>
                </c:pt>
                <c:pt idx="8">
                  <c:v>44792</c:v>
                </c:pt>
                <c:pt idx="9">
                  <c:v>44795</c:v>
                </c:pt>
                <c:pt idx="10">
                  <c:v>44796</c:v>
                </c:pt>
                <c:pt idx="11">
                  <c:v>44797</c:v>
                </c:pt>
                <c:pt idx="12">
                  <c:v>44798</c:v>
                </c:pt>
                <c:pt idx="13">
                  <c:v>44799</c:v>
                </c:pt>
                <c:pt idx="14">
                  <c:v>44802</c:v>
                </c:pt>
                <c:pt idx="15">
                  <c:v>44803</c:v>
                </c:pt>
                <c:pt idx="16">
                  <c:v>44804</c:v>
                </c:pt>
                <c:pt idx="17">
                  <c:v>44805</c:v>
                </c:pt>
                <c:pt idx="18">
                  <c:v>44806</c:v>
                </c:pt>
                <c:pt idx="19">
                  <c:v>44809</c:v>
                </c:pt>
                <c:pt idx="20">
                  <c:v>44810</c:v>
                </c:pt>
                <c:pt idx="21">
                  <c:v>44811</c:v>
                </c:pt>
                <c:pt idx="22">
                  <c:v>44812</c:v>
                </c:pt>
                <c:pt idx="23">
                  <c:v>44813</c:v>
                </c:pt>
                <c:pt idx="24">
                  <c:v>44817</c:v>
                </c:pt>
                <c:pt idx="25">
                  <c:v>44818</c:v>
                </c:pt>
                <c:pt idx="26">
                  <c:v>44819</c:v>
                </c:pt>
                <c:pt idx="27">
                  <c:v>44820</c:v>
                </c:pt>
                <c:pt idx="28">
                  <c:v>44823</c:v>
                </c:pt>
                <c:pt idx="29">
                  <c:v>44824</c:v>
                </c:pt>
                <c:pt idx="30">
                  <c:v>44825</c:v>
                </c:pt>
                <c:pt idx="31">
                  <c:v>44826</c:v>
                </c:pt>
                <c:pt idx="32">
                  <c:v>44827</c:v>
                </c:pt>
                <c:pt idx="33">
                  <c:v>44830</c:v>
                </c:pt>
                <c:pt idx="34">
                  <c:v>44831</c:v>
                </c:pt>
                <c:pt idx="35">
                  <c:v>44832</c:v>
                </c:pt>
                <c:pt idx="36">
                  <c:v>44833</c:v>
                </c:pt>
                <c:pt idx="37">
                  <c:v>44834</c:v>
                </c:pt>
                <c:pt idx="38">
                  <c:v>44842</c:v>
                </c:pt>
                <c:pt idx="39">
                  <c:v>44843</c:v>
                </c:pt>
                <c:pt idx="40">
                  <c:v>44844</c:v>
                </c:pt>
                <c:pt idx="41">
                  <c:v>44845</c:v>
                </c:pt>
                <c:pt idx="42">
                  <c:v>44846</c:v>
                </c:pt>
                <c:pt idx="43">
                  <c:v>44847</c:v>
                </c:pt>
                <c:pt idx="44">
                  <c:v>44848</c:v>
                </c:pt>
                <c:pt idx="45">
                  <c:v>44851</c:v>
                </c:pt>
                <c:pt idx="46">
                  <c:v>44852</c:v>
                </c:pt>
                <c:pt idx="47">
                  <c:v>44853</c:v>
                </c:pt>
                <c:pt idx="48">
                  <c:v>44854</c:v>
                </c:pt>
                <c:pt idx="49">
                  <c:v>44855</c:v>
                </c:pt>
                <c:pt idx="50">
                  <c:v>44858</c:v>
                </c:pt>
                <c:pt idx="51">
                  <c:v>44859</c:v>
                </c:pt>
                <c:pt idx="52">
                  <c:v>44860</c:v>
                </c:pt>
                <c:pt idx="53">
                  <c:v>44861</c:v>
                </c:pt>
                <c:pt idx="54">
                  <c:v>44862</c:v>
                </c:pt>
                <c:pt idx="55">
                  <c:v>44865</c:v>
                </c:pt>
                <c:pt idx="56">
                  <c:v>44866</c:v>
                </c:pt>
                <c:pt idx="57">
                  <c:v>44867</c:v>
                </c:pt>
                <c:pt idx="58">
                  <c:v>44868</c:v>
                </c:pt>
                <c:pt idx="59">
                  <c:v>44869</c:v>
                </c:pt>
                <c:pt idx="60">
                  <c:v>44872</c:v>
                </c:pt>
                <c:pt idx="61">
                  <c:v>44873</c:v>
                </c:pt>
                <c:pt idx="62">
                  <c:v>44874</c:v>
                </c:pt>
                <c:pt idx="63">
                  <c:v>44875</c:v>
                </c:pt>
                <c:pt idx="64">
                  <c:v>44876</c:v>
                </c:pt>
                <c:pt idx="65">
                  <c:v>44879</c:v>
                </c:pt>
                <c:pt idx="66">
                  <c:v>44880</c:v>
                </c:pt>
                <c:pt idx="67">
                  <c:v>44881</c:v>
                </c:pt>
                <c:pt idx="68">
                  <c:v>44882</c:v>
                </c:pt>
                <c:pt idx="69">
                  <c:v>44883</c:v>
                </c:pt>
                <c:pt idx="70">
                  <c:v>44886</c:v>
                </c:pt>
                <c:pt idx="71">
                  <c:v>44887</c:v>
                </c:pt>
                <c:pt idx="72">
                  <c:v>44888</c:v>
                </c:pt>
                <c:pt idx="73">
                  <c:v>44889</c:v>
                </c:pt>
                <c:pt idx="74">
                  <c:v>44890</c:v>
                </c:pt>
                <c:pt idx="75">
                  <c:v>44893</c:v>
                </c:pt>
                <c:pt idx="76">
                  <c:v>44894</c:v>
                </c:pt>
                <c:pt idx="77">
                  <c:v>44895</c:v>
                </c:pt>
                <c:pt idx="78">
                  <c:v>44896</c:v>
                </c:pt>
                <c:pt idx="79">
                  <c:v>44897</c:v>
                </c:pt>
                <c:pt idx="80">
                  <c:v>44900</c:v>
                </c:pt>
                <c:pt idx="81">
                  <c:v>44901</c:v>
                </c:pt>
                <c:pt idx="82">
                  <c:v>44902</c:v>
                </c:pt>
                <c:pt idx="83">
                  <c:v>44903</c:v>
                </c:pt>
                <c:pt idx="84">
                  <c:v>44904</c:v>
                </c:pt>
                <c:pt idx="85">
                  <c:v>44907</c:v>
                </c:pt>
                <c:pt idx="86">
                  <c:v>44908</c:v>
                </c:pt>
                <c:pt idx="87">
                  <c:v>44909</c:v>
                </c:pt>
                <c:pt idx="88">
                  <c:v>44910</c:v>
                </c:pt>
                <c:pt idx="89">
                  <c:v>44911</c:v>
                </c:pt>
                <c:pt idx="90">
                  <c:v>44914</c:v>
                </c:pt>
                <c:pt idx="91">
                  <c:v>44915</c:v>
                </c:pt>
                <c:pt idx="92">
                  <c:v>44916</c:v>
                </c:pt>
                <c:pt idx="93">
                  <c:v>44917</c:v>
                </c:pt>
                <c:pt idx="94">
                  <c:v>44918</c:v>
                </c:pt>
                <c:pt idx="95">
                  <c:v>44921</c:v>
                </c:pt>
                <c:pt idx="96">
                  <c:v>44922</c:v>
                </c:pt>
                <c:pt idx="97">
                  <c:v>44923</c:v>
                </c:pt>
                <c:pt idx="98">
                  <c:v>44924</c:v>
                </c:pt>
                <c:pt idx="99">
                  <c:v>44925</c:v>
                </c:pt>
                <c:pt idx="100">
                  <c:v>44926</c:v>
                </c:pt>
                <c:pt idx="101">
                  <c:v>44929</c:v>
                </c:pt>
                <c:pt idx="102">
                  <c:v>44930</c:v>
                </c:pt>
                <c:pt idx="103">
                  <c:v>44931</c:v>
                </c:pt>
                <c:pt idx="104">
                  <c:v>44932</c:v>
                </c:pt>
                <c:pt idx="105">
                  <c:v>44935</c:v>
                </c:pt>
                <c:pt idx="106">
                  <c:v>44936</c:v>
                </c:pt>
                <c:pt idx="107">
                  <c:v>44937</c:v>
                </c:pt>
                <c:pt idx="108">
                  <c:v>44938</c:v>
                </c:pt>
                <c:pt idx="109">
                  <c:v>44939</c:v>
                </c:pt>
                <c:pt idx="110">
                  <c:v>44942</c:v>
                </c:pt>
                <c:pt idx="111">
                  <c:v>44943</c:v>
                </c:pt>
                <c:pt idx="112">
                  <c:v>44944</c:v>
                </c:pt>
                <c:pt idx="113">
                  <c:v>44945</c:v>
                </c:pt>
                <c:pt idx="114">
                  <c:v>44946</c:v>
                </c:pt>
                <c:pt idx="115">
                  <c:v>44954</c:v>
                </c:pt>
                <c:pt idx="116">
                  <c:v>44955</c:v>
                </c:pt>
                <c:pt idx="117">
                  <c:v>44956</c:v>
                </c:pt>
                <c:pt idx="118">
                  <c:v>44957</c:v>
                </c:pt>
                <c:pt idx="119">
                  <c:v>44958</c:v>
                </c:pt>
                <c:pt idx="120">
                  <c:v>44959</c:v>
                </c:pt>
                <c:pt idx="121">
                  <c:v>44960</c:v>
                </c:pt>
                <c:pt idx="122">
                  <c:v>44963</c:v>
                </c:pt>
                <c:pt idx="123">
                  <c:v>44964</c:v>
                </c:pt>
                <c:pt idx="124">
                  <c:v>44965</c:v>
                </c:pt>
                <c:pt idx="125">
                  <c:v>44966</c:v>
                </c:pt>
                <c:pt idx="126">
                  <c:v>44967</c:v>
                </c:pt>
                <c:pt idx="127">
                  <c:v>44970</c:v>
                </c:pt>
                <c:pt idx="128">
                  <c:v>44971</c:v>
                </c:pt>
                <c:pt idx="129">
                  <c:v>44972</c:v>
                </c:pt>
                <c:pt idx="130">
                  <c:v>44973</c:v>
                </c:pt>
                <c:pt idx="131">
                  <c:v>44974</c:v>
                </c:pt>
                <c:pt idx="132">
                  <c:v>44977</c:v>
                </c:pt>
                <c:pt idx="133">
                  <c:v>44978</c:v>
                </c:pt>
                <c:pt idx="134">
                  <c:v>44979</c:v>
                </c:pt>
                <c:pt idx="135">
                  <c:v>44980</c:v>
                </c:pt>
                <c:pt idx="136">
                  <c:v>44981</c:v>
                </c:pt>
                <c:pt idx="137">
                  <c:v>44984</c:v>
                </c:pt>
                <c:pt idx="138">
                  <c:v>44985</c:v>
                </c:pt>
                <c:pt idx="139">
                  <c:v>44986</c:v>
                </c:pt>
                <c:pt idx="140">
                  <c:v>44987</c:v>
                </c:pt>
                <c:pt idx="141">
                  <c:v>44988</c:v>
                </c:pt>
                <c:pt idx="142">
                  <c:v>44991</c:v>
                </c:pt>
                <c:pt idx="143">
                  <c:v>44992</c:v>
                </c:pt>
                <c:pt idx="144">
                  <c:v>44993</c:v>
                </c:pt>
                <c:pt idx="145">
                  <c:v>44994</c:v>
                </c:pt>
                <c:pt idx="146">
                  <c:v>44995</c:v>
                </c:pt>
                <c:pt idx="147">
                  <c:v>44998</c:v>
                </c:pt>
                <c:pt idx="148">
                  <c:v>44999</c:v>
                </c:pt>
                <c:pt idx="149">
                  <c:v>45000</c:v>
                </c:pt>
                <c:pt idx="150">
                  <c:v>45001</c:v>
                </c:pt>
                <c:pt idx="151">
                  <c:v>45002</c:v>
                </c:pt>
                <c:pt idx="152">
                  <c:v>45005</c:v>
                </c:pt>
                <c:pt idx="153">
                  <c:v>45006</c:v>
                </c:pt>
                <c:pt idx="154">
                  <c:v>45007</c:v>
                </c:pt>
                <c:pt idx="155">
                  <c:v>45008</c:v>
                </c:pt>
                <c:pt idx="156">
                  <c:v>45009</c:v>
                </c:pt>
                <c:pt idx="157">
                  <c:v>45012</c:v>
                </c:pt>
                <c:pt idx="158">
                  <c:v>45013</c:v>
                </c:pt>
                <c:pt idx="159">
                  <c:v>45014</c:v>
                </c:pt>
                <c:pt idx="160">
                  <c:v>45015</c:v>
                </c:pt>
                <c:pt idx="161">
                  <c:v>45016</c:v>
                </c:pt>
                <c:pt idx="162">
                  <c:v>45019</c:v>
                </c:pt>
                <c:pt idx="163">
                  <c:v>45020</c:v>
                </c:pt>
                <c:pt idx="164">
                  <c:v>45022</c:v>
                </c:pt>
                <c:pt idx="165">
                  <c:v>45023</c:v>
                </c:pt>
                <c:pt idx="166">
                  <c:v>45026</c:v>
                </c:pt>
                <c:pt idx="167">
                  <c:v>45027</c:v>
                </c:pt>
                <c:pt idx="168">
                  <c:v>45028</c:v>
                </c:pt>
                <c:pt idx="169">
                  <c:v>45029</c:v>
                </c:pt>
                <c:pt idx="170">
                  <c:v>45030</c:v>
                </c:pt>
                <c:pt idx="171">
                  <c:v>45033</c:v>
                </c:pt>
                <c:pt idx="172">
                  <c:v>45034</c:v>
                </c:pt>
                <c:pt idx="173">
                  <c:v>45035</c:v>
                </c:pt>
                <c:pt idx="174">
                  <c:v>45036</c:v>
                </c:pt>
                <c:pt idx="175">
                  <c:v>45037</c:v>
                </c:pt>
                <c:pt idx="176">
                  <c:v>45039</c:v>
                </c:pt>
                <c:pt idx="177">
                  <c:v>45040</c:v>
                </c:pt>
                <c:pt idx="178">
                  <c:v>45041</c:v>
                </c:pt>
                <c:pt idx="179">
                  <c:v>45042</c:v>
                </c:pt>
                <c:pt idx="180">
                  <c:v>45043</c:v>
                </c:pt>
                <c:pt idx="181">
                  <c:v>45044</c:v>
                </c:pt>
                <c:pt idx="182">
                  <c:v>45050</c:v>
                </c:pt>
                <c:pt idx="183">
                  <c:v>45051</c:v>
                </c:pt>
                <c:pt idx="184">
                  <c:v>45052</c:v>
                </c:pt>
                <c:pt idx="185">
                  <c:v>45054</c:v>
                </c:pt>
                <c:pt idx="186">
                  <c:v>45055</c:v>
                </c:pt>
                <c:pt idx="187">
                  <c:v>45056</c:v>
                </c:pt>
                <c:pt idx="188">
                  <c:v>45057</c:v>
                </c:pt>
                <c:pt idx="189">
                  <c:v>45058</c:v>
                </c:pt>
                <c:pt idx="190">
                  <c:v>45061</c:v>
                </c:pt>
                <c:pt idx="191">
                  <c:v>45062</c:v>
                </c:pt>
                <c:pt idx="192">
                  <c:v>45063</c:v>
                </c:pt>
                <c:pt idx="193">
                  <c:v>45064</c:v>
                </c:pt>
                <c:pt idx="194">
                  <c:v>45065</c:v>
                </c:pt>
                <c:pt idx="195">
                  <c:v>45068</c:v>
                </c:pt>
                <c:pt idx="196">
                  <c:v>45069</c:v>
                </c:pt>
                <c:pt idx="197">
                  <c:v>45070</c:v>
                </c:pt>
                <c:pt idx="198">
                  <c:v>45071</c:v>
                </c:pt>
                <c:pt idx="199">
                  <c:v>45072</c:v>
                </c:pt>
                <c:pt idx="200">
                  <c:v>45075</c:v>
                </c:pt>
                <c:pt idx="201">
                  <c:v>45076</c:v>
                </c:pt>
                <c:pt idx="202">
                  <c:v>45077</c:v>
                </c:pt>
                <c:pt idx="203">
                  <c:v>45078</c:v>
                </c:pt>
                <c:pt idx="204">
                  <c:v>45079</c:v>
                </c:pt>
                <c:pt idx="205">
                  <c:v>45082</c:v>
                </c:pt>
                <c:pt idx="206">
                  <c:v>45083</c:v>
                </c:pt>
                <c:pt idx="207">
                  <c:v>45084</c:v>
                </c:pt>
                <c:pt idx="208">
                  <c:v>45085</c:v>
                </c:pt>
                <c:pt idx="209">
                  <c:v>45086</c:v>
                </c:pt>
                <c:pt idx="210">
                  <c:v>45089</c:v>
                </c:pt>
                <c:pt idx="211">
                  <c:v>45090</c:v>
                </c:pt>
                <c:pt idx="212">
                  <c:v>45091</c:v>
                </c:pt>
                <c:pt idx="213">
                  <c:v>45092</c:v>
                </c:pt>
                <c:pt idx="214">
                  <c:v>45093</c:v>
                </c:pt>
                <c:pt idx="215">
                  <c:v>45096</c:v>
                </c:pt>
                <c:pt idx="216">
                  <c:v>45097</c:v>
                </c:pt>
                <c:pt idx="217">
                  <c:v>45098</c:v>
                </c:pt>
                <c:pt idx="218">
                  <c:v>45102</c:v>
                </c:pt>
                <c:pt idx="219">
                  <c:v>45103</c:v>
                </c:pt>
                <c:pt idx="220">
                  <c:v>45104</c:v>
                </c:pt>
                <c:pt idx="221">
                  <c:v>45105</c:v>
                </c:pt>
                <c:pt idx="222">
                  <c:v>45106</c:v>
                </c:pt>
                <c:pt idx="223">
                  <c:v>45107</c:v>
                </c:pt>
                <c:pt idx="224">
                  <c:v>45110</c:v>
                </c:pt>
                <c:pt idx="225">
                  <c:v>45111</c:v>
                </c:pt>
                <c:pt idx="226">
                  <c:v>45112</c:v>
                </c:pt>
                <c:pt idx="227">
                  <c:v>45113</c:v>
                </c:pt>
                <c:pt idx="228">
                  <c:v>45114</c:v>
                </c:pt>
                <c:pt idx="229">
                  <c:v>45117</c:v>
                </c:pt>
                <c:pt idx="230">
                  <c:v>45118</c:v>
                </c:pt>
                <c:pt idx="231">
                  <c:v>45119</c:v>
                </c:pt>
                <c:pt idx="232">
                  <c:v>45120</c:v>
                </c:pt>
                <c:pt idx="233">
                  <c:v>45121</c:v>
                </c:pt>
                <c:pt idx="234">
                  <c:v>45124</c:v>
                </c:pt>
                <c:pt idx="235">
                  <c:v>45125</c:v>
                </c:pt>
                <c:pt idx="236">
                  <c:v>45126</c:v>
                </c:pt>
                <c:pt idx="237">
                  <c:v>45127</c:v>
                </c:pt>
                <c:pt idx="238">
                  <c:v>45128</c:v>
                </c:pt>
                <c:pt idx="239">
                  <c:v>45131</c:v>
                </c:pt>
                <c:pt idx="240">
                  <c:v>45132</c:v>
                </c:pt>
                <c:pt idx="241">
                  <c:v>45133</c:v>
                </c:pt>
                <c:pt idx="242">
                  <c:v>45134</c:v>
                </c:pt>
                <c:pt idx="243">
                  <c:v>45135</c:v>
                </c:pt>
                <c:pt idx="244">
                  <c:v>45138</c:v>
                </c:pt>
                <c:pt idx="245">
                  <c:v>45139</c:v>
                </c:pt>
                <c:pt idx="246">
                  <c:v>45140</c:v>
                </c:pt>
                <c:pt idx="247">
                  <c:v>45141</c:v>
                </c:pt>
                <c:pt idx="248">
                  <c:v>45142</c:v>
                </c:pt>
                <c:pt idx="249">
                  <c:v>45145</c:v>
                </c:pt>
                <c:pt idx="250">
                  <c:v>45146</c:v>
                </c:pt>
                <c:pt idx="251">
                  <c:v>45147</c:v>
                </c:pt>
                <c:pt idx="252">
                  <c:v>45148</c:v>
                </c:pt>
                <c:pt idx="253">
                  <c:v>45149</c:v>
                </c:pt>
                <c:pt idx="254">
                  <c:v>45152</c:v>
                </c:pt>
                <c:pt idx="255">
                  <c:v>45153</c:v>
                </c:pt>
                <c:pt idx="256">
                  <c:v>45154</c:v>
                </c:pt>
                <c:pt idx="257">
                  <c:v>45155</c:v>
                </c:pt>
                <c:pt idx="258">
                  <c:v>45156</c:v>
                </c:pt>
                <c:pt idx="259">
                  <c:v>45159</c:v>
                </c:pt>
                <c:pt idx="260">
                  <c:v>45160</c:v>
                </c:pt>
                <c:pt idx="261">
                  <c:v>45161</c:v>
                </c:pt>
                <c:pt idx="262">
                  <c:v>45162</c:v>
                </c:pt>
                <c:pt idx="263">
                  <c:v>45163</c:v>
                </c:pt>
                <c:pt idx="264">
                  <c:v>45166</c:v>
                </c:pt>
                <c:pt idx="265">
                  <c:v>45167</c:v>
                </c:pt>
                <c:pt idx="266">
                  <c:v>45168</c:v>
                </c:pt>
                <c:pt idx="267">
                  <c:v>45169</c:v>
                </c:pt>
                <c:pt idx="268">
                  <c:v>45170</c:v>
                </c:pt>
                <c:pt idx="269">
                  <c:v>45173</c:v>
                </c:pt>
                <c:pt idx="270">
                  <c:v>45174</c:v>
                </c:pt>
                <c:pt idx="271">
                  <c:v>45175</c:v>
                </c:pt>
                <c:pt idx="272">
                  <c:v>45176</c:v>
                </c:pt>
                <c:pt idx="273">
                  <c:v>45177</c:v>
                </c:pt>
                <c:pt idx="274">
                  <c:v>45180</c:v>
                </c:pt>
                <c:pt idx="275">
                  <c:v>45181</c:v>
                </c:pt>
                <c:pt idx="276">
                  <c:v>45182</c:v>
                </c:pt>
                <c:pt idx="277">
                  <c:v>45183</c:v>
                </c:pt>
                <c:pt idx="278">
                  <c:v>45184</c:v>
                </c:pt>
                <c:pt idx="279">
                  <c:v>45187</c:v>
                </c:pt>
                <c:pt idx="280">
                  <c:v>45188</c:v>
                </c:pt>
                <c:pt idx="281">
                  <c:v>45189</c:v>
                </c:pt>
                <c:pt idx="282">
                  <c:v>45190</c:v>
                </c:pt>
                <c:pt idx="283">
                  <c:v>45191</c:v>
                </c:pt>
                <c:pt idx="284">
                  <c:v>45194</c:v>
                </c:pt>
                <c:pt idx="285">
                  <c:v>45195</c:v>
                </c:pt>
                <c:pt idx="286">
                  <c:v>45196</c:v>
                </c:pt>
                <c:pt idx="287">
                  <c:v>45197</c:v>
                </c:pt>
                <c:pt idx="288">
                  <c:v>45206</c:v>
                </c:pt>
                <c:pt idx="289">
                  <c:v>45207</c:v>
                </c:pt>
                <c:pt idx="290">
                  <c:v>45208</c:v>
                </c:pt>
                <c:pt idx="291">
                  <c:v>45209</c:v>
                </c:pt>
                <c:pt idx="292">
                  <c:v>45210</c:v>
                </c:pt>
                <c:pt idx="293">
                  <c:v>45211</c:v>
                </c:pt>
                <c:pt idx="294">
                  <c:v>45212</c:v>
                </c:pt>
                <c:pt idx="295">
                  <c:v>45215</c:v>
                </c:pt>
                <c:pt idx="296">
                  <c:v>45216</c:v>
                </c:pt>
                <c:pt idx="297">
                  <c:v>45217</c:v>
                </c:pt>
                <c:pt idx="298">
                  <c:v>45218</c:v>
                </c:pt>
                <c:pt idx="299">
                  <c:v>45219</c:v>
                </c:pt>
                <c:pt idx="300">
                  <c:v>45222</c:v>
                </c:pt>
                <c:pt idx="301">
                  <c:v>45223</c:v>
                </c:pt>
                <c:pt idx="302">
                  <c:v>45224</c:v>
                </c:pt>
                <c:pt idx="303">
                  <c:v>45225</c:v>
                </c:pt>
                <c:pt idx="304">
                  <c:v>45226</c:v>
                </c:pt>
                <c:pt idx="305">
                  <c:v>45229</c:v>
                </c:pt>
                <c:pt idx="306">
                  <c:v>45230</c:v>
                </c:pt>
                <c:pt idx="307">
                  <c:v>45231</c:v>
                </c:pt>
                <c:pt idx="308">
                  <c:v>45232</c:v>
                </c:pt>
                <c:pt idx="309">
                  <c:v>45233</c:v>
                </c:pt>
                <c:pt idx="310">
                  <c:v>45236</c:v>
                </c:pt>
                <c:pt idx="311">
                  <c:v>45237</c:v>
                </c:pt>
                <c:pt idx="312">
                  <c:v>45238</c:v>
                </c:pt>
                <c:pt idx="313">
                  <c:v>45239</c:v>
                </c:pt>
                <c:pt idx="314">
                  <c:v>45240</c:v>
                </c:pt>
                <c:pt idx="315">
                  <c:v>45243</c:v>
                </c:pt>
                <c:pt idx="316">
                  <c:v>45244</c:v>
                </c:pt>
                <c:pt idx="317">
                  <c:v>45245</c:v>
                </c:pt>
                <c:pt idx="318">
                  <c:v>45246</c:v>
                </c:pt>
                <c:pt idx="319">
                  <c:v>45247</c:v>
                </c:pt>
                <c:pt idx="320">
                  <c:v>45250</c:v>
                </c:pt>
                <c:pt idx="321">
                  <c:v>45251</c:v>
                </c:pt>
                <c:pt idx="322">
                  <c:v>45252</c:v>
                </c:pt>
                <c:pt idx="323">
                  <c:v>45253</c:v>
                </c:pt>
                <c:pt idx="324">
                  <c:v>45254</c:v>
                </c:pt>
                <c:pt idx="325">
                  <c:v>45257</c:v>
                </c:pt>
                <c:pt idx="326">
                  <c:v>45258</c:v>
                </c:pt>
                <c:pt idx="327">
                  <c:v>45259</c:v>
                </c:pt>
                <c:pt idx="328">
                  <c:v>45260</c:v>
                </c:pt>
                <c:pt idx="329">
                  <c:v>45261</c:v>
                </c:pt>
                <c:pt idx="330">
                  <c:v>45264</c:v>
                </c:pt>
                <c:pt idx="331">
                  <c:v>45265</c:v>
                </c:pt>
                <c:pt idx="332">
                  <c:v>45266</c:v>
                </c:pt>
                <c:pt idx="333">
                  <c:v>45267</c:v>
                </c:pt>
                <c:pt idx="334">
                  <c:v>45268</c:v>
                </c:pt>
                <c:pt idx="335">
                  <c:v>45271</c:v>
                </c:pt>
                <c:pt idx="336">
                  <c:v>45272</c:v>
                </c:pt>
                <c:pt idx="337">
                  <c:v>45273</c:v>
                </c:pt>
                <c:pt idx="338">
                  <c:v>45274</c:v>
                </c:pt>
                <c:pt idx="339">
                  <c:v>45275</c:v>
                </c:pt>
                <c:pt idx="340">
                  <c:v>45278</c:v>
                </c:pt>
                <c:pt idx="341">
                  <c:v>45279</c:v>
                </c:pt>
                <c:pt idx="342">
                  <c:v>45280</c:v>
                </c:pt>
                <c:pt idx="343">
                  <c:v>45281</c:v>
                </c:pt>
                <c:pt idx="344">
                  <c:v>45282</c:v>
                </c:pt>
                <c:pt idx="345">
                  <c:v>45285</c:v>
                </c:pt>
                <c:pt idx="346">
                  <c:v>45286</c:v>
                </c:pt>
                <c:pt idx="347">
                  <c:v>45287</c:v>
                </c:pt>
                <c:pt idx="348">
                  <c:v>45288</c:v>
                </c:pt>
                <c:pt idx="349">
                  <c:v>45289</c:v>
                </c:pt>
                <c:pt idx="350">
                  <c:v>45291</c:v>
                </c:pt>
                <c:pt idx="351">
                  <c:v>45293</c:v>
                </c:pt>
                <c:pt idx="352">
                  <c:v>45294</c:v>
                </c:pt>
                <c:pt idx="353">
                  <c:v>45295</c:v>
                </c:pt>
                <c:pt idx="354">
                  <c:v>45296</c:v>
                </c:pt>
                <c:pt idx="355">
                  <c:v>45299</c:v>
                </c:pt>
                <c:pt idx="356">
                  <c:v>45300</c:v>
                </c:pt>
                <c:pt idx="357">
                  <c:v>45301</c:v>
                </c:pt>
                <c:pt idx="358">
                  <c:v>45302</c:v>
                </c:pt>
                <c:pt idx="359">
                  <c:v>45303</c:v>
                </c:pt>
                <c:pt idx="360">
                  <c:v>45306</c:v>
                </c:pt>
                <c:pt idx="361">
                  <c:v>45307</c:v>
                </c:pt>
                <c:pt idx="362">
                  <c:v>45308</c:v>
                </c:pt>
                <c:pt idx="363">
                  <c:v>45309</c:v>
                </c:pt>
                <c:pt idx="364">
                  <c:v>45310</c:v>
                </c:pt>
                <c:pt idx="365">
                  <c:v>45313</c:v>
                </c:pt>
                <c:pt idx="366">
                  <c:v>45314</c:v>
                </c:pt>
                <c:pt idx="367">
                  <c:v>45315</c:v>
                </c:pt>
                <c:pt idx="368">
                  <c:v>45316</c:v>
                </c:pt>
                <c:pt idx="369">
                  <c:v>45317</c:v>
                </c:pt>
                <c:pt idx="370">
                  <c:v>45320</c:v>
                </c:pt>
                <c:pt idx="371">
                  <c:v>45321</c:v>
                </c:pt>
                <c:pt idx="372">
                  <c:v>45322</c:v>
                </c:pt>
                <c:pt idx="373">
                  <c:v>45323</c:v>
                </c:pt>
                <c:pt idx="374">
                  <c:v>45324</c:v>
                </c:pt>
                <c:pt idx="375">
                  <c:v>45326</c:v>
                </c:pt>
                <c:pt idx="376">
                  <c:v>45327</c:v>
                </c:pt>
                <c:pt idx="377">
                  <c:v>45328</c:v>
                </c:pt>
                <c:pt idx="378">
                  <c:v>45329</c:v>
                </c:pt>
                <c:pt idx="379">
                  <c:v>45330</c:v>
                </c:pt>
                <c:pt idx="380">
                  <c:v>45331</c:v>
                </c:pt>
                <c:pt idx="381">
                  <c:v>45340</c:v>
                </c:pt>
                <c:pt idx="382">
                  <c:v>45341</c:v>
                </c:pt>
                <c:pt idx="383">
                  <c:v>45342</c:v>
                </c:pt>
                <c:pt idx="384">
                  <c:v>45343</c:v>
                </c:pt>
                <c:pt idx="385">
                  <c:v>45344</c:v>
                </c:pt>
                <c:pt idx="386">
                  <c:v>45345</c:v>
                </c:pt>
                <c:pt idx="387">
                  <c:v>45348</c:v>
                </c:pt>
                <c:pt idx="388">
                  <c:v>45349</c:v>
                </c:pt>
                <c:pt idx="389">
                  <c:v>45350</c:v>
                </c:pt>
                <c:pt idx="390">
                  <c:v>45351</c:v>
                </c:pt>
                <c:pt idx="391">
                  <c:v>45352</c:v>
                </c:pt>
                <c:pt idx="392">
                  <c:v>45355</c:v>
                </c:pt>
                <c:pt idx="393">
                  <c:v>45356</c:v>
                </c:pt>
                <c:pt idx="394">
                  <c:v>45357</c:v>
                </c:pt>
                <c:pt idx="395">
                  <c:v>45358</c:v>
                </c:pt>
                <c:pt idx="396">
                  <c:v>45359</c:v>
                </c:pt>
                <c:pt idx="397">
                  <c:v>45362</c:v>
                </c:pt>
                <c:pt idx="398">
                  <c:v>45363</c:v>
                </c:pt>
                <c:pt idx="399">
                  <c:v>45364</c:v>
                </c:pt>
                <c:pt idx="400">
                  <c:v>45365</c:v>
                </c:pt>
                <c:pt idx="401">
                  <c:v>45366</c:v>
                </c:pt>
                <c:pt idx="402">
                  <c:v>45369</c:v>
                </c:pt>
                <c:pt idx="403">
                  <c:v>45370</c:v>
                </c:pt>
                <c:pt idx="404">
                  <c:v>45371</c:v>
                </c:pt>
                <c:pt idx="405">
                  <c:v>45372</c:v>
                </c:pt>
                <c:pt idx="406">
                  <c:v>45373</c:v>
                </c:pt>
                <c:pt idx="407">
                  <c:v>45376</c:v>
                </c:pt>
                <c:pt idx="408">
                  <c:v>45377</c:v>
                </c:pt>
                <c:pt idx="409">
                  <c:v>45378</c:v>
                </c:pt>
                <c:pt idx="410">
                  <c:v>45379</c:v>
                </c:pt>
                <c:pt idx="411">
                  <c:v>45380</c:v>
                </c:pt>
                <c:pt idx="412">
                  <c:v>45383</c:v>
                </c:pt>
                <c:pt idx="413">
                  <c:v>45384</c:v>
                </c:pt>
                <c:pt idx="414">
                  <c:v>45385</c:v>
                </c:pt>
                <c:pt idx="415">
                  <c:v>45389</c:v>
                </c:pt>
                <c:pt idx="416">
                  <c:v>45390</c:v>
                </c:pt>
                <c:pt idx="417">
                  <c:v>45391</c:v>
                </c:pt>
                <c:pt idx="418">
                  <c:v>45392</c:v>
                </c:pt>
                <c:pt idx="419">
                  <c:v>45393</c:v>
                </c:pt>
                <c:pt idx="420">
                  <c:v>45394</c:v>
                </c:pt>
                <c:pt idx="421">
                  <c:v>45397</c:v>
                </c:pt>
                <c:pt idx="422">
                  <c:v>45398</c:v>
                </c:pt>
                <c:pt idx="423">
                  <c:v>45399</c:v>
                </c:pt>
                <c:pt idx="424">
                  <c:v>45400</c:v>
                </c:pt>
                <c:pt idx="425">
                  <c:v>45401</c:v>
                </c:pt>
                <c:pt idx="426">
                  <c:v>45404</c:v>
                </c:pt>
                <c:pt idx="427">
                  <c:v>45405</c:v>
                </c:pt>
                <c:pt idx="428">
                  <c:v>45406</c:v>
                </c:pt>
                <c:pt idx="429">
                  <c:v>45407</c:v>
                </c:pt>
                <c:pt idx="430">
                  <c:v>45408</c:v>
                </c:pt>
                <c:pt idx="431">
                  <c:v>45410</c:v>
                </c:pt>
                <c:pt idx="432">
                  <c:v>45411</c:v>
                </c:pt>
                <c:pt idx="433">
                  <c:v>45412</c:v>
                </c:pt>
                <c:pt idx="434">
                  <c:v>45418</c:v>
                </c:pt>
                <c:pt idx="435">
                  <c:v>45419</c:v>
                </c:pt>
                <c:pt idx="436">
                  <c:v>45420</c:v>
                </c:pt>
                <c:pt idx="437">
                  <c:v>45421</c:v>
                </c:pt>
                <c:pt idx="438">
                  <c:v>45422</c:v>
                </c:pt>
                <c:pt idx="439">
                  <c:v>45423</c:v>
                </c:pt>
                <c:pt idx="440">
                  <c:v>45425</c:v>
                </c:pt>
                <c:pt idx="441">
                  <c:v>45426</c:v>
                </c:pt>
                <c:pt idx="442">
                  <c:v>45427</c:v>
                </c:pt>
                <c:pt idx="443">
                  <c:v>45428</c:v>
                </c:pt>
                <c:pt idx="444">
                  <c:v>45429</c:v>
                </c:pt>
                <c:pt idx="445">
                  <c:v>45432</c:v>
                </c:pt>
                <c:pt idx="446">
                  <c:v>45433</c:v>
                </c:pt>
                <c:pt idx="447">
                  <c:v>45434</c:v>
                </c:pt>
                <c:pt idx="448">
                  <c:v>45435</c:v>
                </c:pt>
                <c:pt idx="449">
                  <c:v>45436</c:v>
                </c:pt>
                <c:pt idx="450">
                  <c:v>45439</c:v>
                </c:pt>
                <c:pt idx="451">
                  <c:v>45440</c:v>
                </c:pt>
                <c:pt idx="452">
                  <c:v>45441</c:v>
                </c:pt>
                <c:pt idx="453">
                  <c:v>45442</c:v>
                </c:pt>
                <c:pt idx="454">
                  <c:v>45443</c:v>
                </c:pt>
                <c:pt idx="455">
                  <c:v>45446</c:v>
                </c:pt>
                <c:pt idx="456">
                  <c:v>45447</c:v>
                </c:pt>
                <c:pt idx="457">
                  <c:v>45448</c:v>
                </c:pt>
                <c:pt idx="458">
                  <c:v>45449</c:v>
                </c:pt>
                <c:pt idx="459">
                  <c:v>45450</c:v>
                </c:pt>
                <c:pt idx="460">
                  <c:v>45454</c:v>
                </c:pt>
                <c:pt idx="461">
                  <c:v>45455</c:v>
                </c:pt>
                <c:pt idx="462">
                  <c:v>45456</c:v>
                </c:pt>
                <c:pt idx="463">
                  <c:v>45457</c:v>
                </c:pt>
                <c:pt idx="464">
                  <c:v>45460</c:v>
                </c:pt>
                <c:pt idx="465">
                  <c:v>45461</c:v>
                </c:pt>
                <c:pt idx="466">
                  <c:v>45462</c:v>
                </c:pt>
                <c:pt idx="467">
                  <c:v>45463</c:v>
                </c:pt>
                <c:pt idx="468">
                  <c:v>45464</c:v>
                </c:pt>
                <c:pt idx="469">
                  <c:v>45467</c:v>
                </c:pt>
                <c:pt idx="470">
                  <c:v>45468</c:v>
                </c:pt>
                <c:pt idx="471">
                  <c:v>45469</c:v>
                </c:pt>
                <c:pt idx="472">
                  <c:v>45470</c:v>
                </c:pt>
                <c:pt idx="473">
                  <c:v>45471</c:v>
                </c:pt>
                <c:pt idx="474">
                  <c:v>45474</c:v>
                </c:pt>
                <c:pt idx="475">
                  <c:v>45475</c:v>
                </c:pt>
                <c:pt idx="476">
                  <c:v>45476</c:v>
                </c:pt>
                <c:pt idx="477">
                  <c:v>45477</c:v>
                </c:pt>
                <c:pt idx="478">
                  <c:v>45478</c:v>
                </c:pt>
                <c:pt idx="479">
                  <c:v>45481</c:v>
                </c:pt>
                <c:pt idx="480">
                  <c:v>45482</c:v>
                </c:pt>
                <c:pt idx="481">
                  <c:v>45483</c:v>
                </c:pt>
                <c:pt idx="482">
                  <c:v>45484</c:v>
                </c:pt>
                <c:pt idx="483">
                  <c:v>45485</c:v>
                </c:pt>
                <c:pt idx="484">
                  <c:v>45488</c:v>
                </c:pt>
                <c:pt idx="485">
                  <c:v>45489</c:v>
                </c:pt>
                <c:pt idx="486">
                  <c:v>45490</c:v>
                </c:pt>
                <c:pt idx="487">
                  <c:v>45491</c:v>
                </c:pt>
                <c:pt idx="488">
                  <c:v>45492</c:v>
                </c:pt>
                <c:pt idx="489">
                  <c:v>45495</c:v>
                </c:pt>
                <c:pt idx="490">
                  <c:v>45496</c:v>
                </c:pt>
                <c:pt idx="491">
                  <c:v>45497</c:v>
                </c:pt>
                <c:pt idx="492">
                  <c:v>45498</c:v>
                </c:pt>
                <c:pt idx="493">
                  <c:v>45499</c:v>
                </c:pt>
                <c:pt idx="494">
                  <c:v>45502</c:v>
                </c:pt>
                <c:pt idx="495">
                  <c:v>45503</c:v>
                </c:pt>
                <c:pt idx="496">
                  <c:v>45504</c:v>
                </c:pt>
                <c:pt idx="497">
                  <c:v>45505</c:v>
                </c:pt>
                <c:pt idx="498">
                  <c:v>45506</c:v>
                </c:pt>
                <c:pt idx="499">
                  <c:v>45509</c:v>
                </c:pt>
                <c:pt idx="500">
                  <c:v>45510</c:v>
                </c:pt>
                <c:pt idx="501">
                  <c:v>45511</c:v>
                </c:pt>
                <c:pt idx="502">
                  <c:v>45512</c:v>
                </c:pt>
                <c:pt idx="503">
                  <c:v>45513</c:v>
                </c:pt>
                <c:pt idx="504">
                  <c:v>45516</c:v>
                </c:pt>
                <c:pt idx="505">
                  <c:v>45517</c:v>
                </c:pt>
                <c:pt idx="506">
                  <c:v>45518</c:v>
                </c:pt>
                <c:pt idx="507">
                  <c:v>45519</c:v>
                </c:pt>
                <c:pt idx="508">
                  <c:v>45520</c:v>
                </c:pt>
                <c:pt idx="509">
                  <c:v>45523</c:v>
                </c:pt>
                <c:pt idx="510">
                  <c:v>45524</c:v>
                </c:pt>
                <c:pt idx="511">
                  <c:v>45525</c:v>
                </c:pt>
                <c:pt idx="512">
                  <c:v>45526</c:v>
                </c:pt>
                <c:pt idx="513">
                  <c:v>45527</c:v>
                </c:pt>
                <c:pt idx="514">
                  <c:v>45530</c:v>
                </c:pt>
                <c:pt idx="515">
                  <c:v>45531</c:v>
                </c:pt>
                <c:pt idx="516">
                  <c:v>45532</c:v>
                </c:pt>
                <c:pt idx="517">
                  <c:v>45533</c:v>
                </c:pt>
                <c:pt idx="518">
                  <c:v>45534</c:v>
                </c:pt>
                <c:pt idx="519">
                  <c:v>45537</c:v>
                </c:pt>
                <c:pt idx="520">
                  <c:v>45538</c:v>
                </c:pt>
                <c:pt idx="521">
                  <c:v>45539</c:v>
                </c:pt>
                <c:pt idx="522">
                  <c:v>45540</c:v>
                </c:pt>
                <c:pt idx="523">
                  <c:v>45541</c:v>
                </c:pt>
                <c:pt idx="524">
                  <c:v>45544</c:v>
                </c:pt>
                <c:pt idx="525">
                  <c:v>45545</c:v>
                </c:pt>
                <c:pt idx="526">
                  <c:v>45546</c:v>
                </c:pt>
                <c:pt idx="527">
                  <c:v>45547</c:v>
                </c:pt>
                <c:pt idx="528">
                  <c:v>45548</c:v>
                </c:pt>
                <c:pt idx="529">
                  <c:v>45549</c:v>
                </c:pt>
                <c:pt idx="530">
                  <c:v>45553</c:v>
                </c:pt>
                <c:pt idx="531">
                  <c:v>45554</c:v>
                </c:pt>
                <c:pt idx="532">
                  <c:v>45555</c:v>
                </c:pt>
                <c:pt idx="533">
                  <c:v>45558</c:v>
                </c:pt>
                <c:pt idx="534">
                  <c:v>45559</c:v>
                </c:pt>
                <c:pt idx="535">
                  <c:v>45560</c:v>
                </c:pt>
                <c:pt idx="536">
                  <c:v>45561</c:v>
                </c:pt>
                <c:pt idx="537">
                  <c:v>45562</c:v>
                </c:pt>
                <c:pt idx="538">
                  <c:v>45564</c:v>
                </c:pt>
                <c:pt idx="539">
                  <c:v>45565</c:v>
                </c:pt>
                <c:pt idx="540">
                  <c:v>45573</c:v>
                </c:pt>
                <c:pt idx="541">
                  <c:v>45574</c:v>
                </c:pt>
                <c:pt idx="542">
                  <c:v>45575</c:v>
                </c:pt>
                <c:pt idx="543">
                  <c:v>45576</c:v>
                </c:pt>
                <c:pt idx="544">
                  <c:v>45577</c:v>
                </c:pt>
                <c:pt idx="545">
                  <c:v>45579</c:v>
                </c:pt>
                <c:pt idx="546">
                  <c:v>45580</c:v>
                </c:pt>
                <c:pt idx="547">
                  <c:v>45581</c:v>
                </c:pt>
                <c:pt idx="548">
                  <c:v>45582</c:v>
                </c:pt>
                <c:pt idx="549">
                  <c:v>45583</c:v>
                </c:pt>
                <c:pt idx="550">
                  <c:v>45586</c:v>
                </c:pt>
                <c:pt idx="551">
                  <c:v>45587</c:v>
                </c:pt>
                <c:pt idx="552">
                  <c:v>45588</c:v>
                </c:pt>
                <c:pt idx="553">
                  <c:v>45589</c:v>
                </c:pt>
                <c:pt idx="554">
                  <c:v>45590</c:v>
                </c:pt>
                <c:pt idx="555">
                  <c:v>45593</c:v>
                </c:pt>
                <c:pt idx="556">
                  <c:v>45594</c:v>
                </c:pt>
                <c:pt idx="557">
                  <c:v>45595</c:v>
                </c:pt>
                <c:pt idx="558">
                  <c:v>45596</c:v>
                </c:pt>
                <c:pt idx="559">
                  <c:v>45597</c:v>
                </c:pt>
                <c:pt idx="560">
                  <c:v>45600</c:v>
                </c:pt>
                <c:pt idx="561">
                  <c:v>45601</c:v>
                </c:pt>
                <c:pt idx="562">
                  <c:v>45602</c:v>
                </c:pt>
                <c:pt idx="563">
                  <c:v>45603</c:v>
                </c:pt>
                <c:pt idx="564">
                  <c:v>45604</c:v>
                </c:pt>
                <c:pt idx="565">
                  <c:v>45607</c:v>
                </c:pt>
                <c:pt idx="566">
                  <c:v>45608</c:v>
                </c:pt>
                <c:pt idx="567">
                  <c:v>45609</c:v>
                </c:pt>
                <c:pt idx="568">
                  <c:v>45610</c:v>
                </c:pt>
                <c:pt idx="569">
                  <c:v>45611</c:v>
                </c:pt>
                <c:pt idx="570">
                  <c:v>45614</c:v>
                </c:pt>
                <c:pt idx="571">
                  <c:v>45615</c:v>
                </c:pt>
                <c:pt idx="572">
                  <c:v>45616</c:v>
                </c:pt>
                <c:pt idx="573">
                  <c:v>45617</c:v>
                </c:pt>
                <c:pt idx="574">
                  <c:v>45618</c:v>
                </c:pt>
                <c:pt idx="575">
                  <c:v>45621</c:v>
                </c:pt>
                <c:pt idx="576">
                  <c:v>45622</c:v>
                </c:pt>
                <c:pt idx="577">
                  <c:v>45623</c:v>
                </c:pt>
                <c:pt idx="578">
                  <c:v>45624</c:v>
                </c:pt>
                <c:pt idx="579">
                  <c:v>45625</c:v>
                </c:pt>
                <c:pt idx="580">
                  <c:v>45628</c:v>
                </c:pt>
                <c:pt idx="581">
                  <c:v>45629</c:v>
                </c:pt>
                <c:pt idx="582">
                  <c:v>45630</c:v>
                </c:pt>
                <c:pt idx="583">
                  <c:v>45631</c:v>
                </c:pt>
                <c:pt idx="584">
                  <c:v>45632</c:v>
                </c:pt>
                <c:pt idx="585">
                  <c:v>45635</c:v>
                </c:pt>
                <c:pt idx="586">
                  <c:v>45636</c:v>
                </c:pt>
                <c:pt idx="587">
                  <c:v>45637</c:v>
                </c:pt>
                <c:pt idx="588">
                  <c:v>45638</c:v>
                </c:pt>
                <c:pt idx="589">
                  <c:v>45639</c:v>
                </c:pt>
                <c:pt idx="590">
                  <c:v>45642</c:v>
                </c:pt>
                <c:pt idx="591">
                  <c:v>45643</c:v>
                </c:pt>
                <c:pt idx="592">
                  <c:v>45644</c:v>
                </c:pt>
                <c:pt idx="593">
                  <c:v>45645</c:v>
                </c:pt>
                <c:pt idx="594">
                  <c:v>45646</c:v>
                </c:pt>
                <c:pt idx="595">
                  <c:v>45649</c:v>
                </c:pt>
                <c:pt idx="596">
                  <c:v>45650</c:v>
                </c:pt>
                <c:pt idx="597">
                  <c:v>45651</c:v>
                </c:pt>
                <c:pt idx="598">
                  <c:v>45652</c:v>
                </c:pt>
                <c:pt idx="599">
                  <c:v>45653</c:v>
                </c:pt>
                <c:pt idx="600">
                  <c:v>45656</c:v>
                </c:pt>
                <c:pt idx="601">
                  <c:v>45657</c:v>
                </c:pt>
                <c:pt idx="602">
                  <c:v>45659</c:v>
                </c:pt>
                <c:pt idx="603">
                  <c:v>45660</c:v>
                </c:pt>
                <c:pt idx="604">
                  <c:v>45663</c:v>
                </c:pt>
                <c:pt idx="605">
                  <c:v>45664</c:v>
                </c:pt>
                <c:pt idx="606">
                  <c:v>45665</c:v>
                </c:pt>
                <c:pt idx="607">
                  <c:v>45666</c:v>
                </c:pt>
                <c:pt idx="608">
                  <c:v>45667</c:v>
                </c:pt>
                <c:pt idx="609">
                  <c:v>45670</c:v>
                </c:pt>
                <c:pt idx="610">
                  <c:v>45671</c:v>
                </c:pt>
                <c:pt idx="611">
                  <c:v>45672</c:v>
                </c:pt>
                <c:pt idx="612">
                  <c:v>45673</c:v>
                </c:pt>
                <c:pt idx="613">
                  <c:v>45674</c:v>
                </c:pt>
                <c:pt idx="614">
                  <c:v>45677</c:v>
                </c:pt>
                <c:pt idx="615">
                  <c:v>45678</c:v>
                </c:pt>
                <c:pt idx="616">
                  <c:v>45679</c:v>
                </c:pt>
                <c:pt idx="617">
                  <c:v>45680</c:v>
                </c:pt>
                <c:pt idx="618">
                  <c:v>45681</c:v>
                </c:pt>
                <c:pt idx="619">
                  <c:v>45683</c:v>
                </c:pt>
                <c:pt idx="620">
                  <c:v>45684</c:v>
                </c:pt>
                <c:pt idx="621">
                  <c:v>45693</c:v>
                </c:pt>
                <c:pt idx="622">
                  <c:v>45694</c:v>
                </c:pt>
                <c:pt idx="623">
                  <c:v>45695</c:v>
                </c:pt>
                <c:pt idx="624">
                  <c:v>45696</c:v>
                </c:pt>
                <c:pt idx="625">
                  <c:v>45698</c:v>
                </c:pt>
                <c:pt idx="626">
                  <c:v>45699</c:v>
                </c:pt>
                <c:pt idx="627">
                  <c:v>45700</c:v>
                </c:pt>
                <c:pt idx="628">
                  <c:v>45701</c:v>
                </c:pt>
                <c:pt idx="629">
                  <c:v>45702</c:v>
                </c:pt>
                <c:pt idx="630">
                  <c:v>45705</c:v>
                </c:pt>
                <c:pt idx="631">
                  <c:v>45706</c:v>
                </c:pt>
                <c:pt idx="632">
                  <c:v>45707</c:v>
                </c:pt>
                <c:pt idx="633">
                  <c:v>45708</c:v>
                </c:pt>
                <c:pt idx="634">
                  <c:v>45709</c:v>
                </c:pt>
                <c:pt idx="635">
                  <c:v>45712</c:v>
                </c:pt>
                <c:pt idx="636">
                  <c:v>45713</c:v>
                </c:pt>
                <c:pt idx="637">
                  <c:v>45714</c:v>
                </c:pt>
                <c:pt idx="638">
                  <c:v>45715</c:v>
                </c:pt>
                <c:pt idx="639">
                  <c:v>45716</c:v>
                </c:pt>
                <c:pt idx="640">
                  <c:v>45719</c:v>
                </c:pt>
                <c:pt idx="641">
                  <c:v>45720</c:v>
                </c:pt>
                <c:pt idx="642">
                  <c:v>45721</c:v>
                </c:pt>
                <c:pt idx="643">
                  <c:v>45722</c:v>
                </c:pt>
                <c:pt idx="644">
                  <c:v>45723</c:v>
                </c:pt>
                <c:pt idx="645">
                  <c:v>45726</c:v>
                </c:pt>
                <c:pt idx="646">
                  <c:v>45727</c:v>
                </c:pt>
                <c:pt idx="647">
                  <c:v>45728</c:v>
                </c:pt>
                <c:pt idx="648">
                  <c:v>45729</c:v>
                </c:pt>
                <c:pt idx="649">
                  <c:v>45730</c:v>
                </c:pt>
                <c:pt idx="650">
                  <c:v>45733</c:v>
                </c:pt>
                <c:pt idx="651">
                  <c:v>45734</c:v>
                </c:pt>
                <c:pt idx="652">
                  <c:v>45735</c:v>
                </c:pt>
                <c:pt idx="653">
                  <c:v>45736</c:v>
                </c:pt>
                <c:pt idx="654">
                  <c:v>45737</c:v>
                </c:pt>
                <c:pt idx="655">
                  <c:v>45740</c:v>
                </c:pt>
                <c:pt idx="656">
                  <c:v>45741</c:v>
                </c:pt>
                <c:pt idx="657">
                  <c:v>45742</c:v>
                </c:pt>
                <c:pt idx="658">
                  <c:v>45743</c:v>
                </c:pt>
                <c:pt idx="659">
                  <c:v>45744</c:v>
                </c:pt>
                <c:pt idx="660">
                  <c:v>45747</c:v>
                </c:pt>
                <c:pt idx="661">
                  <c:v>45748</c:v>
                </c:pt>
                <c:pt idx="662">
                  <c:v>45749</c:v>
                </c:pt>
                <c:pt idx="663">
                  <c:v>45750</c:v>
                </c:pt>
                <c:pt idx="664">
                  <c:v>45754</c:v>
                </c:pt>
                <c:pt idx="665">
                  <c:v>45755</c:v>
                </c:pt>
                <c:pt idx="666">
                  <c:v>45756</c:v>
                </c:pt>
                <c:pt idx="667">
                  <c:v>45757</c:v>
                </c:pt>
                <c:pt idx="668">
                  <c:v>45758</c:v>
                </c:pt>
                <c:pt idx="669">
                  <c:v>45761</c:v>
                </c:pt>
                <c:pt idx="670">
                  <c:v>45762</c:v>
                </c:pt>
                <c:pt idx="671">
                  <c:v>45763</c:v>
                </c:pt>
                <c:pt idx="672">
                  <c:v>45764</c:v>
                </c:pt>
                <c:pt idx="673">
                  <c:v>45765</c:v>
                </c:pt>
                <c:pt idx="674">
                  <c:v>45768</c:v>
                </c:pt>
                <c:pt idx="675">
                  <c:v>45769</c:v>
                </c:pt>
                <c:pt idx="676">
                  <c:v>45770</c:v>
                </c:pt>
                <c:pt idx="677">
                  <c:v>45771</c:v>
                </c:pt>
                <c:pt idx="678">
                  <c:v>45772</c:v>
                </c:pt>
                <c:pt idx="679">
                  <c:v>45774</c:v>
                </c:pt>
                <c:pt idx="680">
                  <c:v>45775</c:v>
                </c:pt>
                <c:pt idx="681">
                  <c:v>45776</c:v>
                </c:pt>
                <c:pt idx="682">
                  <c:v>45777</c:v>
                </c:pt>
                <c:pt idx="683">
                  <c:v>45783</c:v>
                </c:pt>
                <c:pt idx="684">
                  <c:v>45784</c:v>
                </c:pt>
                <c:pt idx="685">
                  <c:v>45785</c:v>
                </c:pt>
                <c:pt idx="686">
                  <c:v>45786</c:v>
                </c:pt>
                <c:pt idx="687">
                  <c:v>45789</c:v>
                </c:pt>
                <c:pt idx="688">
                  <c:v>45790</c:v>
                </c:pt>
                <c:pt idx="689">
                  <c:v>45791</c:v>
                </c:pt>
                <c:pt idx="690">
                  <c:v>45792</c:v>
                </c:pt>
                <c:pt idx="691">
                  <c:v>45793</c:v>
                </c:pt>
                <c:pt idx="692">
                  <c:v>45796</c:v>
                </c:pt>
                <c:pt idx="693">
                  <c:v>45797</c:v>
                </c:pt>
                <c:pt idx="694">
                  <c:v>45798</c:v>
                </c:pt>
                <c:pt idx="695">
                  <c:v>45799</c:v>
                </c:pt>
                <c:pt idx="696">
                  <c:v>45800</c:v>
                </c:pt>
                <c:pt idx="697">
                  <c:v>45803</c:v>
                </c:pt>
                <c:pt idx="698">
                  <c:v>45804</c:v>
                </c:pt>
                <c:pt idx="699">
                  <c:v>45805</c:v>
                </c:pt>
                <c:pt idx="700">
                  <c:v>45806</c:v>
                </c:pt>
                <c:pt idx="701">
                  <c:v>45807</c:v>
                </c:pt>
                <c:pt idx="702">
                  <c:v>45811</c:v>
                </c:pt>
                <c:pt idx="703">
                  <c:v>45812</c:v>
                </c:pt>
                <c:pt idx="704">
                  <c:v>45813</c:v>
                </c:pt>
                <c:pt idx="705">
                  <c:v>45814</c:v>
                </c:pt>
                <c:pt idx="706">
                  <c:v>45817</c:v>
                </c:pt>
                <c:pt idx="707">
                  <c:v>45818</c:v>
                </c:pt>
                <c:pt idx="708">
                  <c:v>45819</c:v>
                </c:pt>
                <c:pt idx="709">
                  <c:v>45820</c:v>
                </c:pt>
                <c:pt idx="710">
                  <c:v>45821</c:v>
                </c:pt>
                <c:pt idx="711">
                  <c:v>45824</c:v>
                </c:pt>
                <c:pt idx="712">
                  <c:v>45825</c:v>
                </c:pt>
                <c:pt idx="713">
                  <c:v>45826</c:v>
                </c:pt>
                <c:pt idx="714">
                  <c:v>45827</c:v>
                </c:pt>
                <c:pt idx="715">
                  <c:v>45828</c:v>
                </c:pt>
                <c:pt idx="716">
                  <c:v>45831</c:v>
                </c:pt>
                <c:pt idx="717">
                  <c:v>45832</c:v>
                </c:pt>
                <c:pt idx="718">
                  <c:v>45833</c:v>
                </c:pt>
                <c:pt idx="719">
                  <c:v>45834</c:v>
                </c:pt>
                <c:pt idx="720">
                  <c:v>45835</c:v>
                </c:pt>
                <c:pt idx="721">
                  <c:v>45838</c:v>
                </c:pt>
                <c:pt idx="722">
                  <c:v>45839</c:v>
                </c:pt>
                <c:pt idx="723">
                  <c:v>45840</c:v>
                </c:pt>
                <c:pt idx="724">
                  <c:v>45841</c:v>
                </c:pt>
                <c:pt idx="725">
                  <c:v>45842</c:v>
                </c:pt>
                <c:pt idx="726">
                  <c:v>45845</c:v>
                </c:pt>
                <c:pt idx="727">
                  <c:v>45846</c:v>
                </c:pt>
                <c:pt idx="728">
                  <c:v>45847</c:v>
                </c:pt>
                <c:pt idx="729">
                  <c:v>45848</c:v>
                </c:pt>
                <c:pt idx="730">
                  <c:v>45849</c:v>
                </c:pt>
                <c:pt idx="731">
                  <c:v>45852</c:v>
                </c:pt>
                <c:pt idx="732">
                  <c:v>45853</c:v>
                </c:pt>
                <c:pt idx="733">
                  <c:v>45854</c:v>
                </c:pt>
                <c:pt idx="734">
                  <c:v>45855</c:v>
                </c:pt>
                <c:pt idx="735">
                  <c:v>45856</c:v>
                </c:pt>
                <c:pt idx="736">
                  <c:v>45859</c:v>
                </c:pt>
                <c:pt idx="737">
                  <c:v>45860</c:v>
                </c:pt>
                <c:pt idx="738">
                  <c:v>45861</c:v>
                </c:pt>
                <c:pt idx="739">
                  <c:v>45862</c:v>
                </c:pt>
                <c:pt idx="740">
                  <c:v>45863</c:v>
                </c:pt>
                <c:pt idx="741">
                  <c:v>45866</c:v>
                </c:pt>
                <c:pt idx="742">
                  <c:v>45867</c:v>
                </c:pt>
                <c:pt idx="743">
                  <c:v>45868</c:v>
                </c:pt>
                <c:pt idx="744">
                  <c:v>45869</c:v>
                </c:pt>
                <c:pt idx="745">
                  <c:v>45870</c:v>
                </c:pt>
                <c:pt idx="746">
                  <c:v>45873</c:v>
                </c:pt>
                <c:pt idx="747">
                  <c:v>45874</c:v>
                </c:pt>
                <c:pt idx="748">
                  <c:v>45875</c:v>
                </c:pt>
                <c:pt idx="749">
                  <c:v>45876</c:v>
                </c:pt>
                <c:pt idx="750">
                  <c:v>45877</c:v>
                </c:pt>
                <c:pt idx="751">
                  <c:v>45880</c:v>
                </c:pt>
                <c:pt idx="752">
                  <c:v>45881</c:v>
                </c:pt>
                <c:pt idx="753">
                  <c:v>45882</c:v>
                </c:pt>
                <c:pt idx="754">
                  <c:v>45883</c:v>
                </c:pt>
                <c:pt idx="755">
                  <c:v>45884</c:v>
                </c:pt>
                <c:pt idx="756">
                  <c:v>45887</c:v>
                </c:pt>
                <c:pt idx="757">
                  <c:v>45888</c:v>
                </c:pt>
                <c:pt idx="758">
                  <c:v>45889</c:v>
                </c:pt>
                <c:pt idx="759">
                  <c:v>45890</c:v>
                </c:pt>
                <c:pt idx="760">
                  <c:v>45891</c:v>
                </c:pt>
                <c:pt idx="761">
                  <c:v>45894</c:v>
                </c:pt>
                <c:pt idx="762">
                  <c:v>45895</c:v>
                </c:pt>
                <c:pt idx="763">
                  <c:v>45896</c:v>
                </c:pt>
                <c:pt idx="764">
                  <c:v>45897</c:v>
                </c:pt>
                <c:pt idx="765">
                  <c:v>45898</c:v>
                </c:pt>
                <c:pt idx="766">
                  <c:v>45901</c:v>
                </c:pt>
                <c:pt idx="767">
                  <c:v>45902</c:v>
                </c:pt>
                <c:pt idx="768">
                  <c:v>45903</c:v>
                </c:pt>
                <c:pt idx="769">
                  <c:v>45904</c:v>
                </c:pt>
                <c:pt idx="770">
                  <c:v>45905</c:v>
                </c:pt>
                <c:pt idx="771">
                  <c:v>45908</c:v>
                </c:pt>
                <c:pt idx="772">
                  <c:v>45909</c:v>
                </c:pt>
                <c:pt idx="773">
                  <c:v>45910</c:v>
                </c:pt>
                <c:pt idx="774">
                  <c:v>45911</c:v>
                </c:pt>
                <c:pt idx="775">
                  <c:v>45912</c:v>
                </c:pt>
                <c:pt idx="776">
                  <c:v>45915</c:v>
                </c:pt>
                <c:pt idx="777">
                  <c:v>45916</c:v>
                </c:pt>
                <c:pt idx="778">
                  <c:v>45917</c:v>
                </c:pt>
                <c:pt idx="779">
                  <c:v>45918</c:v>
                </c:pt>
                <c:pt idx="780">
                  <c:v>45919</c:v>
                </c:pt>
                <c:pt idx="781">
                  <c:v>45922</c:v>
                </c:pt>
                <c:pt idx="782">
                  <c:v>45923</c:v>
                </c:pt>
                <c:pt idx="783">
                  <c:v>45924</c:v>
                </c:pt>
                <c:pt idx="784">
                  <c:v>45925</c:v>
                </c:pt>
                <c:pt idx="785">
                  <c:v>45926</c:v>
                </c:pt>
                <c:pt idx="786">
                  <c:v>45928</c:v>
                </c:pt>
                <c:pt idx="787">
                  <c:v>45929</c:v>
                </c:pt>
                <c:pt idx="788">
                  <c:v>45930</c:v>
                </c:pt>
                <c:pt idx="789">
                  <c:v>45939</c:v>
                </c:pt>
                <c:pt idx="790">
                  <c:v>45940</c:v>
                </c:pt>
                <c:pt idx="791">
                  <c:v>45941</c:v>
                </c:pt>
                <c:pt idx="792">
                  <c:v>45943</c:v>
                </c:pt>
                <c:pt idx="793">
                  <c:v>45944</c:v>
                </c:pt>
                <c:pt idx="794">
                  <c:v>45945</c:v>
                </c:pt>
                <c:pt idx="795">
                  <c:v>45946</c:v>
                </c:pt>
                <c:pt idx="796">
                  <c:v>45947</c:v>
                </c:pt>
                <c:pt idx="797">
                  <c:v>45950</c:v>
                </c:pt>
                <c:pt idx="798">
                  <c:v>45951</c:v>
                </c:pt>
                <c:pt idx="799">
                  <c:v>45952</c:v>
                </c:pt>
                <c:pt idx="800">
                  <c:v>45953</c:v>
                </c:pt>
                <c:pt idx="801">
                  <c:v>45954</c:v>
                </c:pt>
                <c:pt idx="802">
                  <c:v>45957</c:v>
                </c:pt>
                <c:pt idx="803">
                  <c:v>45958</c:v>
                </c:pt>
                <c:pt idx="804">
                  <c:v>45959</c:v>
                </c:pt>
                <c:pt idx="805">
                  <c:v>45960</c:v>
                </c:pt>
                <c:pt idx="806">
                  <c:v>45961</c:v>
                </c:pt>
                <c:pt idx="807">
                  <c:v>45964</c:v>
                </c:pt>
                <c:pt idx="808">
                  <c:v>45965</c:v>
                </c:pt>
                <c:pt idx="809">
                  <c:v>45966</c:v>
                </c:pt>
                <c:pt idx="810">
                  <c:v>45967</c:v>
                </c:pt>
                <c:pt idx="811">
                  <c:v>45968</c:v>
                </c:pt>
                <c:pt idx="812">
                  <c:v>45971</c:v>
                </c:pt>
                <c:pt idx="813">
                  <c:v>45972</c:v>
                </c:pt>
                <c:pt idx="814">
                  <c:v>45973</c:v>
                </c:pt>
                <c:pt idx="815">
                  <c:v>45974</c:v>
                </c:pt>
                <c:pt idx="816">
                  <c:v>45975</c:v>
                </c:pt>
                <c:pt idx="817">
                  <c:v>45978</c:v>
                </c:pt>
                <c:pt idx="818">
                  <c:v>45979</c:v>
                </c:pt>
                <c:pt idx="819">
                  <c:v>45980</c:v>
                </c:pt>
                <c:pt idx="820">
                  <c:v>45981</c:v>
                </c:pt>
                <c:pt idx="821">
                  <c:v>45982</c:v>
                </c:pt>
                <c:pt idx="822">
                  <c:v>45985</c:v>
                </c:pt>
                <c:pt idx="823">
                  <c:v>45986</c:v>
                </c:pt>
                <c:pt idx="824">
                  <c:v>45987</c:v>
                </c:pt>
                <c:pt idx="825">
                  <c:v>45988</c:v>
                </c:pt>
                <c:pt idx="826">
                  <c:v>45989</c:v>
                </c:pt>
                <c:pt idx="827">
                  <c:v>45992</c:v>
                </c:pt>
                <c:pt idx="828">
                  <c:v>45993</c:v>
                </c:pt>
                <c:pt idx="829">
                  <c:v>45994</c:v>
                </c:pt>
                <c:pt idx="830">
                  <c:v>45995</c:v>
                </c:pt>
                <c:pt idx="831">
                  <c:v>45996</c:v>
                </c:pt>
                <c:pt idx="832">
                  <c:v>45999</c:v>
                </c:pt>
                <c:pt idx="833">
                  <c:v>46000</c:v>
                </c:pt>
                <c:pt idx="834">
                  <c:v>46001</c:v>
                </c:pt>
                <c:pt idx="835">
                  <c:v>46002</c:v>
                </c:pt>
                <c:pt idx="836">
                  <c:v>46003</c:v>
                </c:pt>
                <c:pt idx="837">
                  <c:v>46006</c:v>
                </c:pt>
                <c:pt idx="838">
                  <c:v>46007</c:v>
                </c:pt>
                <c:pt idx="839">
                  <c:v>46008</c:v>
                </c:pt>
                <c:pt idx="840">
                  <c:v>46009</c:v>
                </c:pt>
                <c:pt idx="841">
                  <c:v>46010</c:v>
                </c:pt>
                <c:pt idx="842">
                  <c:v>46013</c:v>
                </c:pt>
                <c:pt idx="843">
                  <c:v>46014</c:v>
                </c:pt>
                <c:pt idx="844">
                  <c:v>46015</c:v>
                </c:pt>
                <c:pt idx="845">
                  <c:v>46016</c:v>
                </c:pt>
                <c:pt idx="846">
                  <c:v>46017</c:v>
                </c:pt>
                <c:pt idx="847">
                  <c:v>46020</c:v>
                </c:pt>
                <c:pt idx="848">
                  <c:v>46021</c:v>
                </c:pt>
                <c:pt idx="849">
                  <c:v>46022</c:v>
                </c:pt>
                <c:pt idx="850">
                  <c:v>46026</c:v>
                </c:pt>
                <c:pt idx="851">
                  <c:v>46027</c:v>
                </c:pt>
                <c:pt idx="852">
                  <c:v>46028</c:v>
                </c:pt>
                <c:pt idx="853">
                  <c:v>46029</c:v>
                </c:pt>
                <c:pt idx="854">
                  <c:v>46030</c:v>
                </c:pt>
                <c:pt idx="855">
                  <c:v>46031</c:v>
                </c:pt>
                <c:pt idx="856">
                  <c:v>46034</c:v>
                </c:pt>
                <c:pt idx="857">
                  <c:v>46035</c:v>
                </c:pt>
                <c:pt idx="858">
                  <c:v>46036</c:v>
                </c:pt>
                <c:pt idx="859">
                  <c:v>46037</c:v>
                </c:pt>
                <c:pt idx="860">
                  <c:v>46038</c:v>
                </c:pt>
                <c:pt idx="861">
                  <c:v>46041</c:v>
                </c:pt>
                <c:pt idx="862">
                  <c:v>46042</c:v>
                </c:pt>
                <c:pt idx="863">
                  <c:v>46043</c:v>
                </c:pt>
                <c:pt idx="864">
                  <c:v>46044</c:v>
                </c:pt>
                <c:pt idx="865">
                  <c:v>46045</c:v>
                </c:pt>
                <c:pt idx="866">
                  <c:v>46048</c:v>
                </c:pt>
                <c:pt idx="867">
                  <c:v>46049</c:v>
                </c:pt>
                <c:pt idx="868">
                  <c:v>46050</c:v>
                </c:pt>
                <c:pt idx="869">
                  <c:v>46051</c:v>
                </c:pt>
                <c:pt idx="870">
                  <c:v>46052</c:v>
                </c:pt>
                <c:pt idx="871">
                  <c:v>46055</c:v>
                </c:pt>
                <c:pt idx="872">
                  <c:v>46056</c:v>
                </c:pt>
                <c:pt idx="873">
                  <c:v>46057</c:v>
                </c:pt>
                <c:pt idx="874">
                  <c:v>46058</c:v>
                </c:pt>
                <c:pt idx="875">
                  <c:v>46059</c:v>
                </c:pt>
                <c:pt idx="876">
                  <c:v>46062</c:v>
                </c:pt>
                <c:pt idx="877">
                  <c:v>46063</c:v>
                </c:pt>
                <c:pt idx="878">
                  <c:v>46064</c:v>
                </c:pt>
                <c:pt idx="879">
                  <c:v>46065</c:v>
                </c:pt>
                <c:pt idx="880">
                  <c:v>46066</c:v>
                </c:pt>
                <c:pt idx="881">
                  <c:v>46067</c:v>
                </c:pt>
              </c:numCache>
            </c:numRef>
          </c:cat>
          <c:val>
            <c:numRef>
              <c:f>file!$B$2:$B$883</c:f>
              <c:numCache>
                <c:formatCode>0.0000_);[Red]\(0.0000\)</c:formatCode>
                <c:ptCount val="882"/>
                <c:pt idx="0">
                  <c:v>1</c:v>
                </c:pt>
                <c:pt idx="1">
                  <c:v>1.0000458001282404</c:v>
                </c:pt>
                <c:pt idx="2">
                  <c:v>1.0000458001282404</c:v>
                </c:pt>
                <c:pt idx="3">
                  <c:v>1.000137400384721</c:v>
                </c:pt>
                <c:pt idx="4">
                  <c:v>1.0024732069249793</c:v>
                </c:pt>
                <c:pt idx="5">
                  <c:v>1.0036640102592287</c:v>
                </c:pt>
                <c:pt idx="6">
                  <c:v>1.0038014106439497</c:v>
                </c:pt>
                <c:pt idx="7">
                  <c:v>1.0045800128240359</c:v>
                </c:pt>
                <c:pt idx="8">
                  <c:v>1.0050838142346799</c:v>
                </c:pt>
                <c:pt idx="9">
                  <c:v>1.0054044151323625</c:v>
                </c:pt>
                <c:pt idx="10">
                  <c:v>1.0050380141064394</c:v>
                </c:pt>
                <c:pt idx="11">
                  <c:v>1.004992213978199</c:v>
                </c:pt>
                <c:pt idx="12">
                  <c:v>1.0042594119263535</c:v>
                </c:pt>
                <c:pt idx="13">
                  <c:v>1.0040304112851515</c:v>
                </c:pt>
                <c:pt idx="14">
                  <c:v>1.0046258129522763</c:v>
                </c:pt>
                <c:pt idx="15">
                  <c:v>1.0050838142346799</c:v>
                </c:pt>
                <c:pt idx="16">
                  <c:v>1.0051754144911607</c:v>
                </c:pt>
                <c:pt idx="17">
                  <c:v>1.0056792159018046</c:v>
                </c:pt>
                <c:pt idx="18">
                  <c:v>1.0059082165430062</c:v>
                </c:pt>
                <c:pt idx="19">
                  <c:v>1.0065952184666116</c:v>
                </c:pt>
                <c:pt idx="20">
                  <c:v>1.007007419620775</c:v>
                </c:pt>
                <c:pt idx="21">
                  <c:v>1.0070532197490152</c:v>
                </c:pt>
                <c:pt idx="22">
                  <c:v>1.007007419620775</c:v>
                </c:pt>
                <c:pt idx="23">
                  <c:v>1.0069158193642942</c:v>
                </c:pt>
                <c:pt idx="24">
                  <c:v>1.007007419620775</c:v>
                </c:pt>
                <c:pt idx="25">
                  <c:v>1.006778418979573</c:v>
                </c:pt>
                <c:pt idx="26">
                  <c:v>1.0069158193642942</c:v>
                </c:pt>
                <c:pt idx="27">
                  <c:v>1.006641018594852</c:v>
                </c:pt>
                <c:pt idx="28">
                  <c:v>1.0068242191078136</c:v>
                </c:pt>
                <c:pt idx="29">
                  <c:v>1.007144820005496</c:v>
                </c:pt>
                <c:pt idx="30">
                  <c:v>1.0075112210314188</c:v>
                </c:pt>
                <c:pt idx="31">
                  <c:v>1.0076028212878996</c:v>
                </c:pt>
                <c:pt idx="32">
                  <c:v>1.0074654209031786</c:v>
                </c:pt>
                <c:pt idx="33">
                  <c:v>1.006778418979573</c:v>
                </c:pt>
                <c:pt idx="34">
                  <c:v>1.006641018594852</c:v>
                </c:pt>
                <c:pt idx="35">
                  <c:v>1.0061830173124484</c:v>
                </c:pt>
                <c:pt idx="36">
                  <c:v>1.0057708161582852</c:v>
                </c:pt>
                <c:pt idx="37">
                  <c:v>1.0052212146194008</c:v>
                </c:pt>
                <c:pt idx="38">
                  <c:v>1.0055876156453238</c:v>
                </c:pt>
                <c:pt idx="39">
                  <c:v>1.0061830173124484</c:v>
                </c:pt>
                <c:pt idx="40">
                  <c:v>1.0065952184666116</c:v>
                </c:pt>
                <c:pt idx="41">
                  <c:v>1.007007419620775</c:v>
                </c:pt>
                <c:pt idx="42">
                  <c:v>1.0070532197490152</c:v>
                </c:pt>
                <c:pt idx="43">
                  <c:v>1.0074654209031786</c:v>
                </c:pt>
                <c:pt idx="44">
                  <c:v>1.0081982229550241</c:v>
                </c:pt>
                <c:pt idx="45">
                  <c:v>1.0086562242374277</c:v>
                </c:pt>
                <c:pt idx="46">
                  <c:v>1.0088394247503893</c:v>
                </c:pt>
                <c:pt idx="47">
                  <c:v>1.0090226252633507</c:v>
                </c:pt>
                <c:pt idx="48">
                  <c:v>1.0088394247503893</c:v>
                </c:pt>
                <c:pt idx="49">
                  <c:v>1.0088394247503893</c:v>
                </c:pt>
                <c:pt idx="50">
                  <c:v>1.0092516259045525</c:v>
                </c:pt>
                <c:pt idx="51">
                  <c:v>1.0091142255198315</c:v>
                </c:pt>
                <c:pt idx="52">
                  <c:v>1.0093432261610331</c:v>
                </c:pt>
                <c:pt idx="53">
                  <c:v>1.0098012274434367</c:v>
                </c:pt>
                <c:pt idx="54">
                  <c:v>1.0102134285976001</c:v>
                </c:pt>
                <c:pt idx="55">
                  <c:v>1.0109462306494457</c:v>
                </c:pt>
                <c:pt idx="56">
                  <c:v>1.0104882293670423</c:v>
                </c:pt>
                <c:pt idx="57">
                  <c:v>1.0101218283411193</c:v>
                </c:pt>
                <c:pt idx="58">
                  <c:v>1.0102134285976001</c:v>
                </c:pt>
                <c:pt idx="59">
                  <c:v>1.0097554273151965</c:v>
                </c:pt>
                <c:pt idx="60">
                  <c:v>1.0098928276999175</c:v>
                </c:pt>
                <c:pt idx="61">
                  <c:v>1.0096638270587157</c:v>
                </c:pt>
                <c:pt idx="62">
                  <c:v>1.0095264266739945</c:v>
                </c:pt>
                <c:pt idx="63">
                  <c:v>1.0093432261610331</c:v>
                </c:pt>
                <c:pt idx="64">
                  <c:v>1.0083356233397454</c:v>
                </c:pt>
                <c:pt idx="65">
                  <c:v>1.0041678116698727</c:v>
                </c:pt>
                <c:pt idx="66">
                  <c:v>1.0038014106439497</c:v>
                </c:pt>
                <c:pt idx="67">
                  <c:v>1.0027938078226619</c:v>
                </c:pt>
                <c:pt idx="68">
                  <c:v>1.0030686085921039</c:v>
                </c:pt>
                <c:pt idx="69">
                  <c:v>1.0032518091050655</c:v>
                </c:pt>
                <c:pt idx="70">
                  <c:v>1.0040762114133919</c:v>
                </c:pt>
                <c:pt idx="71">
                  <c:v>1.0040762114133919</c:v>
                </c:pt>
                <c:pt idx="72">
                  <c:v>1.0048548135934781</c:v>
                </c:pt>
                <c:pt idx="73">
                  <c:v>1.0059082165430062</c:v>
                </c:pt>
                <c:pt idx="74">
                  <c:v>1.0052212146194008</c:v>
                </c:pt>
                <c:pt idx="75">
                  <c:v>1.0047174132087571</c:v>
                </c:pt>
                <c:pt idx="76">
                  <c:v>1.0031144087203445</c:v>
                </c:pt>
                <c:pt idx="77">
                  <c:v>1.0027480076944215</c:v>
                </c:pt>
                <c:pt idx="78">
                  <c:v>1.0028854080791425</c:v>
                </c:pt>
                <c:pt idx="79">
                  <c:v>1.0031144087203445</c:v>
                </c:pt>
                <c:pt idx="80">
                  <c:v>1.0030228084638637</c:v>
                </c:pt>
                <c:pt idx="81">
                  <c:v>1.0022442062837775</c:v>
                </c:pt>
                <c:pt idx="82">
                  <c:v>1.0018778052578547</c:v>
                </c:pt>
                <c:pt idx="83">
                  <c:v>1.0021068058990565</c:v>
                </c:pt>
                <c:pt idx="84">
                  <c:v>1.0016946047448934</c:v>
                </c:pt>
                <c:pt idx="85">
                  <c:v>1.0015572043601721</c:v>
                </c:pt>
                <c:pt idx="86">
                  <c:v>1.000503801410644</c:v>
                </c:pt>
                <c:pt idx="87">
                  <c:v>1.0012366034624898</c:v>
                </c:pt>
                <c:pt idx="88">
                  <c:v>1.00128240359073</c:v>
                </c:pt>
                <c:pt idx="89">
                  <c:v>1.0011908033342494</c:v>
                </c:pt>
                <c:pt idx="90">
                  <c:v>1.0021068058990565</c:v>
                </c:pt>
                <c:pt idx="91">
                  <c:v>1.0021984061555371</c:v>
                </c:pt>
                <c:pt idx="92">
                  <c:v>1.0021984061555371</c:v>
                </c:pt>
                <c:pt idx="93">
                  <c:v>1.0027022075661811</c:v>
                </c:pt>
                <c:pt idx="94">
                  <c:v>1.0034808097462673</c:v>
                </c:pt>
                <c:pt idx="95">
                  <c:v>1.0037098103874691</c:v>
                </c:pt>
                <c:pt idx="96">
                  <c:v>1.0034808097462673</c:v>
                </c:pt>
                <c:pt idx="97">
                  <c:v>1.0035724100027481</c:v>
                </c:pt>
                <c:pt idx="98">
                  <c:v>1.0043968123110745</c:v>
                </c:pt>
                <c:pt idx="99">
                  <c:v>1.0048548135934781</c:v>
                </c:pt>
                <c:pt idx="100">
                  <c:v>1.004992213978199</c:v>
                </c:pt>
                <c:pt idx="101">
                  <c:v>1.005862416414766</c:v>
                </c:pt>
                <c:pt idx="102">
                  <c:v>1.006778418979573</c:v>
                </c:pt>
                <c:pt idx="103">
                  <c:v>1.0072364202619766</c:v>
                </c:pt>
                <c:pt idx="104">
                  <c:v>1.0070532197490152</c:v>
                </c:pt>
                <c:pt idx="105">
                  <c:v>1.0072364202619766</c:v>
                </c:pt>
                <c:pt idx="106">
                  <c:v>1.006503618210131</c:v>
                </c:pt>
                <c:pt idx="107">
                  <c:v>1.0063204176971696</c:v>
                </c:pt>
                <c:pt idx="108">
                  <c:v>1.0065952184666116</c:v>
                </c:pt>
                <c:pt idx="109">
                  <c:v>1.0062746175689292</c:v>
                </c:pt>
                <c:pt idx="110">
                  <c:v>1.0056792159018046</c:v>
                </c:pt>
                <c:pt idx="111">
                  <c:v>1.0056792159018046</c:v>
                </c:pt>
                <c:pt idx="112">
                  <c:v>1.005358615004122</c:v>
                </c:pt>
                <c:pt idx="113">
                  <c:v>1.005496015388843</c:v>
                </c:pt>
                <c:pt idx="114">
                  <c:v>1.0053128148758816</c:v>
                </c:pt>
                <c:pt idx="115">
                  <c:v>1.005862416414766</c:v>
                </c:pt>
                <c:pt idx="116">
                  <c:v>1.0063204176971696</c:v>
                </c:pt>
                <c:pt idx="117">
                  <c:v>1.0064120179536502</c:v>
                </c:pt>
                <c:pt idx="118">
                  <c:v>1.0067326188513328</c:v>
                </c:pt>
                <c:pt idx="119">
                  <c:v>1.0066868187230924</c:v>
                </c:pt>
                <c:pt idx="120">
                  <c:v>1.0066868187230924</c:v>
                </c:pt>
                <c:pt idx="121">
                  <c:v>1.0070990198772556</c:v>
                </c:pt>
                <c:pt idx="122">
                  <c:v>1.0072822203902172</c:v>
                </c:pt>
                <c:pt idx="123">
                  <c:v>1.0074196207749382</c:v>
                </c:pt>
                <c:pt idx="124">
                  <c:v>1.0076028212878996</c:v>
                </c:pt>
                <c:pt idx="125">
                  <c:v>1.007786021800861</c:v>
                </c:pt>
                <c:pt idx="126">
                  <c:v>1.0080150224420628</c:v>
                </c:pt>
                <c:pt idx="127">
                  <c:v>1.0083814234679855</c:v>
                </c:pt>
                <c:pt idx="128">
                  <c:v>1.0085646239809472</c:v>
                </c:pt>
                <c:pt idx="129">
                  <c:v>1.0087020243656684</c:v>
                </c:pt>
                <c:pt idx="130">
                  <c:v>1.0089768251351103</c:v>
                </c:pt>
                <c:pt idx="131">
                  <c:v>1.0091142255198315</c:v>
                </c:pt>
                <c:pt idx="132">
                  <c:v>1.0089310250068699</c:v>
                </c:pt>
                <c:pt idx="133">
                  <c:v>1.0087020243656684</c:v>
                </c:pt>
                <c:pt idx="134">
                  <c:v>1.0088852248786297</c:v>
                </c:pt>
                <c:pt idx="135">
                  <c:v>1.0088394247503893</c:v>
                </c:pt>
                <c:pt idx="136">
                  <c:v>1.0088394247503893</c:v>
                </c:pt>
                <c:pt idx="137">
                  <c:v>1.0090226252633507</c:v>
                </c:pt>
                <c:pt idx="138">
                  <c:v>1.0090226252633507</c:v>
                </c:pt>
                <c:pt idx="139">
                  <c:v>1.0092058257763121</c:v>
                </c:pt>
                <c:pt idx="140">
                  <c:v>1.0092516259045525</c:v>
                </c:pt>
                <c:pt idx="141">
                  <c:v>1.0092058257763121</c:v>
                </c:pt>
                <c:pt idx="142">
                  <c:v>1.0101676284693597</c:v>
                </c:pt>
                <c:pt idx="143">
                  <c:v>1.0103966291105615</c:v>
                </c:pt>
                <c:pt idx="144">
                  <c:v>1.0106714298800037</c:v>
                </c:pt>
                <c:pt idx="145">
                  <c:v>1.0109004305212055</c:v>
                </c:pt>
                <c:pt idx="146">
                  <c:v>1.0112668315471283</c:v>
                </c:pt>
                <c:pt idx="147">
                  <c:v>1.0114958321883301</c:v>
                </c:pt>
                <c:pt idx="148">
                  <c:v>1.0117248328295319</c:v>
                </c:pt>
                <c:pt idx="149">
                  <c:v>1.0118164330860127</c:v>
                </c:pt>
                <c:pt idx="150">
                  <c:v>1.0121828341119354</c:v>
                </c:pt>
                <c:pt idx="151">
                  <c:v>1.0125492351378584</c:v>
                </c:pt>
                <c:pt idx="152">
                  <c:v>1.0132362370614638</c:v>
                </c:pt>
                <c:pt idx="153">
                  <c:v>1.0133736374461848</c:v>
                </c:pt>
                <c:pt idx="154">
                  <c:v>1.0134194375744252</c:v>
                </c:pt>
                <c:pt idx="155">
                  <c:v>1.0135110378309058</c:v>
                </c:pt>
                <c:pt idx="156">
                  <c:v>1.0134194375744252</c:v>
                </c:pt>
                <c:pt idx="157">
                  <c:v>1.0138774388568288</c:v>
                </c:pt>
                <c:pt idx="158">
                  <c:v>1.0140148392415498</c:v>
                </c:pt>
                <c:pt idx="159">
                  <c:v>1.0141064394980306</c:v>
                </c:pt>
                <c:pt idx="160">
                  <c:v>1.0142438398827516</c:v>
                </c:pt>
                <c:pt idx="161">
                  <c:v>1.0144728405239534</c:v>
                </c:pt>
                <c:pt idx="162">
                  <c:v>1.0147476412933956</c:v>
                </c:pt>
                <c:pt idx="163">
                  <c:v>1.0148392415498764</c:v>
                </c:pt>
                <c:pt idx="164">
                  <c:v>1.0149766419345974</c:v>
                </c:pt>
                <c:pt idx="165">
                  <c:v>1.015159842447559</c:v>
                </c:pt>
                <c:pt idx="166">
                  <c:v>1.0156636438582027</c:v>
                </c:pt>
                <c:pt idx="167">
                  <c:v>1.0162590455253273</c:v>
                </c:pt>
                <c:pt idx="168">
                  <c:v>1.0167170468077311</c:v>
                </c:pt>
                <c:pt idx="169">
                  <c:v>1.0168086470642117</c:v>
                </c:pt>
                <c:pt idx="170">
                  <c:v>1.0169002473206925</c:v>
                </c:pt>
                <c:pt idx="171">
                  <c:v>1.0170376477054135</c:v>
                </c:pt>
                <c:pt idx="172">
                  <c:v>1.0173582486030961</c:v>
                </c:pt>
                <c:pt idx="173">
                  <c:v>1.0177246496290189</c:v>
                </c:pt>
                <c:pt idx="174">
                  <c:v>1.0179536502702207</c:v>
                </c:pt>
                <c:pt idx="175">
                  <c:v>1.0182284510396629</c:v>
                </c:pt>
                <c:pt idx="176">
                  <c:v>1.018640652193826</c:v>
                </c:pt>
                <c:pt idx="177">
                  <c:v>1.0189612530915086</c:v>
                </c:pt>
                <c:pt idx="178">
                  <c:v>1.01914445360447</c:v>
                </c:pt>
                <c:pt idx="179">
                  <c:v>1.0194192543739122</c:v>
                </c:pt>
                <c:pt idx="180">
                  <c:v>1.020289456810479</c:v>
                </c:pt>
                <c:pt idx="181">
                  <c:v>1.0205184574516808</c:v>
                </c:pt>
                <c:pt idx="182">
                  <c:v>1.0218466611706514</c:v>
                </c:pt>
                <c:pt idx="183">
                  <c:v>1.0227626637354585</c:v>
                </c:pt>
                <c:pt idx="184">
                  <c:v>1.0232206650178619</c:v>
                </c:pt>
                <c:pt idx="185">
                  <c:v>1.0230374645049005</c:v>
                </c:pt>
                <c:pt idx="186">
                  <c:v>1.0232664651461023</c:v>
                </c:pt>
                <c:pt idx="187">
                  <c:v>1.0239992671979481</c:v>
                </c:pt>
                <c:pt idx="188">
                  <c:v>1.0249610698909957</c:v>
                </c:pt>
                <c:pt idx="189">
                  <c:v>1.0249152697627553</c:v>
                </c:pt>
                <c:pt idx="190">
                  <c:v>1.0250526701474765</c:v>
                </c:pt>
                <c:pt idx="191">
                  <c:v>1.0250068700192361</c:v>
                </c:pt>
                <c:pt idx="192">
                  <c:v>1.0249152697627553</c:v>
                </c:pt>
                <c:pt idx="193">
                  <c:v>1.0247778693780343</c:v>
                </c:pt>
                <c:pt idx="194">
                  <c:v>1.0250526701474765</c:v>
                </c:pt>
                <c:pt idx="195">
                  <c:v>1.0255564715581202</c:v>
                </c:pt>
                <c:pt idx="196">
                  <c:v>1.0262434734817256</c:v>
                </c:pt>
                <c:pt idx="197">
                  <c:v>1.0263808738664468</c:v>
                </c:pt>
                <c:pt idx="198">
                  <c:v>1.0263808738664468</c:v>
                </c:pt>
                <c:pt idx="199">
                  <c:v>1.0262434734817256</c:v>
                </c:pt>
                <c:pt idx="200">
                  <c:v>1.0265182742511678</c:v>
                </c:pt>
                <c:pt idx="201">
                  <c:v>1.0268388751488504</c:v>
                </c:pt>
                <c:pt idx="202">
                  <c:v>1.0271136759182926</c:v>
                </c:pt>
                <c:pt idx="203">
                  <c:v>1.0275716772006962</c:v>
                </c:pt>
                <c:pt idx="204">
                  <c:v>1.0273884766877346</c:v>
                </c:pt>
                <c:pt idx="205">
                  <c:v>1.0277090775854172</c:v>
                </c:pt>
                <c:pt idx="206">
                  <c:v>1.0281670788678208</c:v>
                </c:pt>
                <c:pt idx="207">
                  <c:v>1.0285334798937436</c:v>
                </c:pt>
                <c:pt idx="208">
                  <c:v>1.0286708802784648</c:v>
                </c:pt>
                <c:pt idx="209">
                  <c:v>1.0291746816891088</c:v>
                </c:pt>
                <c:pt idx="210">
                  <c:v>1.0297242832279931</c:v>
                </c:pt>
                <c:pt idx="211">
                  <c:v>1.0308692864340021</c:v>
                </c:pt>
                <c:pt idx="212">
                  <c:v>1.0315104882293671</c:v>
                </c:pt>
                <c:pt idx="213">
                  <c:v>1.0309608866904827</c:v>
                </c:pt>
                <c:pt idx="214">
                  <c:v>1.0301822845103967</c:v>
                </c:pt>
                <c:pt idx="215">
                  <c:v>1.0296784830997527</c:v>
                </c:pt>
                <c:pt idx="216">
                  <c:v>1.0297242832279931</c:v>
                </c:pt>
                <c:pt idx="217">
                  <c:v>1.0300448841256755</c:v>
                </c:pt>
                <c:pt idx="218">
                  <c:v>1.0306402857928003</c:v>
                </c:pt>
                <c:pt idx="219">
                  <c:v>1.0306402857928003</c:v>
                </c:pt>
                <c:pt idx="220">
                  <c:v>1.0304570852798387</c:v>
                </c:pt>
                <c:pt idx="221">
                  <c:v>1.0306402857928003</c:v>
                </c:pt>
                <c:pt idx="222">
                  <c:v>1.0309150865622423</c:v>
                </c:pt>
                <c:pt idx="223">
                  <c:v>1.0314646881011267</c:v>
                </c:pt>
                <c:pt idx="224">
                  <c:v>1.0318310891270495</c:v>
                </c:pt>
                <c:pt idx="225">
                  <c:v>1.0320142896400111</c:v>
                </c:pt>
                <c:pt idx="226">
                  <c:v>1.0321974901529725</c:v>
                </c:pt>
                <c:pt idx="227">
                  <c:v>1.0324722909224147</c:v>
                </c:pt>
                <c:pt idx="228">
                  <c:v>1.0327012915636162</c:v>
                </c:pt>
                <c:pt idx="229">
                  <c:v>1.0331134927177796</c:v>
                </c:pt>
                <c:pt idx="230">
                  <c:v>1.0334798937437024</c:v>
                </c:pt>
                <c:pt idx="231">
                  <c:v>1.0336630942566638</c:v>
                </c:pt>
                <c:pt idx="232">
                  <c:v>1.033800494641385</c:v>
                </c:pt>
                <c:pt idx="233">
                  <c:v>1.0337088943849042</c:v>
                </c:pt>
                <c:pt idx="234">
                  <c:v>1.0341668956673078</c:v>
                </c:pt>
                <c:pt idx="235">
                  <c:v>1.034579096821471</c:v>
                </c:pt>
                <c:pt idx="236">
                  <c:v>1.0348538975909132</c:v>
                </c:pt>
                <c:pt idx="237">
                  <c:v>1.0350370981038748</c:v>
                </c:pt>
                <c:pt idx="238">
                  <c:v>1.0355408995145186</c:v>
                </c:pt>
                <c:pt idx="239">
                  <c:v>1.0362279014381239</c:v>
                </c:pt>
                <c:pt idx="240">
                  <c:v>1.034945497847394</c:v>
                </c:pt>
                <c:pt idx="241">
                  <c:v>1.0350370981038748</c:v>
                </c:pt>
                <c:pt idx="242">
                  <c:v>1.035586699642759</c:v>
                </c:pt>
                <c:pt idx="243">
                  <c:v>1.0356782998992398</c:v>
                </c:pt>
                <c:pt idx="244">
                  <c:v>1.035449299258038</c:v>
                </c:pt>
                <c:pt idx="245">
                  <c:v>1.0357699001557203</c:v>
                </c:pt>
                <c:pt idx="246">
                  <c:v>1.0360905010534029</c:v>
                </c:pt>
                <c:pt idx="247">
                  <c:v>1.0365943024640469</c:v>
                </c:pt>
                <c:pt idx="248">
                  <c:v>1.0367317028487679</c:v>
                </c:pt>
                <c:pt idx="249">
                  <c:v>1.0371439040029311</c:v>
                </c:pt>
                <c:pt idx="250">
                  <c:v>1.0372813043876523</c:v>
                </c:pt>
                <c:pt idx="251">
                  <c:v>1.0374645049006137</c:v>
                </c:pt>
                <c:pt idx="252">
                  <c:v>1.0374645049006137</c:v>
                </c:pt>
                <c:pt idx="253">
                  <c:v>1.0377393056700559</c:v>
                </c:pt>
                <c:pt idx="254">
                  <c:v>1.0385179078501419</c:v>
                </c:pt>
                <c:pt idx="255">
                  <c:v>1.0399835119538334</c:v>
                </c:pt>
                <c:pt idx="256">
                  <c:v>1.0406705138774388</c:v>
                </c:pt>
                <c:pt idx="257">
                  <c:v>1.0408995145186406</c:v>
                </c:pt>
                <c:pt idx="258">
                  <c:v>1.0412659155445634</c:v>
                </c:pt>
                <c:pt idx="259">
                  <c:v>1.0424109187505726</c:v>
                </c:pt>
                <c:pt idx="260">
                  <c:v>1.042594119263534</c:v>
                </c:pt>
                <c:pt idx="261">
                  <c:v>1.0426857195200145</c:v>
                </c:pt>
                <c:pt idx="262">
                  <c:v>1.0428231199047358</c:v>
                </c:pt>
                <c:pt idx="263">
                  <c:v>1.0426399193917744</c:v>
                </c:pt>
                <c:pt idx="264">
                  <c:v>1.0421819181093708</c:v>
                </c:pt>
                <c:pt idx="265">
                  <c:v>1.041952917468169</c:v>
                </c:pt>
                <c:pt idx="266">
                  <c:v>1.041952917468169</c:v>
                </c:pt>
                <c:pt idx="267">
                  <c:v>1.042227718237611</c:v>
                </c:pt>
                <c:pt idx="268">
                  <c:v>1.0417697169552076</c:v>
                </c:pt>
                <c:pt idx="269">
                  <c:v>1.040578913620958</c:v>
                </c:pt>
                <c:pt idx="270">
                  <c:v>1.0403957131079966</c:v>
                </c:pt>
                <c:pt idx="271">
                  <c:v>1.0396171109279106</c:v>
                </c:pt>
                <c:pt idx="272">
                  <c:v>1.0388385087478245</c:v>
                </c:pt>
                <c:pt idx="273">
                  <c:v>1.0385179078501419</c:v>
                </c:pt>
                <c:pt idx="274">
                  <c:v>1.0382431070806999</c:v>
                </c:pt>
                <c:pt idx="275">
                  <c:v>1.0385637079783823</c:v>
                </c:pt>
                <c:pt idx="276">
                  <c:v>1.0389759091325454</c:v>
                </c:pt>
                <c:pt idx="277">
                  <c:v>1.039433910414949</c:v>
                </c:pt>
                <c:pt idx="278">
                  <c:v>1.0391591096455068</c:v>
                </c:pt>
                <c:pt idx="279">
                  <c:v>1.0387469084913439</c:v>
                </c:pt>
                <c:pt idx="280">
                  <c:v>1.0385637079783823</c:v>
                </c:pt>
                <c:pt idx="281">
                  <c:v>1.0385637079783823</c:v>
                </c:pt>
                <c:pt idx="282">
                  <c:v>1.0387927086195841</c:v>
                </c:pt>
                <c:pt idx="283">
                  <c:v>1.0386095081066227</c:v>
                </c:pt>
                <c:pt idx="284">
                  <c:v>1.0382889072089401</c:v>
                </c:pt>
                <c:pt idx="285">
                  <c:v>1.0377851057982963</c:v>
                </c:pt>
                <c:pt idx="286">
                  <c:v>1.0378309059265365</c:v>
                </c:pt>
                <c:pt idx="287">
                  <c:v>1.0384263075936613</c:v>
                </c:pt>
                <c:pt idx="288">
                  <c:v>1.0396171109279106</c:v>
                </c:pt>
                <c:pt idx="289">
                  <c:v>1.0398461115691124</c:v>
                </c:pt>
                <c:pt idx="290">
                  <c:v>1.0394797105431894</c:v>
                </c:pt>
                <c:pt idx="291">
                  <c:v>1.0389759091325454</c:v>
                </c:pt>
                <c:pt idx="292">
                  <c:v>1.0381973069524595</c:v>
                </c:pt>
                <c:pt idx="293">
                  <c:v>1.0379225061830173</c:v>
                </c:pt>
                <c:pt idx="294">
                  <c:v>1.0383805074654209</c:v>
                </c:pt>
                <c:pt idx="295">
                  <c:v>1.0386553082348631</c:v>
                </c:pt>
                <c:pt idx="296">
                  <c:v>1.0383347073371805</c:v>
                </c:pt>
                <c:pt idx="297">
                  <c:v>1.0379225061830173</c:v>
                </c:pt>
                <c:pt idx="298">
                  <c:v>1.0370981038746909</c:v>
                </c:pt>
                <c:pt idx="299">
                  <c:v>1.0370065036182101</c:v>
                </c:pt>
                <c:pt idx="300">
                  <c:v>1.0374645049006137</c:v>
                </c:pt>
                <c:pt idx="301">
                  <c:v>1.0370065036182101</c:v>
                </c:pt>
                <c:pt idx="302">
                  <c:v>1.0372813043876523</c:v>
                </c:pt>
                <c:pt idx="303">
                  <c:v>1.0375561051570943</c:v>
                </c:pt>
                <c:pt idx="304">
                  <c:v>1.0375103050288541</c:v>
                </c:pt>
                <c:pt idx="305">
                  <c:v>1.0378767060547771</c:v>
                </c:pt>
                <c:pt idx="306">
                  <c:v>1.0382431070806999</c:v>
                </c:pt>
                <c:pt idx="307">
                  <c:v>1.0384263075936613</c:v>
                </c:pt>
                <c:pt idx="308">
                  <c:v>1.0390675093890263</c:v>
                </c:pt>
                <c:pt idx="309">
                  <c:v>1.0391591096455068</c:v>
                </c:pt>
                <c:pt idx="310">
                  <c:v>1.0394797105431894</c:v>
                </c:pt>
                <c:pt idx="311">
                  <c:v>1.0394797105431894</c:v>
                </c:pt>
                <c:pt idx="312">
                  <c:v>1.0395713107996702</c:v>
                </c:pt>
                <c:pt idx="313">
                  <c:v>1.039800311440872</c:v>
                </c:pt>
                <c:pt idx="314">
                  <c:v>1.0401209123385544</c:v>
                </c:pt>
                <c:pt idx="315">
                  <c:v>1.0407163140056792</c:v>
                </c:pt>
                <c:pt idx="316">
                  <c:v>1.0408537143904002</c:v>
                </c:pt>
                <c:pt idx="317">
                  <c:v>1.041082715031602</c:v>
                </c:pt>
                <c:pt idx="318">
                  <c:v>1.041723916826967</c:v>
                </c:pt>
                <c:pt idx="319">
                  <c:v>1.042227718237611</c:v>
                </c:pt>
                <c:pt idx="320">
                  <c:v>1.0425483191352936</c:v>
                </c:pt>
                <c:pt idx="321">
                  <c:v>1.0426857195200145</c:v>
                </c:pt>
                <c:pt idx="322">
                  <c:v>1.0425025190070532</c:v>
                </c:pt>
                <c:pt idx="323">
                  <c:v>1.0419071173399286</c:v>
                </c:pt>
                <c:pt idx="324">
                  <c:v>1.0418613172116882</c:v>
                </c:pt>
                <c:pt idx="325">
                  <c:v>1.0416781166987268</c:v>
                </c:pt>
                <c:pt idx="326">
                  <c:v>1.0419071173399286</c:v>
                </c:pt>
                <c:pt idx="327">
                  <c:v>1.0419987175964092</c:v>
                </c:pt>
                <c:pt idx="328">
                  <c:v>1.0424109187505726</c:v>
                </c:pt>
                <c:pt idx="329">
                  <c:v>1.042456718878813</c:v>
                </c:pt>
                <c:pt idx="330">
                  <c:v>1.0425025190070532</c:v>
                </c:pt>
                <c:pt idx="331">
                  <c:v>1.042456718878813</c:v>
                </c:pt>
                <c:pt idx="332">
                  <c:v>1.0423651186223322</c:v>
                </c:pt>
                <c:pt idx="333">
                  <c:v>1.0425483191352936</c:v>
                </c:pt>
                <c:pt idx="334">
                  <c:v>1.0428231199047358</c:v>
                </c:pt>
                <c:pt idx="335">
                  <c:v>1.0435559219565815</c:v>
                </c:pt>
                <c:pt idx="336">
                  <c:v>1.0437391224695429</c:v>
                </c:pt>
                <c:pt idx="337">
                  <c:v>1.0445635247778693</c:v>
                </c:pt>
                <c:pt idx="338">
                  <c:v>1.0450673261885133</c:v>
                </c:pt>
                <c:pt idx="339">
                  <c:v>1.0459833287533205</c:v>
                </c:pt>
                <c:pt idx="340">
                  <c:v>1.0468993313181276</c:v>
                </c:pt>
                <c:pt idx="341">
                  <c:v>1.0473115324722908</c:v>
                </c:pt>
                <c:pt idx="342">
                  <c:v>1.0477695337546946</c:v>
                </c:pt>
                <c:pt idx="343">
                  <c:v>1.0485481359347806</c:v>
                </c:pt>
                <c:pt idx="344">
                  <c:v>1.0495099386278282</c:v>
                </c:pt>
                <c:pt idx="345">
                  <c:v>1.0506091417055967</c:v>
                </c:pt>
                <c:pt idx="346">
                  <c:v>1.0512503435009617</c:v>
                </c:pt>
                <c:pt idx="347">
                  <c:v>1.0518457451680865</c:v>
                </c:pt>
                <c:pt idx="348">
                  <c:v>1.0523953467069707</c:v>
                </c:pt>
                <c:pt idx="349">
                  <c:v>1.0527159476046533</c:v>
                </c:pt>
                <c:pt idx="350">
                  <c:v>1.0529449482458551</c:v>
                </c:pt>
                <c:pt idx="351">
                  <c:v>1.0528991481176146</c:v>
                </c:pt>
                <c:pt idx="352">
                  <c:v>1.0526701474764129</c:v>
                </c:pt>
                <c:pt idx="353">
                  <c:v>1.0530823486305763</c:v>
                </c:pt>
                <c:pt idx="354">
                  <c:v>1.0538151506824218</c:v>
                </c:pt>
                <c:pt idx="355">
                  <c:v>1.0542731519648254</c:v>
                </c:pt>
                <c:pt idx="356">
                  <c:v>1.0553265549143538</c:v>
                </c:pt>
                <c:pt idx="357">
                  <c:v>1.0554181551708344</c:v>
                </c:pt>
                <c:pt idx="358">
                  <c:v>1.0555097554273152</c:v>
                </c:pt>
                <c:pt idx="359">
                  <c:v>1.0553723550425942</c:v>
                </c:pt>
                <c:pt idx="360">
                  <c:v>1.0556471558120364</c:v>
                </c:pt>
                <c:pt idx="361">
                  <c:v>1.0556929559402766</c:v>
                </c:pt>
                <c:pt idx="362">
                  <c:v>1.0560593569661996</c:v>
                </c:pt>
                <c:pt idx="363">
                  <c:v>1.0567463588898047</c:v>
                </c:pt>
                <c:pt idx="364">
                  <c:v>1.0572043601722085</c:v>
                </c:pt>
                <c:pt idx="365">
                  <c:v>1.0584409636346981</c:v>
                </c:pt>
                <c:pt idx="366">
                  <c:v>1.0586699642758999</c:v>
                </c:pt>
                <c:pt idx="367">
                  <c:v>1.0589905651735825</c:v>
                </c:pt>
                <c:pt idx="368">
                  <c:v>1.0596317669689475</c:v>
                </c:pt>
                <c:pt idx="369">
                  <c:v>1.0598607676101492</c:v>
                </c:pt>
                <c:pt idx="370">
                  <c:v>1.0605019694055144</c:v>
                </c:pt>
                <c:pt idx="371">
                  <c:v>1.062379774663369</c:v>
                </c:pt>
                <c:pt idx="372">
                  <c:v>1.0641201795365027</c:v>
                </c:pt>
                <c:pt idx="373">
                  <c:v>1.0643491801777045</c:v>
                </c:pt>
                <c:pt idx="374">
                  <c:v>1.0643491801777045</c:v>
                </c:pt>
                <c:pt idx="375">
                  <c:v>1.0653109828707521</c:v>
                </c:pt>
                <c:pt idx="376">
                  <c:v>1.0655399835119539</c:v>
                </c:pt>
                <c:pt idx="377">
                  <c:v>1.0644865805624255</c:v>
                </c:pt>
                <c:pt idx="378">
                  <c:v>1.0647613813318677</c:v>
                </c:pt>
                <c:pt idx="379">
                  <c:v>1.0646697810753871</c:v>
                </c:pt>
                <c:pt idx="380">
                  <c:v>1.0648529815883485</c:v>
                </c:pt>
                <c:pt idx="381">
                  <c:v>1.0655399835119539</c:v>
                </c:pt>
                <c:pt idx="382">
                  <c:v>1.0658147842813961</c:v>
                </c:pt>
                <c:pt idx="383">
                  <c:v>1.0665017862050015</c:v>
                </c:pt>
                <c:pt idx="384">
                  <c:v>1.0667765869744434</c:v>
                </c:pt>
                <c:pt idx="385">
                  <c:v>1.0672345882568472</c:v>
                </c:pt>
                <c:pt idx="386">
                  <c:v>1.0680589905651736</c:v>
                </c:pt>
                <c:pt idx="387">
                  <c:v>1.0688375927452598</c:v>
                </c:pt>
                <c:pt idx="388">
                  <c:v>1.0697993954383074</c:v>
                </c:pt>
                <c:pt idx="389">
                  <c:v>1.0704863973619125</c:v>
                </c:pt>
                <c:pt idx="390">
                  <c:v>1.0719520014656041</c:v>
                </c:pt>
                <c:pt idx="391">
                  <c:v>1.0707153980031143</c:v>
                </c:pt>
                <c:pt idx="392">
                  <c:v>1.0712649995419987</c:v>
                </c:pt>
                <c:pt idx="393">
                  <c:v>1.0715856004396813</c:v>
                </c:pt>
                <c:pt idx="394">
                  <c:v>1.0732802051845745</c:v>
                </c:pt>
                <c:pt idx="395">
                  <c:v>1.0739214069799394</c:v>
                </c:pt>
                <c:pt idx="396">
                  <c:v>1.0739214069799394</c:v>
                </c:pt>
                <c:pt idx="397">
                  <c:v>1.0732802051845745</c:v>
                </c:pt>
                <c:pt idx="398">
                  <c:v>1.0713565997984793</c:v>
                </c:pt>
                <c:pt idx="399">
                  <c:v>1.0708527983878355</c:v>
                </c:pt>
                <c:pt idx="400">
                  <c:v>1.0704863973619125</c:v>
                </c:pt>
                <c:pt idx="401">
                  <c:v>1.0709901987725565</c:v>
                </c:pt>
                <c:pt idx="402">
                  <c:v>1.0719062013373637</c:v>
                </c:pt>
                <c:pt idx="403">
                  <c:v>1.0727764037739305</c:v>
                </c:pt>
                <c:pt idx="404">
                  <c:v>1.0726848035174499</c:v>
                </c:pt>
                <c:pt idx="405">
                  <c:v>1.0727764037739305</c:v>
                </c:pt>
                <c:pt idx="406">
                  <c:v>1.0727764037739305</c:v>
                </c:pt>
                <c:pt idx="407">
                  <c:v>1.0724100027480077</c:v>
                </c:pt>
                <c:pt idx="408">
                  <c:v>1.0723642026197673</c:v>
                </c:pt>
                <c:pt idx="409">
                  <c:v>1.0729596042868921</c:v>
                </c:pt>
                <c:pt idx="410">
                  <c:v>1.0733718054410553</c:v>
                </c:pt>
                <c:pt idx="411">
                  <c:v>1.0738756068516992</c:v>
                </c:pt>
                <c:pt idx="412">
                  <c:v>1.0735550059540167</c:v>
                </c:pt>
                <c:pt idx="413">
                  <c:v>1.074104607492901</c:v>
                </c:pt>
                <c:pt idx="414">
                  <c:v>1.074883209672987</c:v>
                </c:pt>
                <c:pt idx="415">
                  <c:v>1.0752038105706696</c:v>
                </c:pt>
                <c:pt idx="416">
                  <c:v>1.0757076119813136</c:v>
                </c:pt>
                <c:pt idx="417">
                  <c:v>1.076257213520198</c:v>
                </c:pt>
                <c:pt idx="418">
                  <c:v>1.0761656132637172</c:v>
                </c:pt>
                <c:pt idx="419">
                  <c:v>1.076394613904919</c:v>
                </c:pt>
                <c:pt idx="420">
                  <c:v>1.077402216726207</c:v>
                </c:pt>
                <c:pt idx="421">
                  <c:v>1.0780434185215719</c:v>
                </c:pt>
                <c:pt idx="422">
                  <c:v>1.0782724191627737</c:v>
                </c:pt>
                <c:pt idx="423">
                  <c:v>1.0788220207016579</c:v>
                </c:pt>
                <c:pt idx="424">
                  <c:v>1.0799212237794265</c:v>
                </c:pt>
                <c:pt idx="425">
                  <c:v>1.0808372263442338</c:v>
                </c:pt>
                <c:pt idx="426">
                  <c:v>1.0821654300632042</c:v>
                </c:pt>
                <c:pt idx="427">
                  <c:v>1.083539433910415</c:v>
                </c:pt>
                <c:pt idx="428">
                  <c:v>1.0819364294220024</c:v>
                </c:pt>
                <c:pt idx="429">
                  <c:v>1.0812952276266374</c:v>
                </c:pt>
                <c:pt idx="430">
                  <c:v>1.0797380232664651</c:v>
                </c:pt>
                <c:pt idx="431">
                  <c:v>1.0785472199322159</c:v>
                </c:pt>
                <c:pt idx="432">
                  <c:v>1.0767152148026014</c:v>
                </c:pt>
                <c:pt idx="433">
                  <c:v>1.0781350187780525</c:v>
                </c:pt>
                <c:pt idx="434">
                  <c:v>1.0786388201886965</c:v>
                </c:pt>
                <c:pt idx="435">
                  <c:v>1.0796922231382249</c:v>
                </c:pt>
                <c:pt idx="436">
                  <c:v>1.0800586241641477</c:v>
                </c:pt>
                <c:pt idx="437">
                  <c:v>1.0796006228817441</c:v>
                </c:pt>
                <c:pt idx="438">
                  <c:v>1.0793716222405423</c:v>
                </c:pt>
                <c:pt idx="439">
                  <c:v>1.0782724191627737</c:v>
                </c:pt>
                <c:pt idx="440">
                  <c:v>1.0801502244206285</c:v>
                </c:pt>
                <c:pt idx="441">
                  <c:v>1.0809288266007144</c:v>
                </c:pt>
                <c:pt idx="442">
                  <c:v>1.0810204268571952</c:v>
                </c:pt>
                <c:pt idx="443">
                  <c:v>1.0805624255747917</c:v>
                </c:pt>
                <c:pt idx="444">
                  <c:v>1.0801960245488686</c:v>
                </c:pt>
                <c:pt idx="445">
                  <c:v>1.080745626087753</c:v>
                </c:pt>
                <c:pt idx="446">
                  <c:v>1.080745626087753</c:v>
                </c:pt>
                <c:pt idx="447">
                  <c:v>1.0810662269854354</c:v>
                </c:pt>
                <c:pt idx="448">
                  <c:v>1.081753228909041</c:v>
                </c:pt>
                <c:pt idx="449">
                  <c:v>1.0817990290372812</c:v>
                </c:pt>
                <c:pt idx="450">
                  <c:v>1.0819822295502428</c:v>
                </c:pt>
                <c:pt idx="451">
                  <c:v>1.0825776312173674</c:v>
                </c:pt>
                <c:pt idx="452">
                  <c:v>1.0833562333974533</c:v>
                </c:pt>
                <c:pt idx="453">
                  <c:v>1.0836310341668955</c:v>
                </c:pt>
                <c:pt idx="454">
                  <c:v>1.083173032884492</c:v>
                </c:pt>
                <c:pt idx="455">
                  <c:v>1.0839516350645781</c:v>
                </c:pt>
                <c:pt idx="456">
                  <c:v>1.0843638362187413</c:v>
                </c:pt>
                <c:pt idx="457">
                  <c:v>1.0850966382705871</c:v>
                </c:pt>
                <c:pt idx="458">
                  <c:v>1.0856004396812311</c:v>
                </c:pt>
                <c:pt idx="459">
                  <c:v>1.0859210405789135</c:v>
                </c:pt>
                <c:pt idx="460">
                  <c:v>1.0866996427589997</c:v>
                </c:pt>
                <c:pt idx="461">
                  <c:v>1.0868370431437209</c:v>
                </c:pt>
                <c:pt idx="462">
                  <c:v>1.0872950444261245</c:v>
                </c:pt>
                <c:pt idx="463">
                  <c:v>1.0879820463497298</c:v>
                </c:pt>
                <c:pt idx="464">
                  <c:v>1.088394247503893</c:v>
                </c:pt>
                <c:pt idx="465">
                  <c:v>1.0890812494274984</c:v>
                </c:pt>
                <c:pt idx="466">
                  <c:v>1.089539250709902</c:v>
                </c:pt>
                <c:pt idx="467">
                  <c:v>1.0900888522487862</c:v>
                </c:pt>
                <c:pt idx="468">
                  <c:v>1.0896308509663826</c:v>
                </c:pt>
                <c:pt idx="469">
                  <c:v>1.0901346523770268</c:v>
                </c:pt>
                <c:pt idx="470">
                  <c:v>1.0908674544288723</c:v>
                </c:pt>
                <c:pt idx="471">
                  <c:v>1.0911880553265549</c:v>
                </c:pt>
                <c:pt idx="472">
                  <c:v>1.0919208573784007</c:v>
                </c:pt>
                <c:pt idx="473">
                  <c:v>1.0925162590455253</c:v>
                </c:pt>
                <c:pt idx="474">
                  <c:v>1.0914170559677567</c:v>
                </c:pt>
                <c:pt idx="475">
                  <c:v>1.0919208573784007</c:v>
                </c:pt>
                <c:pt idx="476">
                  <c:v>1.0926994595584869</c:v>
                </c:pt>
                <c:pt idx="477">
                  <c:v>1.0928368599432079</c:v>
                </c:pt>
                <c:pt idx="478">
                  <c:v>1.0920582577631217</c:v>
                </c:pt>
                <c:pt idx="479">
                  <c:v>1.0909132545571127</c:v>
                </c:pt>
                <c:pt idx="480">
                  <c:v>1.0918292571219199</c:v>
                </c:pt>
                <c:pt idx="481">
                  <c:v>1.0920124576348813</c:v>
                </c:pt>
                <c:pt idx="482">
                  <c:v>1.0922872584043235</c:v>
                </c:pt>
                <c:pt idx="483">
                  <c:v>1.0928826600714483</c:v>
                </c:pt>
                <c:pt idx="484">
                  <c:v>1.0935696619950537</c:v>
                </c:pt>
                <c:pt idx="485">
                  <c:v>1.0937070623797747</c:v>
                </c:pt>
                <c:pt idx="486">
                  <c:v>1.0937986626362552</c:v>
                </c:pt>
                <c:pt idx="487">
                  <c:v>1.0935696619950537</c:v>
                </c:pt>
                <c:pt idx="488">
                  <c:v>1.0937528625080151</c:v>
                </c:pt>
                <c:pt idx="489">
                  <c:v>1.0951268663552258</c:v>
                </c:pt>
                <c:pt idx="490">
                  <c:v>1.096042868920033</c:v>
                </c:pt>
                <c:pt idx="491">
                  <c:v>1.0964550700741962</c:v>
                </c:pt>
                <c:pt idx="492">
                  <c:v>1.0974168727672438</c:v>
                </c:pt>
                <c:pt idx="493">
                  <c:v>1.0981954749473299</c:v>
                </c:pt>
                <c:pt idx="494">
                  <c:v>1.0993404781533389</c:v>
                </c:pt>
                <c:pt idx="495">
                  <c:v>1.1003022808463865</c:v>
                </c:pt>
                <c:pt idx="496">
                  <c:v>1.1008976825135111</c:v>
                </c:pt>
                <c:pt idx="497">
                  <c:v>1.1018136850783182</c:v>
                </c:pt>
                <c:pt idx="498">
                  <c:v>1.1026380873866446</c:v>
                </c:pt>
                <c:pt idx="499">
                  <c:v>1.103691490336173</c:v>
                </c:pt>
                <c:pt idx="500">
                  <c:v>1.103050288540808</c:v>
                </c:pt>
                <c:pt idx="501">
                  <c:v>1.1037830905926536</c:v>
                </c:pt>
                <c:pt idx="502">
                  <c:v>1.102821287899606</c:v>
                </c:pt>
                <c:pt idx="503">
                  <c:v>1.101538884308876</c:v>
                </c:pt>
                <c:pt idx="504">
                  <c:v>1.0987908766144545</c:v>
                </c:pt>
                <c:pt idx="505">
                  <c:v>1.0995694787945407</c:v>
                </c:pt>
                <c:pt idx="506">
                  <c:v>1.1014472840523954</c:v>
                </c:pt>
                <c:pt idx="507">
                  <c:v>1.1007602821287901</c:v>
                </c:pt>
                <c:pt idx="508">
                  <c:v>1.1008518823852707</c:v>
                </c:pt>
                <c:pt idx="509">
                  <c:v>1.1014014839241548</c:v>
                </c:pt>
                <c:pt idx="510">
                  <c:v>1.1017220848218376</c:v>
                </c:pt>
                <c:pt idx="511">
                  <c:v>1.1013556837959146</c:v>
                </c:pt>
                <c:pt idx="512">
                  <c:v>1.1019510854630392</c:v>
                </c:pt>
                <c:pt idx="513">
                  <c:v>1.10204268571952</c:v>
                </c:pt>
                <c:pt idx="514">
                  <c:v>1.1022258862324814</c:v>
                </c:pt>
                <c:pt idx="515">
                  <c:v>1.1010808830264724</c:v>
                </c:pt>
                <c:pt idx="516">
                  <c:v>1.1014472840523954</c:v>
                </c:pt>
                <c:pt idx="517">
                  <c:v>1.101538884308876</c:v>
                </c:pt>
                <c:pt idx="518">
                  <c:v>1.1014014839241548</c:v>
                </c:pt>
                <c:pt idx="519">
                  <c:v>1.1029128881560868</c:v>
                </c:pt>
                <c:pt idx="520">
                  <c:v>1.1034624896949712</c:v>
                </c:pt>
                <c:pt idx="521">
                  <c:v>1.104195291746817</c:v>
                </c:pt>
                <c:pt idx="522">
                  <c:v>1.1051570944398645</c:v>
                </c:pt>
                <c:pt idx="523">
                  <c:v>1.1053860950810661</c:v>
                </c:pt>
                <c:pt idx="524">
                  <c:v>1.1063020976458735</c:v>
                </c:pt>
                <c:pt idx="525">
                  <c:v>1.1070806998259595</c:v>
                </c:pt>
                <c:pt idx="526">
                  <c:v>1.1079051021342861</c:v>
                </c:pt>
                <c:pt idx="527">
                  <c:v>1.1083631034166896</c:v>
                </c:pt>
                <c:pt idx="528">
                  <c:v>1.109187505725016</c:v>
                </c:pt>
                <c:pt idx="529">
                  <c:v>1.1105615095722268</c:v>
                </c:pt>
                <c:pt idx="530">
                  <c:v>1.1112943116240726</c:v>
                </c:pt>
                <c:pt idx="531">
                  <c:v>1.1112485114958321</c:v>
                </c:pt>
                <c:pt idx="532">
                  <c:v>1.1111569112393516</c:v>
                </c:pt>
                <c:pt idx="533">
                  <c:v>1.1116149125217551</c:v>
                </c:pt>
                <c:pt idx="534">
                  <c:v>1.1105615095722268</c:v>
                </c:pt>
                <c:pt idx="535">
                  <c:v>1.1114317120087935</c:v>
                </c:pt>
                <c:pt idx="536">
                  <c:v>1.1105615095722268</c:v>
                </c:pt>
                <c:pt idx="537">
                  <c:v>1.1051570944398645</c:v>
                </c:pt>
                <c:pt idx="538">
                  <c:v>1.0998900796922231</c:v>
                </c:pt>
                <c:pt idx="539">
                  <c:v>1.1023174864889622</c:v>
                </c:pt>
                <c:pt idx="540">
                  <c:v>1.1014014839241548</c:v>
                </c:pt>
                <c:pt idx="541">
                  <c:v>1.1013556837959146</c:v>
                </c:pt>
                <c:pt idx="542">
                  <c:v>1.103828890720894</c:v>
                </c:pt>
                <c:pt idx="543">
                  <c:v>1.1051112943116239</c:v>
                </c:pt>
                <c:pt idx="544">
                  <c:v>1.1052944948245855</c:v>
                </c:pt>
                <c:pt idx="545">
                  <c:v>1.1056608958505083</c:v>
                </c:pt>
                <c:pt idx="546">
                  <c:v>1.1058898964917101</c:v>
                </c:pt>
                <c:pt idx="547">
                  <c:v>1.1059814967481909</c:v>
                </c:pt>
                <c:pt idx="548">
                  <c:v>1.1068516991847577</c:v>
                </c:pt>
                <c:pt idx="549">
                  <c:v>1.1068974993129981</c:v>
                </c:pt>
                <c:pt idx="550">
                  <c:v>1.1067600989282771</c:v>
                </c:pt>
                <c:pt idx="551">
                  <c:v>1.1058440963634697</c:v>
                </c:pt>
                <c:pt idx="552">
                  <c:v>1.1046990931574607</c:v>
                </c:pt>
                <c:pt idx="553">
                  <c:v>1.1047448932857011</c:v>
                </c:pt>
                <c:pt idx="554">
                  <c:v>1.1042410918750571</c:v>
                </c:pt>
                <c:pt idx="555">
                  <c:v>1.1036456902079326</c:v>
                </c:pt>
                <c:pt idx="556">
                  <c:v>1.1038746908491344</c:v>
                </c:pt>
                <c:pt idx="557">
                  <c:v>1.1040120912338556</c:v>
                </c:pt>
                <c:pt idx="558">
                  <c:v>1.1044242923880185</c:v>
                </c:pt>
                <c:pt idx="559">
                  <c:v>1.1054776953375469</c:v>
                </c:pt>
                <c:pt idx="560">
                  <c:v>1.1061646972611523</c:v>
                </c:pt>
                <c:pt idx="561">
                  <c:v>1.1066684986717963</c:v>
                </c:pt>
                <c:pt idx="562">
                  <c:v>1.1069890995694787</c:v>
                </c:pt>
                <c:pt idx="563">
                  <c:v>1.1075387011083631</c:v>
                </c:pt>
                <c:pt idx="564">
                  <c:v>1.1079967023907666</c:v>
                </c:pt>
                <c:pt idx="565">
                  <c:v>1.108546303929651</c:v>
                </c:pt>
                <c:pt idx="566">
                  <c:v>1.1093249061097372</c:v>
                </c:pt>
                <c:pt idx="567">
                  <c:v>1.1093249061097372</c:v>
                </c:pt>
                <c:pt idx="568">
                  <c:v>1.1092791059814966</c:v>
                </c:pt>
                <c:pt idx="569">
                  <c:v>1.1092791059814966</c:v>
                </c:pt>
                <c:pt idx="570">
                  <c:v>1.108546303929651</c:v>
                </c:pt>
                <c:pt idx="571">
                  <c:v>1.1087295044426124</c:v>
                </c:pt>
                <c:pt idx="572">
                  <c:v>1.1087295044426124</c:v>
                </c:pt>
                <c:pt idx="573">
                  <c:v>1.1092791059814966</c:v>
                </c:pt>
                <c:pt idx="574">
                  <c:v>1.1097371072639004</c:v>
                </c:pt>
                <c:pt idx="575">
                  <c:v>1.1110195108546304</c:v>
                </c:pt>
                <c:pt idx="576">
                  <c:v>1.1116607126499953</c:v>
                </c:pt>
                <c:pt idx="577">
                  <c:v>1.1121187139323989</c:v>
                </c:pt>
                <c:pt idx="578">
                  <c:v>1.1130347164972063</c:v>
                </c:pt>
                <c:pt idx="579">
                  <c:v>1.1142255198314555</c:v>
                </c:pt>
                <c:pt idx="580">
                  <c:v>1.1171567280388384</c:v>
                </c:pt>
                <c:pt idx="581">
                  <c:v>1.1172483282953192</c:v>
                </c:pt>
                <c:pt idx="582">
                  <c:v>1.1187139323990107</c:v>
                </c:pt>
                <c:pt idx="583">
                  <c:v>1.1192635339378949</c:v>
                </c:pt>
                <c:pt idx="584">
                  <c:v>1.1192635339378949</c:v>
                </c:pt>
                <c:pt idx="585">
                  <c:v>1.1201795365027023</c:v>
                </c:pt>
                <c:pt idx="586">
                  <c:v>1.1239351470184116</c:v>
                </c:pt>
                <c:pt idx="587">
                  <c:v>1.124347348172575</c:v>
                </c:pt>
                <c:pt idx="588">
                  <c:v>1.1252175506091417</c:v>
                </c:pt>
                <c:pt idx="589">
                  <c:v>1.1278739580470825</c:v>
                </c:pt>
                <c:pt idx="590">
                  <c:v>1.130484565356783</c:v>
                </c:pt>
                <c:pt idx="591">
                  <c:v>1.1297975634331776</c:v>
                </c:pt>
                <c:pt idx="592">
                  <c:v>1.1285151598424477</c:v>
                </c:pt>
                <c:pt idx="593">
                  <c:v>1.1278739580470825</c:v>
                </c:pt>
                <c:pt idx="594">
                  <c:v>1.1302555647155812</c:v>
                </c:pt>
                <c:pt idx="595">
                  <c:v>1.131125767152148</c:v>
                </c:pt>
                <c:pt idx="596">
                  <c:v>1.1300265640743794</c:v>
                </c:pt>
                <c:pt idx="597">
                  <c:v>1.1292479618942932</c:v>
                </c:pt>
                <c:pt idx="598">
                  <c:v>1.1293853622790144</c:v>
                </c:pt>
                <c:pt idx="599">
                  <c:v>1.1314005679215902</c:v>
                </c:pt>
                <c:pt idx="600">
                  <c:v>1.1312631675368692</c:v>
                </c:pt>
                <c:pt idx="601">
                  <c:v>1.1330493725382431</c:v>
                </c:pt>
                <c:pt idx="602">
                  <c:v>1.136621782540991</c:v>
                </c:pt>
                <c:pt idx="603">
                  <c:v>1.1380873866446826</c:v>
                </c:pt>
                <c:pt idx="604">
                  <c:v>1.1384537876706053</c:v>
                </c:pt>
                <c:pt idx="605">
                  <c:v>1.1374461848493176</c:v>
                </c:pt>
                <c:pt idx="606">
                  <c:v>1.137125583951635</c:v>
                </c:pt>
                <c:pt idx="607">
                  <c:v>1.1355683795914628</c:v>
                </c:pt>
                <c:pt idx="608">
                  <c:v>1.1357057799761838</c:v>
                </c:pt>
                <c:pt idx="609">
                  <c:v>1.1348355775396171</c:v>
                </c:pt>
                <c:pt idx="610">
                  <c:v>1.1356599798479436</c:v>
                </c:pt>
                <c:pt idx="611">
                  <c:v>1.1364385820280296</c:v>
                </c:pt>
                <c:pt idx="612">
                  <c:v>1.135980580745626</c:v>
                </c:pt>
                <c:pt idx="613">
                  <c:v>1.1355683795914628</c:v>
                </c:pt>
                <c:pt idx="614">
                  <c:v>1.1350187780525784</c:v>
                </c:pt>
                <c:pt idx="615">
                  <c:v>1.1357057799761838</c:v>
                </c:pt>
                <c:pt idx="616">
                  <c:v>1.1360721810021068</c:v>
                </c:pt>
                <c:pt idx="617">
                  <c:v>1.1355683795914628</c:v>
                </c:pt>
                <c:pt idx="618">
                  <c:v>1.1350645781808189</c:v>
                </c:pt>
                <c:pt idx="619">
                  <c:v>1.1353851790785014</c:v>
                </c:pt>
                <c:pt idx="620">
                  <c:v>1.137125583951635</c:v>
                </c:pt>
                <c:pt idx="621">
                  <c:v>1.1384537876706053</c:v>
                </c:pt>
                <c:pt idx="622">
                  <c:v>1.1396903911330951</c:v>
                </c:pt>
                <c:pt idx="623">
                  <c:v>1.1399193917742969</c:v>
                </c:pt>
                <c:pt idx="624">
                  <c:v>1.1398735916460565</c:v>
                </c:pt>
                <c:pt idx="625">
                  <c:v>1.1390033892094897</c:v>
                </c:pt>
                <c:pt idx="626">
                  <c:v>1.1390949894659705</c:v>
                </c:pt>
                <c:pt idx="627">
                  <c:v>1.1391407895942109</c:v>
                </c:pt>
                <c:pt idx="628">
                  <c:v>1.1390491893377301</c:v>
                </c:pt>
                <c:pt idx="629">
                  <c:v>1.1379499862599616</c:v>
                </c:pt>
                <c:pt idx="630">
                  <c:v>1.1362553815150682</c:v>
                </c:pt>
                <c:pt idx="631">
                  <c:v>1.1351103783090593</c:v>
                </c:pt>
                <c:pt idx="632">
                  <c:v>1.135339378950261</c:v>
                </c:pt>
                <c:pt idx="633">
                  <c:v>1.1341027754877713</c:v>
                </c:pt>
                <c:pt idx="634">
                  <c:v>1.1321791701016761</c:v>
                </c:pt>
                <c:pt idx="635">
                  <c:v>1.1294769625354952</c:v>
                </c:pt>
                <c:pt idx="636">
                  <c:v>1.1292937620225336</c:v>
                </c:pt>
                <c:pt idx="637">
                  <c:v>1.1295227626637354</c:v>
                </c:pt>
                <c:pt idx="638">
                  <c:v>1.1281487588165247</c:v>
                </c:pt>
                <c:pt idx="639">
                  <c:v>1.1285609599706878</c:v>
                </c:pt>
                <c:pt idx="640">
                  <c:v>1.1296601630484566</c:v>
                </c:pt>
                <c:pt idx="641">
                  <c:v>1.1297975634331776</c:v>
                </c:pt>
                <c:pt idx="642">
                  <c:v>1.1300265640743794</c:v>
                </c:pt>
                <c:pt idx="643">
                  <c:v>1.128698360355409</c:v>
                </c:pt>
                <c:pt idx="644">
                  <c:v>1.1256297517633049</c:v>
                </c:pt>
                <c:pt idx="645">
                  <c:v>1.1248969497114591</c:v>
                </c:pt>
                <c:pt idx="646">
                  <c:v>1.121690940734634</c:v>
                </c:pt>
                <c:pt idx="647">
                  <c:v>1.1228817440688834</c:v>
                </c:pt>
                <c:pt idx="648">
                  <c:v>1.1231107447100852</c:v>
                </c:pt>
                <c:pt idx="649">
                  <c:v>1.123202344966566</c:v>
                </c:pt>
                <c:pt idx="650">
                  <c:v>1.1202711367591829</c:v>
                </c:pt>
                <c:pt idx="651">
                  <c:v>1.1204543372721443</c:v>
                </c:pt>
                <c:pt idx="652">
                  <c:v>1.1207749381698269</c:v>
                </c:pt>
                <c:pt idx="653">
                  <c:v>1.1231565448383254</c:v>
                </c:pt>
                <c:pt idx="654">
                  <c:v>1.1232939452230466</c:v>
                </c:pt>
                <c:pt idx="655">
                  <c:v>1.1233855454795274</c:v>
                </c:pt>
                <c:pt idx="656">
                  <c:v>1.1247137491984978</c:v>
                </c:pt>
                <c:pt idx="657">
                  <c:v>1.1254923513785839</c:v>
                </c:pt>
                <c:pt idx="658">
                  <c:v>1.1257671521480261</c:v>
                </c:pt>
                <c:pt idx="659">
                  <c:v>1.1257213520197855</c:v>
                </c:pt>
                <c:pt idx="660">
                  <c:v>1.1260877530457085</c:v>
                </c:pt>
                <c:pt idx="661">
                  <c:v>1.1264999541998717</c:v>
                </c:pt>
                <c:pt idx="662">
                  <c:v>1.1281487588165247</c:v>
                </c:pt>
                <c:pt idx="663">
                  <c:v>1.1329119721535221</c:v>
                </c:pt>
                <c:pt idx="664">
                  <c:v>1.1378583860034808</c:v>
                </c:pt>
                <c:pt idx="665">
                  <c:v>1.1357973802326646</c:v>
                </c:pt>
                <c:pt idx="666">
                  <c:v>1.1361179811303472</c:v>
                </c:pt>
                <c:pt idx="667">
                  <c:v>1.135843180360905</c:v>
                </c:pt>
                <c:pt idx="668">
                  <c:v>1.1361179811303472</c:v>
                </c:pt>
                <c:pt idx="669">
                  <c:v>1.135980580745626</c:v>
                </c:pt>
                <c:pt idx="670">
                  <c:v>1.1361637812585874</c:v>
                </c:pt>
                <c:pt idx="671">
                  <c:v>1.1367133827974718</c:v>
                </c:pt>
                <c:pt idx="672">
                  <c:v>1.1362553815150682</c:v>
                </c:pt>
                <c:pt idx="673">
                  <c:v>1.1361637812585874</c:v>
                </c:pt>
                <c:pt idx="674">
                  <c:v>1.1357973802326646</c:v>
                </c:pt>
                <c:pt idx="675">
                  <c:v>1.1362553815150682</c:v>
                </c:pt>
                <c:pt idx="676">
                  <c:v>1.1356141797197032</c:v>
                </c:pt>
                <c:pt idx="677">
                  <c:v>1.1357057799761838</c:v>
                </c:pt>
                <c:pt idx="678">
                  <c:v>1.135980580745626</c:v>
                </c:pt>
                <c:pt idx="679">
                  <c:v>1.1361637812585874</c:v>
                </c:pt>
                <c:pt idx="680">
                  <c:v>1.1368965833104332</c:v>
                </c:pt>
                <c:pt idx="681">
                  <c:v>1.138270587157644</c:v>
                </c:pt>
                <c:pt idx="682">
                  <c:v>1.1389117889530089</c:v>
                </c:pt>
                <c:pt idx="683">
                  <c:v>1.1395987908766143</c:v>
                </c:pt>
                <c:pt idx="684">
                  <c:v>1.1391407895942109</c:v>
                </c:pt>
                <c:pt idx="685">
                  <c:v>1.1400567921590179</c:v>
                </c:pt>
                <c:pt idx="686">
                  <c:v>1.1405147934414217</c:v>
                </c:pt>
                <c:pt idx="687">
                  <c:v>1.1383621874141248</c:v>
                </c:pt>
                <c:pt idx="688">
                  <c:v>1.1389117889530089</c:v>
                </c:pt>
                <c:pt idx="689">
                  <c:v>1.1388201886965283</c:v>
                </c:pt>
                <c:pt idx="690">
                  <c:v>1.1387285884400475</c:v>
                </c:pt>
                <c:pt idx="691">
                  <c:v>1.138270587157644</c:v>
                </c:pt>
                <c:pt idx="692">
                  <c:v>1.1390491893377301</c:v>
                </c:pt>
                <c:pt idx="693">
                  <c:v>1.1392781899789319</c:v>
                </c:pt>
                <c:pt idx="694">
                  <c:v>1.1391865897224511</c:v>
                </c:pt>
                <c:pt idx="695">
                  <c:v>1.1393239901071723</c:v>
                </c:pt>
                <c:pt idx="696">
                  <c:v>1.1392323898506915</c:v>
                </c:pt>
                <c:pt idx="697">
                  <c:v>1.1396903911330951</c:v>
                </c:pt>
                <c:pt idx="698">
                  <c:v>1.1395071906201337</c:v>
                </c:pt>
                <c:pt idx="699">
                  <c:v>1.1392323898506915</c:v>
                </c:pt>
                <c:pt idx="700">
                  <c:v>1.1381789869011634</c:v>
                </c:pt>
                <c:pt idx="701">
                  <c:v>1.1392323898506915</c:v>
                </c:pt>
                <c:pt idx="702">
                  <c:v>1.1394613904918933</c:v>
                </c:pt>
                <c:pt idx="703">
                  <c:v>1.1396903911330951</c:v>
                </c:pt>
                <c:pt idx="704">
                  <c:v>1.1399651919025373</c:v>
                </c:pt>
                <c:pt idx="705">
                  <c:v>1.1406979939543831</c:v>
                </c:pt>
                <c:pt idx="706">
                  <c:v>1.1413849958779885</c:v>
                </c:pt>
                <c:pt idx="707">
                  <c:v>1.1416597966474307</c:v>
                </c:pt>
                <c:pt idx="708">
                  <c:v>1.1423925986992765</c:v>
                </c:pt>
                <c:pt idx="709">
                  <c:v>1.1426673994687184</c:v>
                </c:pt>
                <c:pt idx="710">
                  <c:v>1.1427589997251992</c:v>
                </c:pt>
                <c:pt idx="711">
                  <c:v>1.1431712008793624</c:v>
                </c:pt>
                <c:pt idx="712">
                  <c:v>1.1438124026747276</c:v>
                </c:pt>
                <c:pt idx="713">
                  <c:v>1.144270403957131</c:v>
                </c:pt>
                <c:pt idx="714">
                  <c:v>1.1450948062654576</c:v>
                </c:pt>
                <c:pt idx="715">
                  <c:v>1.1456444078043417</c:v>
                </c:pt>
                <c:pt idx="716">
                  <c:v>1.1459650087020243</c:v>
                </c:pt>
                <c:pt idx="717">
                  <c:v>1.1453696070348998</c:v>
                </c:pt>
                <c:pt idx="718">
                  <c:v>1.1448200054960154</c:v>
                </c:pt>
                <c:pt idx="719">
                  <c:v>1.1448200054960154</c:v>
                </c:pt>
                <c:pt idx="720">
                  <c:v>1.1450948062654576</c:v>
                </c:pt>
                <c:pt idx="721">
                  <c:v>1.144911605752496</c:v>
                </c:pt>
                <c:pt idx="722">
                  <c:v>1.1454612072913803</c:v>
                </c:pt>
                <c:pt idx="723">
                  <c:v>1.1464688101126683</c:v>
                </c:pt>
                <c:pt idx="724">
                  <c:v>1.1466978107538701</c:v>
                </c:pt>
                <c:pt idx="725">
                  <c:v>1.1470184116515525</c:v>
                </c:pt>
                <c:pt idx="726">
                  <c:v>1.1473848126774755</c:v>
                </c:pt>
                <c:pt idx="727">
                  <c:v>1.1470184116515525</c:v>
                </c:pt>
                <c:pt idx="728">
                  <c:v>1.1470184116515525</c:v>
                </c:pt>
                <c:pt idx="729">
                  <c:v>1.1463772098561877</c:v>
                </c:pt>
                <c:pt idx="730">
                  <c:v>1.1460566089585049</c:v>
                </c:pt>
                <c:pt idx="731">
                  <c:v>1.1456444078043417</c:v>
                </c:pt>
                <c:pt idx="732">
                  <c:v>1.1466978107538701</c:v>
                </c:pt>
                <c:pt idx="733">
                  <c:v>1.1469268113950719</c:v>
                </c:pt>
                <c:pt idx="734">
                  <c:v>1.1470642117797929</c:v>
                </c:pt>
                <c:pt idx="735">
                  <c:v>1.1470184116515525</c:v>
                </c:pt>
                <c:pt idx="736">
                  <c:v>1.1462856095997069</c:v>
                </c:pt>
                <c:pt idx="737">
                  <c:v>1.1456444078043417</c:v>
                </c:pt>
                <c:pt idx="738">
                  <c:v>1.144636804983054</c:v>
                </c:pt>
                <c:pt idx="739">
                  <c:v>1.1427589997251992</c:v>
                </c:pt>
                <c:pt idx="740">
                  <c:v>1.1425757992122378</c:v>
                </c:pt>
                <c:pt idx="741">
                  <c:v>1.1437208024182468</c:v>
                </c:pt>
                <c:pt idx="742">
                  <c:v>1.1417513969039113</c:v>
                </c:pt>
                <c:pt idx="743">
                  <c:v>1.142621599340478</c:v>
                </c:pt>
                <c:pt idx="744">
                  <c:v>1.1440414033159292</c:v>
                </c:pt>
                <c:pt idx="745">
                  <c:v>1.1442246038288908</c:v>
                </c:pt>
                <c:pt idx="746">
                  <c:v>1.144636804983054</c:v>
                </c:pt>
                <c:pt idx="747">
                  <c:v>1.144636804983054</c:v>
                </c:pt>
                <c:pt idx="748">
                  <c:v>1.1448200054960154</c:v>
                </c:pt>
                <c:pt idx="749">
                  <c:v>1.145140606393698</c:v>
                </c:pt>
                <c:pt idx="750">
                  <c:v>1.145140606393698</c:v>
                </c:pt>
                <c:pt idx="751">
                  <c:v>1.1439498030594486</c:v>
                </c:pt>
                <c:pt idx="752">
                  <c:v>1.1428047998534396</c:v>
                </c:pt>
                <c:pt idx="753">
                  <c:v>1.1426673994687184</c:v>
                </c:pt>
                <c:pt idx="754">
                  <c:v>1.1421177979298343</c:v>
                </c:pt>
                <c:pt idx="755">
                  <c:v>1.1413849958779885</c:v>
                </c:pt>
                <c:pt idx="756">
                  <c:v>1.1381789869011634</c:v>
                </c:pt>
                <c:pt idx="757">
                  <c:v>1.1384079875423652</c:v>
                </c:pt>
                <c:pt idx="758">
                  <c:v>1.1379499862599616</c:v>
                </c:pt>
                <c:pt idx="759">
                  <c:v>1.1380873866446826</c:v>
                </c:pt>
                <c:pt idx="760">
                  <c:v>1.1379041861317212</c:v>
                </c:pt>
                <c:pt idx="761">
                  <c:v>1.1388659888247687</c:v>
                </c:pt>
                <c:pt idx="762">
                  <c:v>1.1395529907483741</c:v>
                </c:pt>
                <c:pt idx="763">
                  <c:v>1.1398277915178163</c:v>
                </c:pt>
                <c:pt idx="764">
                  <c:v>1.1388201886965283</c:v>
                </c:pt>
                <c:pt idx="765">
                  <c:v>1.1390033892094897</c:v>
                </c:pt>
                <c:pt idx="766">
                  <c:v>1.1394613904918933</c:v>
                </c:pt>
                <c:pt idx="767">
                  <c:v>1.1397819913895759</c:v>
                </c:pt>
                <c:pt idx="768">
                  <c:v>1.1407437940826233</c:v>
                </c:pt>
                <c:pt idx="769">
                  <c:v>1.1412017953650269</c:v>
                </c:pt>
                <c:pt idx="770">
                  <c:v>1.1400567921590179</c:v>
                </c:pt>
                <c:pt idx="771">
                  <c:v>1.1389117889530089</c:v>
                </c:pt>
                <c:pt idx="772">
                  <c:v>1.1380415865164422</c:v>
                </c:pt>
                <c:pt idx="773">
                  <c:v>1.1363927818997894</c:v>
                </c:pt>
                <c:pt idx="774">
                  <c:v>1.1361179811303472</c:v>
                </c:pt>
                <c:pt idx="775">
                  <c:v>1.1365759824127508</c:v>
                </c:pt>
                <c:pt idx="776">
                  <c:v>1.1369423834386736</c:v>
                </c:pt>
                <c:pt idx="777">
                  <c:v>1.1372171842081158</c:v>
                </c:pt>
                <c:pt idx="778">
                  <c:v>1.1379499862599616</c:v>
                </c:pt>
                <c:pt idx="779">
                  <c:v>1.1375835852340386</c:v>
                </c:pt>
                <c:pt idx="780">
                  <c:v>1.1365759824127508</c:v>
                </c:pt>
                <c:pt idx="781">
                  <c:v>1.1368049830539526</c:v>
                </c:pt>
                <c:pt idx="782">
                  <c:v>1.135843180360905</c:v>
                </c:pt>
                <c:pt idx="783">
                  <c:v>1.1342859760007327</c:v>
                </c:pt>
                <c:pt idx="784">
                  <c:v>1.1336905743336081</c:v>
                </c:pt>
                <c:pt idx="785">
                  <c:v>1.1338737748465695</c:v>
                </c:pt>
                <c:pt idx="786">
                  <c:v>1.1340569753595311</c:v>
                </c:pt>
                <c:pt idx="787">
                  <c:v>1.1336905743336081</c:v>
                </c:pt>
                <c:pt idx="788">
                  <c:v>1.1342859760007327</c:v>
                </c:pt>
                <c:pt idx="789">
                  <c:v>1.135476779334982</c:v>
                </c:pt>
                <c:pt idx="790">
                  <c:v>1.135339378950261</c:v>
                </c:pt>
                <c:pt idx="791">
                  <c:v>1.1370797838233948</c:v>
                </c:pt>
                <c:pt idx="792">
                  <c:v>1.13648438215627</c:v>
                </c:pt>
                <c:pt idx="793">
                  <c:v>1.1363927818997894</c:v>
                </c:pt>
                <c:pt idx="794">
                  <c:v>1.1363011816433086</c:v>
                </c:pt>
                <c:pt idx="795">
                  <c:v>1.1368049830539526</c:v>
                </c:pt>
                <c:pt idx="796">
                  <c:v>1.1380873866446826</c:v>
                </c:pt>
                <c:pt idx="797">
                  <c:v>1.1376751854905194</c:v>
                </c:pt>
                <c:pt idx="798">
                  <c:v>1.1379499862599616</c:v>
                </c:pt>
                <c:pt idx="799">
                  <c:v>1.1381789869011634</c:v>
                </c:pt>
                <c:pt idx="800">
                  <c:v>1.138133186772923</c:v>
                </c:pt>
                <c:pt idx="801">
                  <c:v>1.137766785747</c:v>
                </c:pt>
                <c:pt idx="802">
                  <c:v>1.1380873866446826</c:v>
                </c:pt>
                <c:pt idx="803">
                  <c:v>1.1397819913895759</c:v>
                </c:pt>
                <c:pt idx="804">
                  <c:v>1.1400109920307777</c:v>
                </c:pt>
                <c:pt idx="805">
                  <c:v>1.1405147934414217</c:v>
                </c:pt>
                <c:pt idx="806">
                  <c:v>1.1415681963909499</c:v>
                </c:pt>
                <c:pt idx="807">
                  <c:v>1.1419345974168729</c:v>
                </c:pt>
                <c:pt idx="808">
                  <c:v>1.141980397545113</c:v>
                </c:pt>
                <c:pt idx="809">
                  <c:v>1.1423925986992765</c:v>
                </c:pt>
                <c:pt idx="810">
                  <c:v>1.1418429971603921</c:v>
                </c:pt>
                <c:pt idx="811">
                  <c:v>1.1416139965191903</c:v>
                </c:pt>
                <c:pt idx="812">
                  <c:v>1.1418429971603921</c:v>
                </c:pt>
                <c:pt idx="813">
                  <c:v>1.1420719978015939</c:v>
                </c:pt>
                <c:pt idx="814">
                  <c:v>1.1424383988275166</c:v>
                </c:pt>
                <c:pt idx="815">
                  <c:v>1.1423009984427956</c:v>
                </c:pt>
                <c:pt idx="816">
                  <c:v>1.1423467985710358</c:v>
                </c:pt>
                <c:pt idx="817">
                  <c:v>1.1428047998534396</c:v>
                </c:pt>
                <c:pt idx="818">
                  <c:v>1.142988000366401</c:v>
                </c:pt>
                <c:pt idx="819">
                  <c:v>1.14285059998168</c:v>
                </c:pt>
                <c:pt idx="820">
                  <c:v>1.1428964001099202</c:v>
                </c:pt>
                <c:pt idx="821">
                  <c:v>1.1427589997251992</c:v>
                </c:pt>
                <c:pt idx="822">
                  <c:v>1.14285059998168</c:v>
                </c:pt>
                <c:pt idx="823">
                  <c:v>1.1423467985710358</c:v>
                </c:pt>
                <c:pt idx="824">
                  <c:v>1.1411559952367867</c:v>
                </c:pt>
                <c:pt idx="825">
                  <c:v>1.1405147934414217</c:v>
                </c:pt>
                <c:pt idx="826">
                  <c:v>1.1406063936979023</c:v>
                </c:pt>
                <c:pt idx="827">
                  <c:v>1.1408353943391041</c:v>
                </c:pt>
                <c:pt idx="828">
                  <c:v>1.1402399926719795</c:v>
                </c:pt>
                <c:pt idx="829">
                  <c:v>1.1395987908766143</c:v>
                </c:pt>
                <c:pt idx="830">
                  <c:v>1.1379041861317212</c:v>
                </c:pt>
                <c:pt idx="831">
                  <c:v>1.1381789869011634</c:v>
                </c:pt>
                <c:pt idx="832">
                  <c:v>1.1380873866446826</c:v>
                </c:pt>
                <c:pt idx="833">
                  <c:v>1.1387285884400475</c:v>
                </c:pt>
                <c:pt idx="834">
                  <c:v>1.1391407895942109</c:v>
                </c:pt>
                <c:pt idx="835">
                  <c:v>1.1400109920307777</c:v>
                </c:pt>
                <c:pt idx="836">
                  <c:v>1.1396445910048549</c:v>
                </c:pt>
                <c:pt idx="837">
                  <c:v>1.1387743885682879</c:v>
                </c:pt>
                <c:pt idx="838">
                  <c:v>1.1386827883118074</c:v>
                </c:pt>
                <c:pt idx="839">
                  <c:v>1.1395529907483741</c:v>
                </c:pt>
                <c:pt idx="840">
                  <c:v>1.1397819913895759</c:v>
                </c:pt>
                <c:pt idx="841">
                  <c:v>1.1402857928002199</c:v>
                </c:pt>
                <c:pt idx="842">
                  <c:v>1.1401941925437391</c:v>
                </c:pt>
                <c:pt idx="843">
                  <c:v>1.1408353943391041</c:v>
                </c:pt>
                <c:pt idx="844">
                  <c:v>1.1412475954932675</c:v>
                </c:pt>
                <c:pt idx="845">
                  <c:v>1.1414307960062289</c:v>
                </c:pt>
                <c:pt idx="846">
                  <c:v>1.1418429971603921</c:v>
                </c:pt>
                <c:pt idx="847">
                  <c:v>1.1405605935696619</c:v>
                </c:pt>
                <c:pt idx="848">
                  <c:v>1.1404231931849409</c:v>
                </c:pt>
                <c:pt idx="849">
                  <c:v>1.1403773930567005</c:v>
                </c:pt>
                <c:pt idx="850">
                  <c:v>1.1411101951085463</c:v>
                </c:pt>
                <c:pt idx="851">
                  <c:v>1.1400109920307777</c:v>
                </c:pt>
                <c:pt idx="852">
                  <c:v>1.1391407895942109</c:v>
                </c:pt>
                <c:pt idx="853">
                  <c:v>1.1384537876706053</c:v>
                </c:pt>
                <c:pt idx="854">
                  <c:v>1.1390033892094897</c:v>
                </c:pt>
                <c:pt idx="855">
                  <c:v>1.1393697902354127</c:v>
                </c:pt>
                <c:pt idx="856">
                  <c:v>1.1400567921590179</c:v>
                </c:pt>
                <c:pt idx="857">
                  <c:v>1.1404689933131813</c:v>
                </c:pt>
                <c:pt idx="858">
                  <c:v>1.1406521938261427</c:v>
                </c:pt>
                <c:pt idx="859">
                  <c:v>1.1411101951085463</c:v>
                </c:pt>
                <c:pt idx="860">
                  <c:v>1.1414307960062289</c:v>
                </c:pt>
                <c:pt idx="861">
                  <c:v>1.1417971970321517</c:v>
                </c:pt>
                <c:pt idx="862">
                  <c:v>1.1425757992122378</c:v>
                </c:pt>
                <c:pt idx="863">
                  <c:v>1.1435376019052854</c:v>
                </c:pt>
                <c:pt idx="864">
                  <c:v>1.1438124026747276</c:v>
                </c:pt>
                <c:pt idx="865">
                  <c:v>1.1444078043418522</c:v>
                </c:pt>
                <c:pt idx="866">
                  <c:v>1.144774205367775</c:v>
                </c:pt>
                <c:pt idx="867">
                  <c:v>1.1444994045983328</c:v>
                </c:pt>
                <c:pt idx="868">
                  <c:v>1.144774205367775</c:v>
                </c:pt>
                <c:pt idx="869">
                  <c:v>1.1449574058807366</c:v>
                </c:pt>
                <c:pt idx="870">
                  <c:v>1.1448658056242558</c:v>
                </c:pt>
                <c:pt idx="871">
                  <c:v>1.1450490061372172</c:v>
                </c:pt>
                <c:pt idx="872">
                  <c:v>1.144774205367775</c:v>
                </c:pt>
                <c:pt idx="873">
                  <c:v>1.1447284052395346</c:v>
                </c:pt>
                <c:pt idx="874">
                  <c:v>1.1450032060089768</c:v>
                </c:pt>
                <c:pt idx="875">
                  <c:v>1.1457818081890629</c:v>
                </c:pt>
                <c:pt idx="876">
                  <c:v>1.1463772098561877</c:v>
                </c:pt>
                <c:pt idx="877">
                  <c:v>1.1465146102409087</c:v>
                </c:pt>
                <c:pt idx="878">
                  <c:v>1.1468352111385911</c:v>
                </c:pt>
                <c:pt idx="879">
                  <c:v>1.1471558120362737</c:v>
                </c:pt>
                <c:pt idx="880">
                  <c:v>1.1472932124209947</c:v>
                </c:pt>
                <c:pt idx="881">
                  <c:v>1.1472932124209947</c:v>
                </c:pt>
              </c:numCache>
            </c:numRef>
          </c:val>
          <c:smooth val="1"/>
          <c:extLst>
            <c:ext xmlns:c16="http://schemas.microsoft.com/office/drawing/2014/chart" uri="{C3380CC4-5D6E-409C-BE32-E72D297353CC}">
              <c16:uniqueId val="{00000000-8910-4752-8546-3FDE9C1F0714}"/>
            </c:ext>
          </c:extLst>
        </c:ser>
        <c:ser>
          <c:idx val="1"/>
          <c:order val="1"/>
          <c:tx>
            <c:strRef>
              <c:f>file!$C$1</c:f>
              <c:strCache>
                <c:ptCount val="1"/>
                <c:pt idx="0">
                  <c:v>外贸信托稳鑫</c:v>
                </c:pt>
              </c:strCache>
            </c:strRef>
          </c:tx>
          <c:spPr>
            <a:ln w="28575" cap="rnd">
              <a:solidFill>
                <a:schemeClr val="accent1">
                  <a:lumMod val="50000"/>
                </a:schemeClr>
              </a:solidFill>
              <a:round/>
            </a:ln>
            <a:effectLst/>
          </c:spPr>
          <c:marker>
            <c:symbol val="none"/>
          </c:marker>
          <c:cat>
            <c:numRef>
              <c:f>file!$A$2:$A$883</c:f>
              <c:numCache>
                <c:formatCode>m/d/yyyy</c:formatCode>
                <c:ptCount val="882"/>
                <c:pt idx="0">
                  <c:v>44782</c:v>
                </c:pt>
                <c:pt idx="1">
                  <c:v>44783</c:v>
                </c:pt>
                <c:pt idx="2">
                  <c:v>44784</c:v>
                </c:pt>
                <c:pt idx="3">
                  <c:v>44785</c:v>
                </c:pt>
                <c:pt idx="4">
                  <c:v>44788</c:v>
                </c:pt>
                <c:pt idx="5">
                  <c:v>44789</c:v>
                </c:pt>
                <c:pt idx="6">
                  <c:v>44790</c:v>
                </c:pt>
                <c:pt idx="7">
                  <c:v>44791</c:v>
                </c:pt>
                <c:pt idx="8">
                  <c:v>44792</c:v>
                </c:pt>
                <c:pt idx="9">
                  <c:v>44795</c:v>
                </c:pt>
                <c:pt idx="10">
                  <c:v>44796</c:v>
                </c:pt>
                <c:pt idx="11">
                  <c:v>44797</c:v>
                </c:pt>
                <c:pt idx="12">
                  <c:v>44798</c:v>
                </c:pt>
                <c:pt idx="13">
                  <c:v>44799</c:v>
                </c:pt>
                <c:pt idx="14">
                  <c:v>44802</c:v>
                </c:pt>
                <c:pt idx="15">
                  <c:v>44803</c:v>
                </c:pt>
                <c:pt idx="16">
                  <c:v>44804</c:v>
                </c:pt>
                <c:pt idx="17">
                  <c:v>44805</c:v>
                </c:pt>
                <c:pt idx="18">
                  <c:v>44806</c:v>
                </c:pt>
                <c:pt idx="19">
                  <c:v>44809</c:v>
                </c:pt>
                <c:pt idx="20">
                  <c:v>44810</c:v>
                </c:pt>
                <c:pt idx="21">
                  <c:v>44811</c:v>
                </c:pt>
                <c:pt idx="22">
                  <c:v>44812</c:v>
                </c:pt>
                <c:pt idx="23">
                  <c:v>44813</c:v>
                </c:pt>
                <c:pt idx="24">
                  <c:v>44817</c:v>
                </c:pt>
                <c:pt idx="25">
                  <c:v>44818</c:v>
                </c:pt>
                <c:pt idx="26">
                  <c:v>44819</c:v>
                </c:pt>
                <c:pt idx="27">
                  <c:v>44820</c:v>
                </c:pt>
                <c:pt idx="28">
                  <c:v>44823</c:v>
                </c:pt>
                <c:pt idx="29">
                  <c:v>44824</c:v>
                </c:pt>
                <c:pt idx="30">
                  <c:v>44825</c:v>
                </c:pt>
                <c:pt idx="31">
                  <c:v>44826</c:v>
                </c:pt>
                <c:pt idx="32">
                  <c:v>44827</c:v>
                </c:pt>
                <c:pt idx="33">
                  <c:v>44830</c:v>
                </c:pt>
                <c:pt idx="34">
                  <c:v>44831</c:v>
                </c:pt>
                <c:pt idx="35">
                  <c:v>44832</c:v>
                </c:pt>
                <c:pt idx="36">
                  <c:v>44833</c:v>
                </c:pt>
                <c:pt idx="37">
                  <c:v>44834</c:v>
                </c:pt>
                <c:pt idx="38">
                  <c:v>44842</c:v>
                </c:pt>
                <c:pt idx="39">
                  <c:v>44843</c:v>
                </c:pt>
                <c:pt idx="40">
                  <c:v>44844</c:v>
                </c:pt>
                <c:pt idx="41">
                  <c:v>44845</c:v>
                </c:pt>
                <c:pt idx="42">
                  <c:v>44846</c:v>
                </c:pt>
                <c:pt idx="43">
                  <c:v>44847</c:v>
                </c:pt>
                <c:pt idx="44">
                  <c:v>44848</c:v>
                </c:pt>
                <c:pt idx="45">
                  <c:v>44851</c:v>
                </c:pt>
                <c:pt idx="46">
                  <c:v>44852</c:v>
                </c:pt>
                <c:pt idx="47">
                  <c:v>44853</c:v>
                </c:pt>
                <c:pt idx="48">
                  <c:v>44854</c:v>
                </c:pt>
                <c:pt idx="49">
                  <c:v>44855</c:v>
                </c:pt>
                <c:pt idx="50">
                  <c:v>44858</c:v>
                </c:pt>
                <c:pt idx="51">
                  <c:v>44859</c:v>
                </c:pt>
                <c:pt idx="52">
                  <c:v>44860</c:v>
                </c:pt>
                <c:pt idx="53">
                  <c:v>44861</c:v>
                </c:pt>
                <c:pt idx="54">
                  <c:v>44862</c:v>
                </c:pt>
                <c:pt idx="55">
                  <c:v>44865</c:v>
                </c:pt>
                <c:pt idx="56">
                  <c:v>44866</c:v>
                </c:pt>
                <c:pt idx="57">
                  <c:v>44867</c:v>
                </c:pt>
                <c:pt idx="58">
                  <c:v>44868</c:v>
                </c:pt>
                <c:pt idx="59">
                  <c:v>44869</c:v>
                </c:pt>
                <c:pt idx="60">
                  <c:v>44872</c:v>
                </c:pt>
                <c:pt idx="61">
                  <c:v>44873</c:v>
                </c:pt>
                <c:pt idx="62">
                  <c:v>44874</c:v>
                </c:pt>
                <c:pt idx="63">
                  <c:v>44875</c:v>
                </c:pt>
                <c:pt idx="64">
                  <c:v>44876</c:v>
                </c:pt>
                <c:pt idx="65">
                  <c:v>44879</c:v>
                </c:pt>
                <c:pt idx="66">
                  <c:v>44880</c:v>
                </c:pt>
                <c:pt idx="67">
                  <c:v>44881</c:v>
                </c:pt>
                <c:pt idx="68">
                  <c:v>44882</c:v>
                </c:pt>
                <c:pt idx="69">
                  <c:v>44883</c:v>
                </c:pt>
                <c:pt idx="70">
                  <c:v>44886</c:v>
                </c:pt>
                <c:pt idx="71">
                  <c:v>44887</c:v>
                </c:pt>
                <c:pt idx="72">
                  <c:v>44888</c:v>
                </c:pt>
                <c:pt idx="73">
                  <c:v>44889</c:v>
                </c:pt>
                <c:pt idx="74">
                  <c:v>44890</c:v>
                </c:pt>
                <c:pt idx="75">
                  <c:v>44893</c:v>
                </c:pt>
                <c:pt idx="76">
                  <c:v>44894</c:v>
                </c:pt>
                <c:pt idx="77">
                  <c:v>44895</c:v>
                </c:pt>
                <c:pt idx="78">
                  <c:v>44896</c:v>
                </c:pt>
                <c:pt idx="79">
                  <c:v>44897</c:v>
                </c:pt>
                <c:pt idx="80">
                  <c:v>44900</c:v>
                </c:pt>
                <c:pt idx="81">
                  <c:v>44901</c:v>
                </c:pt>
                <c:pt idx="82">
                  <c:v>44902</c:v>
                </c:pt>
                <c:pt idx="83">
                  <c:v>44903</c:v>
                </c:pt>
                <c:pt idx="84">
                  <c:v>44904</c:v>
                </c:pt>
                <c:pt idx="85">
                  <c:v>44907</c:v>
                </c:pt>
                <c:pt idx="86">
                  <c:v>44908</c:v>
                </c:pt>
                <c:pt idx="87">
                  <c:v>44909</c:v>
                </c:pt>
                <c:pt idx="88">
                  <c:v>44910</c:v>
                </c:pt>
                <c:pt idx="89">
                  <c:v>44911</c:v>
                </c:pt>
                <c:pt idx="90">
                  <c:v>44914</c:v>
                </c:pt>
                <c:pt idx="91">
                  <c:v>44915</c:v>
                </c:pt>
                <c:pt idx="92">
                  <c:v>44916</c:v>
                </c:pt>
                <c:pt idx="93">
                  <c:v>44917</c:v>
                </c:pt>
                <c:pt idx="94">
                  <c:v>44918</c:v>
                </c:pt>
                <c:pt idx="95">
                  <c:v>44921</c:v>
                </c:pt>
                <c:pt idx="96">
                  <c:v>44922</c:v>
                </c:pt>
                <c:pt idx="97">
                  <c:v>44923</c:v>
                </c:pt>
                <c:pt idx="98">
                  <c:v>44924</c:v>
                </c:pt>
                <c:pt idx="99">
                  <c:v>44925</c:v>
                </c:pt>
                <c:pt idx="100">
                  <c:v>44926</c:v>
                </c:pt>
                <c:pt idx="101">
                  <c:v>44929</c:v>
                </c:pt>
                <c:pt idx="102">
                  <c:v>44930</c:v>
                </c:pt>
                <c:pt idx="103">
                  <c:v>44931</c:v>
                </c:pt>
                <c:pt idx="104">
                  <c:v>44932</c:v>
                </c:pt>
                <c:pt idx="105">
                  <c:v>44935</c:v>
                </c:pt>
                <c:pt idx="106">
                  <c:v>44936</c:v>
                </c:pt>
                <c:pt idx="107">
                  <c:v>44937</c:v>
                </c:pt>
                <c:pt idx="108">
                  <c:v>44938</c:v>
                </c:pt>
                <c:pt idx="109">
                  <c:v>44939</c:v>
                </c:pt>
                <c:pt idx="110">
                  <c:v>44942</c:v>
                </c:pt>
                <c:pt idx="111">
                  <c:v>44943</c:v>
                </c:pt>
                <c:pt idx="112">
                  <c:v>44944</c:v>
                </c:pt>
                <c:pt idx="113">
                  <c:v>44945</c:v>
                </c:pt>
                <c:pt idx="114">
                  <c:v>44946</c:v>
                </c:pt>
                <c:pt idx="115">
                  <c:v>44954</c:v>
                </c:pt>
                <c:pt idx="116">
                  <c:v>44955</c:v>
                </c:pt>
                <c:pt idx="117">
                  <c:v>44956</c:v>
                </c:pt>
                <c:pt idx="118">
                  <c:v>44957</c:v>
                </c:pt>
                <c:pt idx="119">
                  <c:v>44958</c:v>
                </c:pt>
                <c:pt idx="120">
                  <c:v>44959</c:v>
                </c:pt>
                <c:pt idx="121">
                  <c:v>44960</c:v>
                </c:pt>
                <c:pt idx="122">
                  <c:v>44963</c:v>
                </c:pt>
                <c:pt idx="123">
                  <c:v>44964</c:v>
                </c:pt>
                <c:pt idx="124">
                  <c:v>44965</c:v>
                </c:pt>
                <c:pt idx="125">
                  <c:v>44966</c:v>
                </c:pt>
                <c:pt idx="126">
                  <c:v>44967</c:v>
                </c:pt>
                <c:pt idx="127">
                  <c:v>44970</c:v>
                </c:pt>
                <c:pt idx="128">
                  <c:v>44971</c:v>
                </c:pt>
                <c:pt idx="129">
                  <c:v>44972</c:v>
                </c:pt>
                <c:pt idx="130">
                  <c:v>44973</c:v>
                </c:pt>
                <c:pt idx="131">
                  <c:v>44974</c:v>
                </c:pt>
                <c:pt idx="132">
                  <c:v>44977</c:v>
                </c:pt>
                <c:pt idx="133">
                  <c:v>44978</c:v>
                </c:pt>
                <c:pt idx="134">
                  <c:v>44979</c:v>
                </c:pt>
                <c:pt idx="135">
                  <c:v>44980</c:v>
                </c:pt>
                <c:pt idx="136">
                  <c:v>44981</c:v>
                </c:pt>
                <c:pt idx="137">
                  <c:v>44984</c:v>
                </c:pt>
                <c:pt idx="138">
                  <c:v>44985</c:v>
                </c:pt>
                <c:pt idx="139">
                  <c:v>44986</c:v>
                </c:pt>
                <c:pt idx="140">
                  <c:v>44987</c:v>
                </c:pt>
                <c:pt idx="141">
                  <c:v>44988</c:v>
                </c:pt>
                <c:pt idx="142">
                  <c:v>44991</c:v>
                </c:pt>
                <c:pt idx="143">
                  <c:v>44992</c:v>
                </c:pt>
                <c:pt idx="144">
                  <c:v>44993</c:v>
                </c:pt>
                <c:pt idx="145">
                  <c:v>44994</c:v>
                </c:pt>
                <c:pt idx="146">
                  <c:v>44995</c:v>
                </c:pt>
                <c:pt idx="147">
                  <c:v>44998</c:v>
                </c:pt>
                <c:pt idx="148">
                  <c:v>44999</c:v>
                </c:pt>
                <c:pt idx="149">
                  <c:v>45000</c:v>
                </c:pt>
                <c:pt idx="150">
                  <c:v>45001</c:v>
                </c:pt>
                <c:pt idx="151">
                  <c:v>45002</c:v>
                </c:pt>
                <c:pt idx="152">
                  <c:v>45005</c:v>
                </c:pt>
                <c:pt idx="153">
                  <c:v>45006</c:v>
                </c:pt>
                <c:pt idx="154">
                  <c:v>45007</c:v>
                </c:pt>
                <c:pt idx="155">
                  <c:v>45008</c:v>
                </c:pt>
                <c:pt idx="156">
                  <c:v>45009</c:v>
                </c:pt>
                <c:pt idx="157">
                  <c:v>45012</c:v>
                </c:pt>
                <c:pt idx="158">
                  <c:v>45013</c:v>
                </c:pt>
                <c:pt idx="159">
                  <c:v>45014</c:v>
                </c:pt>
                <c:pt idx="160">
                  <c:v>45015</c:v>
                </c:pt>
                <c:pt idx="161">
                  <c:v>45016</c:v>
                </c:pt>
                <c:pt idx="162">
                  <c:v>45019</c:v>
                </c:pt>
                <c:pt idx="163">
                  <c:v>45020</c:v>
                </c:pt>
                <c:pt idx="164">
                  <c:v>45022</c:v>
                </c:pt>
                <c:pt idx="165">
                  <c:v>45023</c:v>
                </c:pt>
                <c:pt idx="166">
                  <c:v>45026</c:v>
                </c:pt>
                <c:pt idx="167">
                  <c:v>45027</c:v>
                </c:pt>
                <c:pt idx="168">
                  <c:v>45028</c:v>
                </c:pt>
                <c:pt idx="169">
                  <c:v>45029</c:v>
                </c:pt>
                <c:pt idx="170">
                  <c:v>45030</c:v>
                </c:pt>
                <c:pt idx="171">
                  <c:v>45033</c:v>
                </c:pt>
                <c:pt idx="172">
                  <c:v>45034</c:v>
                </c:pt>
                <c:pt idx="173">
                  <c:v>45035</c:v>
                </c:pt>
                <c:pt idx="174">
                  <c:v>45036</c:v>
                </c:pt>
                <c:pt idx="175">
                  <c:v>45037</c:v>
                </c:pt>
                <c:pt idx="176">
                  <c:v>45039</c:v>
                </c:pt>
                <c:pt idx="177">
                  <c:v>45040</c:v>
                </c:pt>
                <c:pt idx="178">
                  <c:v>45041</c:v>
                </c:pt>
                <c:pt idx="179">
                  <c:v>45042</c:v>
                </c:pt>
                <c:pt idx="180">
                  <c:v>45043</c:v>
                </c:pt>
                <c:pt idx="181">
                  <c:v>45044</c:v>
                </c:pt>
                <c:pt idx="182">
                  <c:v>45050</c:v>
                </c:pt>
                <c:pt idx="183">
                  <c:v>45051</c:v>
                </c:pt>
                <c:pt idx="184">
                  <c:v>45052</c:v>
                </c:pt>
                <c:pt idx="185">
                  <c:v>45054</c:v>
                </c:pt>
                <c:pt idx="186">
                  <c:v>45055</c:v>
                </c:pt>
                <c:pt idx="187">
                  <c:v>45056</c:v>
                </c:pt>
                <c:pt idx="188">
                  <c:v>45057</c:v>
                </c:pt>
                <c:pt idx="189">
                  <c:v>45058</c:v>
                </c:pt>
                <c:pt idx="190">
                  <c:v>45061</c:v>
                </c:pt>
                <c:pt idx="191">
                  <c:v>45062</c:v>
                </c:pt>
                <c:pt idx="192">
                  <c:v>45063</c:v>
                </c:pt>
                <c:pt idx="193">
                  <c:v>45064</c:v>
                </c:pt>
                <c:pt idx="194">
                  <c:v>45065</c:v>
                </c:pt>
                <c:pt idx="195">
                  <c:v>45068</c:v>
                </c:pt>
                <c:pt idx="196">
                  <c:v>45069</c:v>
                </c:pt>
                <c:pt idx="197">
                  <c:v>45070</c:v>
                </c:pt>
                <c:pt idx="198">
                  <c:v>45071</c:v>
                </c:pt>
                <c:pt idx="199">
                  <c:v>45072</c:v>
                </c:pt>
                <c:pt idx="200">
                  <c:v>45075</c:v>
                </c:pt>
                <c:pt idx="201">
                  <c:v>45076</c:v>
                </c:pt>
                <c:pt idx="202">
                  <c:v>45077</c:v>
                </c:pt>
                <c:pt idx="203">
                  <c:v>45078</c:v>
                </c:pt>
                <c:pt idx="204">
                  <c:v>45079</c:v>
                </c:pt>
                <c:pt idx="205">
                  <c:v>45082</c:v>
                </c:pt>
                <c:pt idx="206">
                  <c:v>45083</c:v>
                </c:pt>
                <c:pt idx="207">
                  <c:v>45084</c:v>
                </c:pt>
                <c:pt idx="208">
                  <c:v>45085</c:v>
                </c:pt>
                <c:pt idx="209">
                  <c:v>45086</c:v>
                </c:pt>
                <c:pt idx="210">
                  <c:v>45089</c:v>
                </c:pt>
                <c:pt idx="211">
                  <c:v>45090</c:v>
                </c:pt>
                <c:pt idx="212">
                  <c:v>45091</c:v>
                </c:pt>
                <c:pt idx="213">
                  <c:v>45092</c:v>
                </c:pt>
                <c:pt idx="214">
                  <c:v>45093</c:v>
                </c:pt>
                <c:pt idx="215">
                  <c:v>45096</c:v>
                </c:pt>
                <c:pt idx="216">
                  <c:v>45097</c:v>
                </c:pt>
                <c:pt idx="217">
                  <c:v>45098</c:v>
                </c:pt>
                <c:pt idx="218">
                  <c:v>45102</c:v>
                </c:pt>
                <c:pt idx="219">
                  <c:v>45103</c:v>
                </c:pt>
                <c:pt idx="220">
                  <c:v>45104</c:v>
                </c:pt>
                <c:pt idx="221">
                  <c:v>45105</c:v>
                </c:pt>
                <c:pt idx="222">
                  <c:v>45106</c:v>
                </c:pt>
                <c:pt idx="223">
                  <c:v>45107</c:v>
                </c:pt>
                <c:pt idx="224">
                  <c:v>45110</c:v>
                </c:pt>
                <c:pt idx="225">
                  <c:v>45111</c:v>
                </c:pt>
                <c:pt idx="226">
                  <c:v>45112</c:v>
                </c:pt>
                <c:pt idx="227">
                  <c:v>45113</c:v>
                </c:pt>
                <c:pt idx="228">
                  <c:v>45114</c:v>
                </c:pt>
                <c:pt idx="229">
                  <c:v>45117</c:v>
                </c:pt>
                <c:pt idx="230">
                  <c:v>45118</c:v>
                </c:pt>
                <c:pt idx="231">
                  <c:v>45119</c:v>
                </c:pt>
                <c:pt idx="232">
                  <c:v>45120</c:v>
                </c:pt>
                <c:pt idx="233">
                  <c:v>45121</c:v>
                </c:pt>
                <c:pt idx="234">
                  <c:v>45124</c:v>
                </c:pt>
                <c:pt idx="235">
                  <c:v>45125</c:v>
                </c:pt>
                <c:pt idx="236">
                  <c:v>45126</c:v>
                </c:pt>
                <c:pt idx="237">
                  <c:v>45127</c:v>
                </c:pt>
                <c:pt idx="238">
                  <c:v>45128</c:v>
                </c:pt>
                <c:pt idx="239">
                  <c:v>45131</c:v>
                </c:pt>
                <c:pt idx="240">
                  <c:v>45132</c:v>
                </c:pt>
                <c:pt idx="241">
                  <c:v>45133</c:v>
                </c:pt>
                <c:pt idx="242">
                  <c:v>45134</c:v>
                </c:pt>
                <c:pt idx="243">
                  <c:v>45135</c:v>
                </c:pt>
                <c:pt idx="244">
                  <c:v>45138</c:v>
                </c:pt>
                <c:pt idx="245">
                  <c:v>45139</c:v>
                </c:pt>
                <c:pt idx="246">
                  <c:v>45140</c:v>
                </c:pt>
                <c:pt idx="247">
                  <c:v>45141</c:v>
                </c:pt>
                <c:pt idx="248">
                  <c:v>45142</c:v>
                </c:pt>
                <c:pt idx="249">
                  <c:v>45145</c:v>
                </c:pt>
                <c:pt idx="250">
                  <c:v>45146</c:v>
                </c:pt>
                <c:pt idx="251">
                  <c:v>45147</c:v>
                </c:pt>
                <c:pt idx="252">
                  <c:v>45148</c:v>
                </c:pt>
                <c:pt idx="253">
                  <c:v>45149</c:v>
                </c:pt>
                <c:pt idx="254">
                  <c:v>45152</c:v>
                </c:pt>
                <c:pt idx="255">
                  <c:v>45153</c:v>
                </c:pt>
                <c:pt idx="256">
                  <c:v>45154</c:v>
                </c:pt>
                <c:pt idx="257">
                  <c:v>45155</c:v>
                </c:pt>
                <c:pt idx="258">
                  <c:v>45156</c:v>
                </c:pt>
                <c:pt idx="259">
                  <c:v>45159</c:v>
                </c:pt>
                <c:pt idx="260">
                  <c:v>45160</c:v>
                </c:pt>
                <c:pt idx="261">
                  <c:v>45161</c:v>
                </c:pt>
                <c:pt idx="262">
                  <c:v>45162</c:v>
                </c:pt>
                <c:pt idx="263">
                  <c:v>45163</c:v>
                </c:pt>
                <c:pt idx="264">
                  <c:v>45166</c:v>
                </c:pt>
                <c:pt idx="265">
                  <c:v>45167</c:v>
                </c:pt>
                <c:pt idx="266">
                  <c:v>45168</c:v>
                </c:pt>
                <c:pt idx="267">
                  <c:v>45169</c:v>
                </c:pt>
                <c:pt idx="268">
                  <c:v>45170</c:v>
                </c:pt>
                <c:pt idx="269">
                  <c:v>45173</c:v>
                </c:pt>
                <c:pt idx="270">
                  <c:v>45174</c:v>
                </c:pt>
                <c:pt idx="271">
                  <c:v>45175</c:v>
                </c:pt>
                <c:pt idx="272">
                  <c:v>45176</c:v>
                </c:pt>
                <c:pt idx="273">
                  <c:v>45177</c:v>
                </c:pt>
                <c:pt idx="274">
                  <c:v>45180</c:v>
                </c:pt>
                <c:pt idx="275">
                  <c:v>45181</c:v>
                </c:pt>
                <c:pt idx="276">
                  <c:v>45182</c:v>
                </c:pt>
                <c:pt idx="277">
                  <c:v>45183</c:v>
                </c:pt>
                <c:pt idx="278">
                  <c:v>45184</c:v>
                </c:pt>
                <c:pt idx="279">
                  <c:v>45187</c:v>
                </c:pt>
                <c:pt idx="280">
                  <c:v>45188</c:v>
                </c:pt>
                <c:pt idx="281">
                  <c:v>45189</c:v>
                </c:pt>
                <c:pt idx="282">
                  <c:v>45190</c:v>
                </c:pt>
                <c:pt idx="283">
                  <c:v>45191</c:v>
                </c:pt>
                <c:pt idx="284">
                  <c:v>45194</c:v>
                </c:pt>
                <c:pt idx="285">
                  <c:v>45195</c:v>
                </c:pt>
                <c:pt idx="286">
                  <c:v>45196</c:v>
                </c:pt>
                <c:pt idx="287">
                  <c:v>45197</c:v>
                </c:pt>
                <c:pt idx="288">
                  <c:v>45206</c:v>
                </c:pt>
                <c:pt idx="289">
                  <c:v>45207</c:v>
                </c:pt>
                <c:pt idx="290">
                  <c:v>45208</c:v>
                </c:pt>
                <c:pt idx="291">
                  <c:v>45209</c:v>
                </c:pt>
                <c:pt idx="292">
                  <c:v>45210</c:v>
                </c:pt>
                <c:pt idx="293">
                  <c:v>45211</c:v>
                </c:pt>
                <c:pt idx="294">
                  <c:v>45212</c:v>
                </c:pt>
                <c:pt idx="295">
                  <c:v>45215</c:v>
                </c:pt>
                <c:pt idx="296">
                  <c:v>45216</c:v>
                </c:pt>
                <c:pt idx="297">
                  <c:v>45217</c:v>
                </c:pt>
                <c:pt idx="298">
                  <c:v>45218</c:v>
                </c:pt>
                <c:pt idx="299">
                  <c:v>45219</c:v>
                </c:pt>
                <c:pt idx="300">
                  <c:v>45222</c:v>
                </c:pt>
                <c:pt idx="301">
                  <c:v>45223</c:v>
                </c:pt>
                <c:pt idx="302">
                  <c:v>45224</c:v>
                </c:pt>
                <c:pt idx="303">
                  <c:v>45225</c:v>
                </c:pt>
                <c:pt idx="304">
                  <c:v>45226</c:v>
                </c:pt>
                <c:pt idx="305">
                  <c:v>45229</c:v>
                </c:pt>
                <c:pt idx="306">
                  <c:v>45230</c:v>
                </c:pt>
                <c:pt idx="307">
                  <c:v>45231</c:v>
                </c:pt>
                <c:pt idx="308">
                  <c:v>45232</c:v>
                </c:pt>
                <c:pt idx="309">
                  <c:v>45233</c:v>
                </c:pt>
                <c:pt idx="310">
                  <c:v>45236</c:v>
                </c:pt>
                <c:pt idx="311">
                  <c:v>45237</c:v>
                </c:pt>
                <c:pt idx="312">
                  <c:v>45238</c:v>
                </c:pt>
                <c:pt idx="313">
                  <c:v>45239</c:v>
                </c:pt>
                <c:pt idx="314">
                  <c:v>45240</c:v>
                </c:pt>
                <c:pt idx="315">
                  <c:v>45243</c:v>
                </c:pt>
                <c:pt idx="316">
                  <c:v>45244</c:v>
                </c:pt>
                <c:pt idx="317">
                  <c:v>45245</c:v>
                </c:pt>
                <c:pt idx="318">
                  <c:v>45246</c:v>
                </c:pt>
                <c:pt idx="319">
                  <c:v>45247</c:v>
                </c:pt>
                <c:pt idx="320">
                  <c:v>45250</c:v>
                </c:pt>
                <c:pt idx="321">
                  <c:v>45251</c:v>
                </c:pt>
                <c:pt idx="322">
                  <c:v>45252</c:v>
                </c:pt>
                <c:pt idx="323">
                  <c:v>45253</c:v>
                </c:pt>
                <c:pt idx="324">
                  <c:v>45254</c:v>
                </c:pt>
                <c:pt idx="325">
                  <c:v>45257</c:v>
                </c:pt>
                <c:pt idx="326">
                  <c:v>45258</c:v>
                </c:pt>
                <c:pt idx="327">
                  <c:v>45259</c:v>
                </c:pt>
                <c:pt idx="328">
                  <c:v>45260</c:v>
                </c:pt>
                <c:pt idx="329">
                  <c:v>45261</c:v>
                </c:pt>
                <c:pt idx="330">
                  <c:v>45264</c:v>
                </c:pt>
                <c:pt idx="331">
                  <c:v>45265</c:v>
                </c:pt>
                <c:pt idx="332">
                  <c:v>45266</c:v>
                </c:pt>
                <c:pt idx="333">
                  <c:v>45267</c:v>
                </c:pt>
                <c:pt idx="334">
                  <c:v>45268</c:v>
                </c:pt>
                <c:pt idx="335">
                  <c:v>45271</c:v>
                </c:pt>
                <c:pt idx="336">
                  <c:v>45272</c:v>
                </c:pt>
                <c:pt idx="337">
                  <c:v>45273</c:v>
                </c:pt>
                <c:pt idx="338">
                  <c:v>45274</c:v>
                </c:pt>
                <c:pt idx="339">
                  <c:v>45275</c:v>
                </c:pt>
                <c:pt idx="340">
                  <c:v>45278</c:v>
                </c:pt>
                <c:pt idx="341">
                  <c:v>45279</c:v>
                </c:pt>
                <c:pt idx="342">
                  <c:v>45280</c:v>
                </c:pt>
                <c:pt idx="343">
                  <c:v>45281</c:v>
                </c:pt>
                <c:pt idx="344">
                  <c:v>45282</c:v>
                </c:pt>
                <c:pt idx="345">
                  <c:v>45285</c:v>
                </c:pt>
                <c:pt idx="346">
                  <c:v>45286</c:v>
                </c:pt>
                <c:pt idx="347">
                  <c:v>45287</c:v>
                </c:pt>
                <c:pt idx="348">
                  <c:v>45288</c:v>
                </c:pt>
                <c:pt idx="349">
                  <c:v>45289</c:v>
                </c:pt>
                <c:pt idx="350">
                  <c:v>45291</c:v>
                </c:pt>
                <c:pt idx="351">
                  <c:v>45293</c:v>
                </c:pt>
                <c:pt idx="352">
                  <c:v>45294</c:v>
                </c:pt>
                <c:pt idx="353">
                  <c:v>45295</c:v>
                </c:pt>
                <c:pt idx="354">
                  <c:v>45296</c:v>
                </c:pt>
                <c:pt idx="355">
                  <c:v>45299</c:v>
                </c:pt>
                <c:pt idx="356">
                  <c:v>45300</c:v>
                </c:pt>
                <c:pt idx="357">
                  <c:v>45301</c:v>
                </c:pt>
                <c:pt idx="358">
                  <c:v>45302</c:v>
                </c:pt>
                <c:pt idx="359">
                  <c:v>45303</c:v>
                </c:pt>
                <c:pt idx="360">
                  <c:v>45306</c:v>
                </c:pt>
                <c:pt idx="361">
                  <c:v>45307</c:v>
                </c:pt>
                <c:pt idx="362">
                  <c:v>45308</c:v>
                </c:pt>
                <c:pt idx="363">
                  <c:v>45309</c:v>
                </c:pt>
                <c:pt idx="364">
                  <c:v>45310</c:v>
                </c:pt>
                <c:pt idx="365">
                  <c:v>45313</c:v>
                </c:pt>
                <c:pt idx="366">
                  <c:v>45314</c:v>
                </c:pt>
                <c:pt idx="367">
                  <c:v>45315</c:v>
                </c:pt>
                <c:pt idx="368">
                  <c:v>45316</c:v>
                </c:pt>
                <c:pt idx="369">
                  <c:v>45317</c:v>
                </c:pt>
                <c:pt idx="370">
                  <c:v>45320</c:v>
                </c:pt>
                <c:pt idx="371">
                  <c:v>45321</c:v>
                </c:pt>
                <c:pt idx="372">
                  <c:v>45322</c:v>
                </c:pt>
                <c:pt idx="373">
                  <c:v>45323</c:v>
                </c:pt>
                <c:pt idx="374">
                  <c:v>45324</c:v>
                </c:pt>
                <c:pt idx="375">
                  <c:v>45326</c:v>
                </c:pt>
                <c:pt idx="376">
                  <c:v>45327</c:v>
                </c:pt>
                <c:pt idx="377">
                  <c:v>45328</c:v>
                </c:pt>
                <c:pt idx="378">
                  <c:v>45329</c:v>
                </c:pt>
                <c:pt idx="379">
                  <c:v>45330</c:v>
                </c:pt>
                <c:pt idx="380">
                  <c:v>45331</c:v>
                </c:pt>
                <c:pt idx="381">
                  <c:v>45340</c:v>
                </c:pt>
                <c:pt idx="382">
                  <c:v>45341</c:v>
                </c:pt>
                <c:pt idx="383">
                  <c:v>45342</c:v>
                </c:pt>
                <c:pt idx="384">
                  <c:v>45343</c:v>
                </c:pt>
                <c:pt idx="385">
                  <c:v>45344</c:v>
                </c:pt>
                <c:pt idx="386">
                  <c:v>45345</c:v>
                </c:pt>
                <c:pt idx="387">
                  <c:v>45348</c:v>
                </c:pt>
                <c:pt idx="388">
                  <c:v>45349</c:v>
                </c:pt>
                <c:pt idx="389">
                  <c:v>45350</c:v>
                </c:pt>
                <c:pt idx="390">
                  <c:v>45351</c:v>
                </c:pt>
                <c:pt idx="391">
                  <c:v>45352</c:v>
                </c:pt>
                <c:pt idx="392">
                  <c:v>45355</c:v>
                </c:pt>
                <c:pt idx="393">
                  <c:v>45356</c:v>
                </c:pt>
                <c:pt idx="394">
                  <c:v>45357</c:v>
                </c:pt>
                <c:pt idx="395">
                  <c:v>45358</c:v>
                </c:pt>
                <c:pt idx="396">
                  <c:v>45359</c:v>
                </c:pt>
                <c:pt idx="397">
                  <c:v>45362</c:v>
                </c:pt>
                <c:pt idx="398">
                  <c:v>45363</c:v>
                </c:pt>
                <c:pt idx="399">
                  <c:v>45364</c:v>
                </c:pt>
                <c:pt idx="400">
                  <c:v>45365</c:v>
                </c:pt>
                <c:pt idx="401">
                  <c:v>45366</c:v>
                </c:pt>
                <c:pt idx="402">
                  <c:v>45369</c:v>
                </c:pt>
                <c:pt idx="403">
                  <c:v>45370</c:v>
                </c:pt>
                <c:pt idx="404">
                  <c:v>45371</c:v>
                </c:pt>
                <c:pt idx="405">
                  <c:v>45372</c:v>
                </c:pt>
                <c:pt idx="406">
                  <c:v>45373</c:v>
                </c:pt>
                <c:pt idx="407">
                  <c:v>45376</c:v>
                </c:pt>
                <c:pt idx="408">
                  <c:v>45377</c:v>
                </c:pt>
                <c:pt idx="409">
                  <c:v>45378</c:v>
                </c:pt>
                <c:pt idx="410">
                  <c:v>45379</c:v>
                </c:pt>
                <c:pt idx="411">
                  <c:v>45380</c:v>
                </c:pt>
                <c:pt idx="412">
                  <c:v>45383</c:v>
                </c:pt>
                <c:pt idx="413">
                  <c:v>45384</c:v>
                </c:pt>
                <c:pt idx="414">
                  <c:v>45385</c:v>
                </c:pt>
                <c:pt idx="415">
                  <c:v>45389</c:v>
                </c:pt>
                <c:pt idx="416">
                  <c:v>45390</c:v>
                </c:pt>
                <c:pt idx="417">
                  <c:v>45391</c:v>
                </c:pt>
                <c:pt idx="418">
                  <c:v>45392</c:v>
                </c:pt>
                <c:pt idx="419">
                  <c:v>45393</c:v>
                </c:pt>
                <c:pt idx="420">
                  <c:v>45394</c:v>
                </c:pt>
                <c:pt idx="421">
                  <c:v>45397</c:v>
                </c:pt>
                <c:pt idx="422">
                  <c:v>45398</c:v>
                </c:pt>
                <c:pt idx="423">
                  <c:v>45399</c:v>
                </c:pt>
                <c:pt idx="424">
                  <c:v>45400</c:v>
                </c:pt>
                <c:pt idx="425">
                  <c:v>45401</c:v>
                </c:pt>
                <c:pt idx="426">
                  <c:v>45404</c:v>
                </c:pt>
                <c:pt idx="427">
                  <c:v>45405</c:v>
                </c:pt>
                <c:pt idx="428">
                  <c:v>45406</c:v>
                </c:pt>
                <c:pt idx="429">
                  <c:v>45407</c:v>
                </c:pt>
                <c:pt idx="430">
                  <c:v>45408</c:v>
                </c:pt>
                <c:pt idx="431">
                  <c:v>45410</c:v>
                </c:pt>
                <c:pt idx="432">
                  <c:v>45411</c:v>
                </c:pt>
                <c:pt idx="433">
                  <c:v>45412</c:v>
                </c:pt>
                <c:pt idx="434">
                  <c:v>45418</c:v>
                </c:pt>
                <c:pt idx="435">
                  <c:v>45419</c:v>
                </c:pt>
                <c:pt idx="436">
                  <c:v>45420</c:v>
                </c:pt>
                <c:pt idx="437">
                  <c:v>45421</c:v>
                </c:pt>
                <c:pt idx="438">
                  <c:v>45422</c:v>
                </c:pt>
                <c:pt idx="439">
                  <c:v>45423</c:v>
                </c:pt>
                <c:pt idx="440">
                  <c:v>45425</c:v>
                </c:pt>
                <c:pt idx="441">
                  <c:v>45426</c:v>
                </c:pt>
                <c:pt idx="442">
                  <c:v>45427</c:v>
                </c:pt>
                <c:pt idx="443">
                  <c:v>45428</c:v>
                </c:pt>
                <c:pt idx="444">
                  <c:v>45429</c:v>
                </c:pt>
                <c:pt idx="445">
                  <c:v>45432</c:v>
                </c:pt>
                <c:pt idx="446">
                  <c:v>45433</c:v>
                </c:pt>
                <c:pt idx="447">
                  <c:v>45434</c:v>
                </c:pt>
                <c:pt idx="448">
                  <c:v>45435</c:v>
                </c:pt>
                <c:pt idx="449">
                  <c:v>45436</c:v>
                </c:pt>
                <c:pt idx="450">
                  <c:v>45439</c:v>
                </c:pt>
                <c:pt idx="451">
                  <c:v>45440</c:v>
                </c:pt>
                <c:pt idx="452">
                  <c:v>45441</c:v>
                </c:pt>
                <c:pt idx="453">
                  <c:v>45442</c:v>
                </c:pt>
                <c:pt idx="454">
                  <c:v>45443</c:v>
                </c:pt>
                <c:pt idx="455">
                  <c:v>45446</c:v>
                </c:pt>
                <c:pt idx="456">
                  <c:v>45447</c:v>
                </c:pt>
                <c:pt idx="457">
                  <c:v>45448</c:v>
                </c:pt>
                <c:pt idx="458">
                  <c:v>45449</c:v>
                </c:pt>
                <c:pt idx="459">
                  <c:v>45450</c:v>
                </c:pt>
                <c:pt idx="460">
                  <c:v>45454</c:v>
                </c:pt>
                <c:pt idx="461">
                  <c:v>45455</c:v>
                </c:pt>
                <c:pt idx="462">
                  <c:v>45456</c:v>
                </c:pt>
                <c:pt idx="463">
                  <c:v>45457</c:v>
                </c:pt>
                <c:pt idx="464">
                  <c:v>45460</c:v>
                </c:pt>
                <c:pt idx="465">
                  <c:v>45461</c:v>
                </c:pt>
                <c:pt idx="466">
                  <c:v>45462</c:v>
                </c:pt>
                <c:pt idx="467">
                  <c:v>45463</c:v>
                </c:pt>
                <c:pt idx="468">
                  <c:v>45464</c:v>
                </c:pt>
                <c:pt idx="469">
                  <c:v>45467</c:v>
                </c:pt>
                <c:pt idx="470">
                  <c:v>45468</c:v>
                </c:pt>
                <c:pt idx="471">
                  <c:v>45469</c:v>
                </c:pt>
                <c:pt idx="472">
                  <c:v>45470</c:v>
                </c:pt>
                <c:pt idx="473">
                  <c:v>45471</c:v>
                </c:pt>
                <c:pt idx="474">
                  <c:v>45474</c:v>
                </c:pt>
                <c:pt idx="475">
                  <c:v>45475</c:v>
                </c:pt>
                <c:pt idx="476">
                  <c:v>45476</c:v>
                </c:pt>
                <c:pt idx="477">
                  <c:v>45477</c:v>
                </c:pt>
                <c:pt idx="478">
                  <c:v>45478</c:v>
                </c:pt>
                <c:pt idx="479">
                  <c:v>45481</c:v>
                </c:pt>
                <c:pt idx="480">
                  <c:v>45482</c:v>
                </c:pt>
                <c:pt idx="481">
                  <c:v>45483</c:v>
                </c:pt>
                <c:pt idx="482">
                  <c:v>45484</c:v>
                </c:pt>
                <c:pt idx="483">
                  <c:v>45485</c:v>
                </c:pt>
                <c:pt idx="484">
                  <c:v>45488</c:v>
                </c:pt>
                <c:pt idx="485">
                  <c:v>45489</c:v>
                </c:pt>
                <c:pt idx="486">
                  <c:v>45490</c:v>
                </c:pt>
                <c:pt idx="487">
                  <c:v>45491</c:v>
                </c:pt>
                <c:pt idx="488">
                  <c:v>45492</c:v>
                </c:pt>
                <c:pt idx="489">
                  <c:v>45495</c:v>
                </c:pt>
                <c:pt idx="490">
                  <c:v>45496</c:v>
                </c:pt>
                <c:pt idx="491">
                  <c:v>45497</c:v>
                </c:pt>
                <c:pt idx="492">
                  <c:v>45498</c:v>
                </c:pt>
                <c:pt idx="493">
                  <c:v>45499</c:v>
                </c:pt>
                <c:pt idx="494">
                  <c:v>45502</c:v>
                </c:pt>
                <c:pt idx="495">
                  <c:v>45503</c:v>
                </c:pt>
                <c:pt idx="496">
                  <c:v>45504</c:v>
                </c:pt>
                <c:pt idx="497">
                  <c:v>45505</c:v>
                </c:pt>
                <c:pt idx="498">
                  <c:v>45506</c:v>
                </c:pt>
                <c:pt idx="499">
                  <c:v>45509</c:v>
                </c:pt>
                <c:pt idx="500">
                  <c:v>45510</c:v>
                </c:pt>
                <c:pt idx="501">
                  <c:v>45511</c:v>
                </c:pt>
                <c:pt idx="502">
                  <c:v>45512</c:v>
                </c:pt>
                <c:pt idx="503">
                  <c:v>45513</c:v>
                </c:pt>
                <c:pt idx="504">
                  <c:v>45516</c:v>
                </c:pt>
                <c:pt idx="505">
                  <c:v>45517</c:v>
                </c:pt>
                <c:pt idx="506">
                  <c:v>45518</c:v>
                </c:pt>
                <c:pt idx="507">
                  <c:v>45519</c:v>
                </c:pt>
                <c:pt idx="508">
                  <c:v>45520</c:v>
                </c:pt>
                <c:pt idx="509">
                  <c:v>45523</c:v>
                </c:pt>
                <c:pt idx="510">
                  <c:v>45524</c:v>
                </c:pt>
                <c:pt idx="511">
                  <c:v>45525</c:v>
                </c:pt>
                <c:pt idx="512">
                  <c:v>45526</c:v>
                </c:pt>
                <c:pt idx="513">
                  <c:v>45527</c:v>
                </c:pt>
                <c:pt idx="514">
                  <c:v>45530</c:v>
                </c:pt>
                <c:pt idx="515">
                  <c:v>45531</c:v>
                </c:pt>
                <c:pt idx="516">
                  <c:v>45532</c:v>
                </c:pt>
                <c:pt idx="517">
                  <c:v>45533</c:v>
                </c:pt>
                <c:pt idx="518">
                  <c:v>45534</c:v>
                </c:pt>
                <c:pt idx="519">
                  <c:v>45537</c:v>
                </c:pt>
                <c:pt idx="520">
                  <c:v>45538</c:v>
                </c:pt>
                <c:pt idx="521">
                  <c:v>45539</c:v>
                </c:pt>
                <c:pt idx="522">
                  <c:v>45540</c:v>
                </c:pt>
                <c:pt idx="523">
                  <c:v>45541</c:v>
                </c:pt>
                <c:pt idx="524">
                  <c:v>45544</c:v>
                </c:pt>
                <c:pt idx="525">
                  <c:v>45545</c:v>
                </c:pt>
                <c:pt idx="526">
                  <c:v>45546</c:v>
                </c:pt>
                <c:pt idx="527">
                  <c:v>45547</c:v>
                </c:pt>
                <c:pt idx="528">
                  <c:v>45548</c:v>
                </c:pt>
                <c:pt idx="529">
                  <c:v>45549</c:v>
                </c:pt>
                <c:pt idx="530">
                  <c:v>45553</c:v>
                </c:pt>
                <c:pt idx="531">
                  <c:v>45554</c:v>
                </c:pt>
                <c:pt idx="532">
                  <c:v>45555</c:v>
                </c:pt>
                <c:pt idx="533">
                  <c:v>45558</c:v>
                </c:pt>
                <c:pt idx="534">
                  <c:v>45559</c:v>
                </c:pt>
                <c:pt idx="535">
                  <c:v>45560</c:v>
                </c:pt>
                <c:pt idx="536">
                  <c:v>45561</c:v>
                </c:pt>
                <c:pt idx="537">
                  <c:v>45562</c:v>
                </c:pt>
                <c:pt idx="538">
                  <c:v>45564</c:v>
                </c:pt>
                <c:pt idx="539">
                  <c:v>45565</c:v>
                </c:pt>
                <c:pt idx="540">
                  <c:v>45573</c:v>
                </c:pt>
                <c:pt idx="541">
                  <c:v>45574</c:v>
                </c:pt>
                <c:pt idx="542">
                  <c:v>45575</c:v>
                </c:pt>
                <c:pt idx="543">
                  <c:v>45576</c:v>
                </c:pt>
                <c:pt idx="544">
                  <c:v>45577</c:v>
                </c:pt>
                <c:pt idx="545">
                  <c:v>45579</c:v>
                </c:pt>
                <c:pt idx="546">
                  <c:v>45580</c:v>
                </c:pt>
                <c:pt idx="547">
                  <c:v>45581</c:v>
                </c:pt>
                <c:pt idx="548">
                  <c:v>45582</c:v>
                </c:pt>
                <c:pt idx="549">
                  <c:v>45583</c:v>
                </c:pt>
                <c:pt idx="550">
                  <c:v>45586</c:v>
                </c:pt>
                <c:pt idx="551">
                  <c:v>45587</c:v>
                </c:pt>
                <c:pt idx="552">
                  <c:v>45588</c:v>
                </c:pt>
                <c:pt idx="553">
                  <c:v>45589</c:v>
                </c:pt>
                <c:pt idx="554">
                  <c:v>45590</c:v>
                </c:pt>
                <c:pt idx="555">
                  <c:v>45593</c:v>
                </c:pt>
                <c:pt idx="556">
                  <c:v>45594</c:v>
                </c:pt>
                <c:pt idx="557">
                  <c:v>45595</c:v>
                </c:pt>
                <c:pt idx="558">
                  <c:v>45596</c:v>
                </c:pt>
                <c:pt idx="559">
                  <c:v>45597</c:v>
                </c:pt>
                <c:pt idx="560">
                  <c:v>45600</c:v>
                </c:pt>
                <c:pt idx="561">
                  <c:v>45601</c:v>
                </c:pt>
                <c:pt idx="562">
                  <c:v>45602</c:v>
                </c:pt>
                <c:pt idx="563">
                  <c:v>45603</c:v>
                </c:pt>
                <c:pt idx="564">
                  <c:v>45604</c:v>
                </c:pt>
                <c:pt idx="565">
                  <c:v>45607</c:v>
                </c:pt>
                <c:pt idx="566">
                  <c:v>45608</c:v>
                </c:pt>
                <c:pt idx="567">
                  <c:v>45609</c:v>
                </c:pt>
                <c:pt idx="568">
                  <c:v>45610</c:v>
                </c:pt>
                <c:pt idx="569">
                  <c:v>45611</c:v>
                </c:pt>
                <c:pt idx="570">
                  <c:v>45614</c:v>
                </c:pt>
                <c:pt idx="571">
                  <c:v>45615</c:v>
                </c:pt>
                <c:pt idx="572">
                  <c:v>45616</c:v>
                </c:pt>
                <c:pt idx="573">
                  <c:v>45617</c:v>
                </c:pt>
                <c:pt idx="574">
                  <c:v>45618</c:v>
                </c:pt>
                <c:pt idx="575">
                  <c:v>45621</c:v>
                </c:pt>
                <c:pt idx="576">
                  <c:v>45622</c:v>
                </c:pt>
                <c:pt idx="577">
                  <c:v>45623</c:v>
                </c:pt>
                <c:pt idx="578">
                  <c:v>45624</c:v>
                </c:pt>
                <c:pt idx="579">
                  <c:v>45625</c:v>
                </c:pt>
                <c:pt idx="580">
                  <c:v>45628</c:v>
                </c:pt>
                <c:pt idx="581">
                  <c:v>45629</c:v>
                </c:pt>
                <c:pt idx="582">
                  <c:v>45630</c:v>
                </c:pt>
                <c:pt idx="583">
                  <c:v>45631</c:v>
                </c:pt>
                <c:pt idx="584">
                  <c:v>45632</c:v>
                </c:pt>
                <c:pt idx="585">
                  <c:v>45635</c:v>
                </c:pt>
                <c:pt idx="586">
                  <c:v>45636</c:v>
                </c:pt>
                <c:pt idx="587">
                  <c:v>45637</c:v>
                </c:pt>
                <c:pt idx="588">
                  <c:v>45638</c:v>
                </c:pt>
                <c:pt idx="589">
                  <c:v>45639</c:v>
                </c:pt>
                <c:pt idx="590">
                  <c:v>45642</c:v>
                </c:pt>
                <c:pt idx="591">
                  <c:v>45643</c:v>
                </c:pt>
                <c:pt idx="592">
                  <c:v>45644</c:v>
                </c:pt>
                <c:pt idx="593">
                  <c:v>45645</c:v>
                </c:pt>
                <c:pt idx="594">
                  <c:v>45646</c:v>
                </c:pt>
                <c:pt idx="595">
                  <c:v>45649</c:v>
                </c:pt>
                <c:pt idx="596">
                  <c:v>45650</c:v>
                </c:pt>
                <c:pt idx="597">
                  <c:v>45651</c:v>
                </c:pt>
                <c:pt idx="598">
                  <c:v>45652</c:v>
                </c:pt>
                <c:pt idx="599">
                  <c:v>45653</c:v>
                </c:pt>
                <c:pt idx="600">
                  <c:v>45656</c:v>
                </c:pt>
                <c:pt idx="601">
                  <c:v>45657</c:v>
                </c:pt>
                <c:pt idx="602">
                  <c:v>45659</c:v>
                </c:pt>
                <c:pt idx="603">
                  <c:v>45660</c:v>
                </c:pt>
                <c:pt idx="604">
                  <c:v>45663</c:v>
                </c:pt>
                <c:pt idx="605">
                  <c:v>45664</c:v>
                </c:pt>
                <c:pt idx="606">
                  <c:v>45665</c:v>
                </c:pt>
                <c:pt idx="607">
                  <c:v>45666</c:v>
                </c:pt>
                <c:pt idx="608">
                  <c:v>45667</c:v>
                </c:pt>
                <c:pt idx="609">
                  <c:v>45670</c:v>
                </c:pt>
                <c:pt idx="610">
                  <c:v>45671</c:v>
                </c:pt>
                <c:pt idx="611">
                  <c:v>45672</c:v>
                </c:pt>
                <c:pt idx="612">
                  <c:v>45673</c:v>
                </c:pt>
                <c:pt idx="613">
                  <c:v>45674</c:v>
                </c:pt>
                <c:pt idx="614">
                  <c:v>45677</c:v>
                </c:pt>
                <c:pt idx="615">
                  <c:v>45678</c:v>
                </c:pt>
                <c:pt idx="616">
                  <c:v>45679</c:v>
                </c:pt>
                <c:pt idx="617">
                  <c:v>45680</c:v>
                </c:pt>
                <c:pt idx="618">
                  <c:v>45681</c:v>
                </c:pt>
                <c:pt idx="619">
                  <c:v>45683</c:v>
                </c:pt>
                <c:pt idx="620">
                  <c:v>45684</c:v>
                </c:pt>
                <c:pt idx="621">
                  <c:v>45693</c:v>
                </c:pt>
                <c:pt idx="622">
                  <c:v>45694</c:v>
                </c:pt>
                <c:pt idx="623">
                  <c:v>45695</c:v>
                </c:pt>
                <c:pt idx="624">
                  <c:v>45696</c:v>
                </c:pt>
                <c:pt idx="625">
                  <c:v>45698</c:v>
                </c:pt>
                <c:pt idx="626">
                  <c:v>45699</c:v>
                </c:pt>
                <c:pt idx="627">
                  <c:v>45700</c:v>
                </c:pt>
                <c:pt idx="628">
                  <c:v>45701</c:v>
                </c:pt>
                <c:pt idx="629">
                  <c:v>45702</c:v>
                </c:pt>
                <c:pt idx="630">
                  <c:v>45705</c:v>
                </c:pt>
                <c:pt idx="631">
                  <c:v>45706</c:v>
                </c:pt>
                <c:pt idx="632">
                  <c:v>45707</c:v>
                </c:pt>
                <c:pt idx="633">
                  <c:v>45708</c:v>
                </c:pt>
                <c:pt idx="634">
                  <c:v>45709</c:v>
                </c:pt>
                <c:pt idx="635">
                  <c:v>45712</c:v>
                </c:pt>
                <c:pt idx="636">
                  <c:v>45713</c:v>
                </c:pt>
                <c:pt idx="637">
                  <c:v>45714</c:v>
                </c:pt>
                <c:pt idx="638">
                  <c:v>45715</c:v>
                </c:pt>
                <c:pt idx="639">
                  <c:v>45716</c:v>
                </c:pt>
                <c:pt idx="640">
                  <c:v>45719</c:v>
                </c:pt>
                <c:pt idx="641">
                  <c:v>45720</c:v>
                </c:pt>
                <c:pt idx="642">
                  <c:v>45721</c:v>
                </c:pt>
                <c:pt idx="643">
                  <c:v>45722</c:v>
                </c:pt>
                <c:pt idx="644">
                  <c:v>45723</c:v>
                </c:pt>
                <c:pt idx="645">
                  <c:v>45726</c:v>
                </c:pt>
                <c:pt idx="646">
                  <c:v>45727</c:v>
                </c:pt>
                <c:pt idx="647">
                  <c:v>45728</c:v>
                </c:pt>
                <c:pt idx="648">
                  <c:v>45729</c:v>
                </c:pt>
                <c:pt idx="649">
                  <c:v>45730</c:v>
                </c:pt>
                <c:pt idx="650">
                  <c:v>45733</c:v>
                </c:pt>
                <c:pt idx="651">
                  <c:v>45734</c:v>
                </c:pt>
                <c:pt idx="652">
                  <c:v>45735</c:v>
                </c:pt>
                <c:pt idx="653">
                  <c:v>45736</c:v>
                </c:pt>
                <c:pt idx="654">
                  <c:v>45737</c:v>
                </c:pt>
                <c:pt idx="655">
                  <c:v>45740</c:v>
                </c:pt>
                <c:pt idx="656">
                  <c:v>45741</c:v>
                </c:pt>
                <c:pt idx="657">
                  <c:v>45742</c:v>
                </c:pt>
                <c:pt idx="658">
                  <c:v>45743</c:v>
                </c:pt>
                <c:pt idx="659">
                  <c:v>45744</c:v>
                </c:pt>
                <c:pt idx="660">
                  <c:v>45747</c:v>
                </c:pt>
                <c:pt idx="661">
                  <c:v>45748</c:v>
                </c:pt>
                <c:pt idx="662">
                  <c:v>45749</c:v>
                </c:pt>
                <c:pt idx="663">
                  <c:v>45750</c:v>
                </c:pt>
                <c:pt idx="664">
                  <c:v>45754</c:v>
                </c:pt>
                <c:pt idx="665">
                  <c:v>45755</c:v>
                </c:pt>
                <c:pt idx="666">
                  <c:v>45756</c:v>
                </c:pt>
                <c:pt idx="667">
                  <c:v>45757</c:v>
                </c:pt>
                <c:pt idx="668">
                  <c:v>45758</c:v>
                </c:pt>
                <c:pt idx="669">
                  <c:v>45761</c:v>
                </c:pt>
                <c:pt idx="670">
                  <c:v>45762</c:v>
                </c:pt>
                <c:pt idx="671">
                  <c:v>45763</c:v>
                </c:pt>
                <c:pt idx="672">
                  <c:v>45764</c:v>
                </c:pt>
                <c:pt idx="673">
                  <c:v>45765</c:v>
                </c:pt>
                <c:pt idx="674">
                  <c:v>45768</c:v>
                </c:pt>
                <c:pt idx="675">
                  <c:v>45769</c:v>
                </c:pt>
                <c:pt idx="676">
                  <c:v>45770</c:v>
                </c:pt>
                <c:pt idx="677">
                  <c:v>45771</c:v>
                </c:pt>
                <c:pt idx="678">
                  <c:v>45772</c:v>
                </c:pt>
                <c:pt idx="679">
                  <c:v>45774</c:v>
                </c:pt>
                <c:pt idx="680">
                  <c:v>45775</c:v>
                </c:pt>
                <c:pt idx="681">
                  <c:v>45776</c:v>
                </c:pt>
                <c:pt idx="682">
                  <c:v>45777</c:v>
                </c:pt>
                <c:pt idx="683">
                  <c:v>45783</c:v>
                </c:pt>
                <c:pt idx="684">
                  <c:v>45784</c:v>
                </c:pt>
                <c:pt idx="685">
                  <c:v>45785</c:v>
                </c:pt>
                <c:pt idx="686">
                  <c:v>45786</c:v>
                </c:pt>
                <c:pt idx="687">
                  <c:v>45789</c:v>
                </c:pt>
                <c:pt idx="688">
                  <c:v>45790</c:v>
                </c:pt>
                <c:pt idx="689">
                  <c:v>45791</c:v>
                </c:pt>
                <c:pt idx="690">
                  <c:v>45792</c:v>
                </c:pt>
                <c:pt idx="691">
                  <c:v>45793</c:v>
                </c:pt>
                <c:pt idx="692">
                  <c:v>45796</c:v>
                </c:pt>
                <c:pt idx="693">
                  <c:v>45797</c:v>
                </c:pt>
                <c:pt idx="694">
                  <c:v>45798</c:v>
                </c:pt>
                <c:pt idx="695">
                  <c:v>45799</c:v>
                </c:pt>
                <c:pt idx="696">
                  <c:v>45800</c:v>
                </c:pt>
                <c:pt idx="697">
                  <c:v>45803</c:v>
                </c:pt>
                <c:pt idx="698">
                  <c:v>45804</c:v>
                </c:pt>
                <c:pt idx="699">
                  <c:v>45805</c:v>
                </c:pt>
                <c:pt idx="700">
                  <c:v>45806</c:v>
                </c:pt>
                <c:pt idx="701">
                  <c:v>45807</c:v>
                </c:pt>
                <c:pt idx="702">
                  <c:v>45811</c:v>
                </c:pt>
                <c:pt idx="703">
                  <c:v>45812</c:v>
                </c:pt>
                <c:pt idx="704">
                  <c:v>45813</c:v>
                </c:pt>
                <c:pt idx="705">
                  <c:v>45814</c:v>
                </c:pt>
                <c:pt idx="706">
                  <c:v>45817</c:v>
                </c:pt>
                <c:pt idx="707">
                  <c:v>45818</c:v>
                </c:pt>
                <c:pt idx="708">
                  <c:v>45819</c:v>
                </c:pt>
                <c:pt idx="709">
                  <c:v>45820</c:v>
                </c:pt>
                <c:pt idx="710">
                  <c:v>45821</c:v>
                </c:pt>
                <c:pt idx="711">
                  <c:v>45824</c:v>
                </c:pt>
                <c:pt idx="712">
                  <c:v>45825</c:v>
                </c:pt>
                <c:pt idx="713">
                  <c:v>45826</c:v>
                </c:pt>
                <c:pt idx="714">
                  <c:v>45827</c:v>
                </c:pt>
                <c:pt idx="715">
                  <c:v>45828</c:v>
                </c:pt>
                <c:pt idx="716">
                  <c:v>45831</c:v>
                </c:pt>
                <c:pt idx="717">
                  <c:v>45832</c:v>
                </c:pt>
                <c:pt idx="718">
                  <c:v>45833</c:v>
                </c:pt>
                <c:pt idx="719">
                  <c:v>45834</c:v>
                </c:pt>
                <c:pt idx="720">
                  <c:v>45835</c:v>
                </c:pt>
                <c:pt idx="721">
                  <c:v>45838</c:v>
                </c:pt>
                <c:pt idx="722">
                  <c:v>45839</c:v>
                </c:pt>
                <c:pt idx="723">
                  <c:v>45840</c:v>
                </c:pt>
                <c:pt idx="724">
                  <c:v>45841</c:v>
                </c:pt>
                <c:pt idx="725">
                  <c:v>45842</c:v>
                </c:pt>
                <c:pt idx="726">
                  <c:v>45845</c:v>
                </c:pt>
                <c:pt idx="727">
                  <c:v>45846</c:v>
                </c:pt>
                <c:pt idx="728">
                  <c:v>45847</c:v>
                </c:pt>
                <c:pt idx="729">
                  <c:v>45848</c:v>
                </c:pt>
                <c:pt idx="730">
                  <c:v>45849</c:v>
                </c:pt>
                <c:pt idx="731">
                  <c:v>45852</c:v>
                </c:pt>
                <c:pt idx="732">
                  <c:v>45853</c:v>
                </c:pt>
                <c:pt idx="733">
                  <c:v>45854</c:v>
                </c:pt>
                <c:pt idx="734">
                  <c:v>45855</c:v>
                </c:pt>
                <c:pt idx="735">
                  <c:v>45856</c:v>
                </c:pt>
                <c:pt idx="736">
                  <c:v>45859</c:v>
                </c:pt>
                <c:pt idx="737">
                  <c:v>45860</c:v>
                </c:pt>
                <c:pt idx="738">
                  <c:v>45861</c:v>
                </c:pt>
                <c:pt idx="739">
                  <c:v>45862</c:v>
                </c:pt>
                <c:pt idx="740">
                  <c:v>45863</c:v>
                </c:pt>
                <c:pt idx="741">
                  <c:v>45866</c:v>
                </c:pt>
                <c:pt idx="742">
                  <c:v>45867</c:v>
                </c:pt>
                <c:pt idx="743">
                  <c:v>45868</c:v>
                </c:pt>
                <c:pt idx="744">
                  <c:v>45869</c:v>
                </c:pt>
                <c:pt idx="745">
                  <c:v>45870</c:v>
                </c:pt>
                <c:pt idx="746">
                  <c:v>45873</c:v>
                </c:pt>
                <c:pt idx="747">
                  <c:v>45874</c:v>
                </c:pt>
                <c:pt idx="748">
                  <c:v>45875</c:v>
                </c:pt>
                <c:pt idx="749">
                  <c:v>45876</c:v>
                </c:pt>
                <c:pt idx="750">
                  <c:v>45877</c:v>
                </c:pt>
                <c:pt idx="751">
                  <c:v>45880</c:v>
                </c:pt>
                <c:pt idx="752">
                  <c:v>45881</c:v>
                </c:pt>
                <c:pt idx="753">
                  <c:v>45882</c:v>
                </c:pt>
                <c:pt idx="754">
                  <c:v>45883</c:v>
                </c:pt>
                <c:pt idx="755">
                  <c:v>45884</c:v>
                </c:pt>
                <c:pt idx="756">
                  <c:v>45887</c:v>
                </c:pt>
                <c:pt idx="757">
                  <c:v>45888</c:v>
                </c:pt>
                <c:pt idx="758">
                  <c:v>45889</c:v>
                </c:pt>
                <c:pt idx="759">
                  <c:v>45890</c:v>
                </c:pt>
                <c:pt idx="760">
                  <c:v>45891</c:v>
                </c:pt>
                <c:pt idx="761">
                  <c:v>45894</c:v>
                </c:pt>
                <c:pt idx="762">
                  <c:v>45895</c:v>
                </c:pt>
                <c:pt idx="763">
                  <c:v>45896</c:v>
                </c:pt>
                <c:pt idx="764">
                  <c:v>45897</c:v>
                </c:pt>
                <c:pt idx="765">
                  <c:v>45898</c:v>
                </c:pt>
                <c:pt idx="766">
                  <c:v>45901</c:v>
                </c:pt>
                <c:pt idx="767">
                  <c:v>45902</c:v>
                </c:pt>
                <c:pt idx="768">
                  <c:v>45903</c:v>
                </c:pt>
                <c:pt idx="769">
                  <c:v>45904</c:v>
                </c:pt>
                <c:pt idx="770">
                  <c:v>45905</c:v>
                </c:pt>
                <c:pt idx="771">
                  <c:v>45908</c:v>
                </c:pt>
                <c:pt idx="772">
                  <c:v>45909</c:v>
                </c:pt>
                <c:pt idx="773">
                  <c:v>45910</c:v>
                </c:pt>
                <c:pt idx="774">
                  <c:v>45911</c:v>
                </c:pt>
                <c:pt idx="775">
                  <c:v>45912</c:v>
                </c:pt>
                <c:pt idx="776">
                  <c:v>45915</c:v>
                </c:pt>
                <c:pt idx="777">
                  <c:v>45916</c:v>
                </c:pt>
                <c:pt idx="778">
                  <c:v>45917</c:v>
                </c:pt>
                <c:pt idx="779">
                  <c:v>45918</c:v>
                </c:pt>
                <c:pt idx="780">
                  <c:v>45919</c:v>
                </c:pt>
                <c:pt idx="781">
                  <c:v>45922</c:v>
                </c:pt>
                <c:pt idx="782">
                  <c:v>45923</c:v>
                </c:pt>
                <c:pt idx="783">
                  <c:v>45924</c:v>
                </c:pt>
                <c:pt idx="784">
                  <c:v>45925</c:v>
                </c:pt>
                <c:pt idx="785">
                  <c:v>45926</c:v>
                </c:pt>
                <c:pt idx="786">
                  <c:v>45928</c:v>
                </c:pt>
                <c:pt idx="787">
                  <c:v>45929</c:v>
                </c:pt>
                <c:pt idx="788">
                  <c:v>45930</c:v>
                </c:pt>
                <c:pt idx="789">
                  <c:v>45939</c:v>
                </c:pt>
                <c:pt idx="790">
                  <c:v>45940</c:v>
                </c:pt>
                <c:pt idx="791">
                  <c:v>45941</c:v>
                </c:pt>
                <c:pt idx="792">
                  <c:v>45943</c:v>
                </c:pt>
                <c:pt idx="793">
                  <c:v>45944</c:v>
                </c:pt>
                <c:pt idx="794">
                  <c:v>45945</c:v>
                </c:pt>
                <c:pt idx="795">
                  <c:v>45946</c:v>
                </c:pt>
                <c:pt idx="796">
                  <c:v>45947</c:v>
                </c:pt>
                <c:pt idx="797">
                  <c:v>45950</c:v>
                </c:pt>
                <c:pt idx="798">
                  <c:v>45951</c:v>
                </c:pt>
                <c:pt idx="799">
                  <c:v>45952</c:v>
                </c:pt>
                <c:pt idx="800">
                  <c:v>45953</c:v>
                </c:pt>
                <c:pt idx="801">
                  <c:v>45954</c:v>
                </c:pt>
                <c:pt idx="802">
                  <c:v>45957</c:v>
                </c:pt>
                <c:pt idx="803">
                  <c:v>45958</c:v>
                </c:pt>
                <c:pt idx="804">
                  <c:v>45959</c:v>
                </c:pt>
                <c:pt idx="805">
                  <c:v>45960</c:v>
                </c:pt>
                <c:pt idx="806">
                  <c:v>45961</c:v>
                </c:pt>
                <c:pt idx="807">
                  <c:v>45964</c:v>
                </c:pt>
                <c:pt idx="808">
                  <c:v>45965</c:v>
                </c:pt>
                <c:pt idx="809">
                  <c:v>45966</c:v>
                </c:pt>
                <c:pt idx="810">
                  <c:v>45967</c:v>
                </c:pt>
                <c:pt idx="811">
                  <c:v>45968</c:v>
                </c:pt>
                <c:pt idx="812">
                  <c:v>45971</c:v>
                </c:pt>
                <c:pt idx="813">
                  <c:v>45972</c:v>
                </c:pt>
                <c:pt idx="814">
                  <c:v>45973</c:v>
                </c:pt>
                <c:pt idx="815">
                  <c:v>45974</c:v>
                </c:pt>
                <c:pt idx="816">
                  <c:v>45975</c:v>
                </c:pt>
                <c:pt idx="817">
                  <c:v>45978</c:v>
                </c:pt>
                <c:pt idx="818">
                  <c:v>45979</c:v>
                </c:pt>
                <c:pt idx="819">
                  <c:v>45980</c:v>
                </c:pt>
                <c:pt idx="820">
                  <c:v>45981</c:v>
                </c:pt>
                <c:pt idx="821">
                  <c:v>45982</c:v>
                </c:pt>
                <c:pt idx="822">
                  <c:v>45985</c:v>
                </c:pt>
                <c:pt idx="823">
                  <c:v>45986</c:v>
                </c:pt>
                <c:pt idx="824">
                  <c:v>45987</c:v>
                </c:pt>
                <c:pt idx="825">
                  <c:v>45988</c:v>
                </c:pt>
                <c:pt idx="826">
                  <c:v>45989</c:v>
                </c:pt>
                <c:pt idx="827">
                  <c:v>45992</c:v>
                </c:pt>
                <c:pt idx="828">
                  <c:v>45993</c:v>
                </c:pt>
                <c:pt idx="829">
                  <c:v>45994</c:v>
                </c:pt>
                <c:pt idx="830">
                  <c:v>45995</c:v>
                </c:pt>
                <c:pt idx="831">
                  <c:v>45996</c:v>
                </c:pt>
                <c:pt idx="832">
                  <c:v>45999</c:v>
                </c:pt>
                <c:pt idx="833">
                  <c:v>46000</c:v>
                </c:pt>
                <c:pt idx="834">
                  <c:v>46001</c:v>
                </c:pt>
                <c:pt idx="835">
                  <c:v>46002</c:v>
                </c:pt>
                <c:pt idx="836">
                  <c:v>46003</c:v>
                </c:pt>
                <c:pt idx="837">
                  <c:v>46006</c:v>
                </c:pt>
                <c:pt idx="838">
                  <c:v>46007</c:v>
                </c:pt>
                <c:pt idx="839">
                  <c:v>46008</c:v>
                </c:pt>
                <c:pt idx="840">
                  <c:v>46009</c:v>
                </c:pt>
                <c:pt idx="841">
                  <c:v>46010</c:v>
                </c:pt>
                <c:pt idx="842">
                  <c:v>46013</c:v>
                </c:pt>
                <c:pt idx="843">
                  <c:v>46014</c:v>
                </c:pt>
                <c:pt idx="844">
                  <c:v>46015</c:v>
                </c:pt>
                <c:pt idx="845">
                  <c:v>46016</c:v>
                </c:pt>
                <c:pt idx="846">
                  <c:v>46017</c:v>
                </c:pt>
                <c:pt idx="847">
                  <c:v>46020</c:v>
                </c:pt>
                <c:pt idx="848">
                  <c:v>46021</c:v>
                </c:pt>
                <c:pt idx="849">
                  <c:v>46022</c:v>
                </c:pt>
                <c:pt idx="850">
                  <c:v>46026</c:v>
                </c:pt>
                <c:pt idx="851">
                  <c:v>46027</c:v>
                </c:pt>
                <c:pt idx="852">
                  <c:v>46028</c:v>
                </c:pt>
                <c:pt idx="853">
                  <c:v>46029</c:v>
                </c:pt>
                <c:pt idx="854">
                  <c:v>46030</c:v>
                </c:pt>
                <c:pt idx="855">
                  <c:v>46031</c:v>
                </c:pt>
                <c:pt idx="856">
                  <c:v>46034</c:v>
                </c:pt>
                <c:pt idx="857">
                  <c:v>46035</c:v>
                </c:pt>
                <c:pt idx="858">
                  <c:v>46036</c:v>
                </c:pt>
                <c:pt idx="859">
                  <c:v>46037</c:v>
                </c:pt>
                <c:pt idx="860">
                  <c:v>46038</c:v>
                </c:pt>
                <c:pt idx="861">
                  <c:v>46041</c:v>
                </c:pt>
                <c:pt idx="862">
                  <c:v>46042</c:v>
                </c:pt>
                <c:pt idx="863">
                  <c:v>46043</c:v>
                </c:pt>
                <c:pt idx="864">
                  <c:v>46044</c:v>
                </c:pt>
                <c:pt idx="865">
                  <c:v>46045</c:v>
                </c:pt>
                <c:pt idx="866">
                  <c:v>46048</c:v>
                </c:pt>
                <c:pt idx="867">
                  <c:v>46049</c:v>
                </c:pt>
                <c:pt idx="868">
                  <c:v>46050</c:v>
                </c:pt>
                <c:pt idx="869">
                  <c:v>46051</c:v>
                </c:pt>
                <c:pt idx="870">
                  <c:v>46052</c:v>
                </c:pt>
                <c:pt idx="871">
                  <c:v>46055</c:v>
                </c:pt>
                <c:pt idx="872">
                  <c:v>46056</c:v>
                </c:pt>
                <c:pt idx="873">
                  <c:v>46057</c:v>
                </c:pt>
                <c:pt idx="874">
                  <c:v>46058</c:v>
                </c:pt>
                <c:pt idx="875">
                  <c:v>46059</c:v>
                </c:pt>
                <c:pt idx="876">
                  <c:v>46062</c:v>
                </c:pt>
                <c:pt idx="877">
                  <c:v>46063</c:v>
                </c:pt>
                <c:pt idx="878">
                  <c:v>46064</c:v>
                </c:pt>
                <c:pt idx="879">
                  <c:v>46065</c:v>
                </c:pt>
                <c:pt idx="880">
                  <c:v>46066</c:v>
                </c:pt>
                <c:pt idx="881">
                  <c:v>46067</c:v>
                </c:pt>
              </c:numCache>
            </c:numRef>
          </c:cat>
          <c:val>
            <c:numRef>
              <c:f>file!$C$2:$C$883</c:f>
              <c:numCache>
                <c:formatCode>0.0000_);[Red]\(0.0000\)</c:formatCode>
                <c:ptCount val="882"/>
                <c:pt idx="0">
                  <c:v>1</c:v>
                </c:pt>
                <c:pt idx="1">
                  <c:v>1</c:v>
                </c:pt>
                <c:pt idx="2">
                  <c:v>1</c:v>
                </c:pt>
                <c:pt idx="3">
                  <c:v>1</c:v>
                </c:pt>
                <c:pt idx="4">
                  <c:v>1</c:v>
                </c:pt>
                <c:pt idx="5">
                  <c:v>1</c:v>
                </c:pt>
                <c:pt idx="6">
                  <c:v>1</c:v>
                </c:pt>
                <c:pt idx="7">
                  <c:v>1</c:v>
                </c:pt>
                <c:pt idx="8">
                  <c:v>1</c:v>
                </c:pt>
                <c:pt idx="9">
                  <c:v>1</c:v>
                </c:pt>
                <c:pt idx="10">
                  <c:v>1</c:v>
                </c:pt>
                <c:pt idx="11">
                  <c:v>1</c:v>
                </c:pt>
                <c:pt idx="12">
                  <c:v>1</c:v>
                </c:pt>
                <c:pt idx="13">
                  <c:v>1.0002</c:v>
                </c:pt>
                <c:pt idx="14">
                  <c:v>1.0002</c:v>
                </c:pt>
                <c:pt idx="15">
                  <c:v>1.0002</c:v>
                </c:pt>
                <c:pt idx="16">
                  <c:v>1.0004</c:v>
                </c:pt>
                <c:pt idx="17">
                  <c:v>1.0004</c:v>
                </c:pt>
                <c:pt idx="18">
                  <c:v>1.0004999999999999</c:v>
                </c:pt>
                <c:pt idx="19">
                  <c:v>1.0005999999999999</c:v>
                </c:pt>
                <c:pt idx="20">
                  <c:v>1.0005999999999999</c:v>
                </c:pt>
                <c:pt idx="21">
                  <c:v>1.0005999999999999</c:v>
                </c:pt>
                <c:pt idx="22">
                  <c:v>1.0005999999999999</c:v>
                </c:pt>
                <c:pt idx="23">
                  <c:v>1.0007999999999999</c:v>
                </c:pt>
                <c:pt idx="24">
                  <c:v>1.0007999999999999</c:v>
                </c:pt>
                <c:pt idx="25">
                  <c:v>1.0007999999999999</c:v>
                </c:pt>
                <c:pt idx="26">
                  <c:v>1.0007999999999999</c:v>
                </c:pt>
                <c:pt idx="27">
                  <c:v>1.0016</c:v>
                </c:pt>
                <c:pt idx="28">
                  <c:v>1.0016</c:v>
                </c:pt>
                <c:pt idx="29">
                  <c:v>1.0016</c:v>
                </c:pt>
                <c:pt idx="30">
                  <c:v>1.0016</c:v>
                </c:pt>
                <c:pt idx="31">
                  <c:v>1.0016</c:v>
                </c:pt>
                <c:pt idx="32">
                  <c:v>1.0024999999999999</c:v>
                </c:pt>
                <c:pt idx="33">
                  <c:v>1.0024999999999999</c:v>
                </c:pt>
                <c:pt idx="34">
                  <c:v>1.0024999999999999</c:v>
                </c:pt>
                <c:pt idx="35">
                  <c:v>1.0024999999999999</c:v>
                </c:pt>
                <c:pt idx="36">
                  <c:v>1.0024999999999999</c:v>
                </c:pt>
                <c:pt idx="37">
                  <c:v>1.0028999999999999</c:v>
                </c:pt>
                <c:pt idx="38">
                  <c:v>1.0028999999999999</c:v>
                </c:pt>
                <c:pt idx="39">
                  <c:v>1.0028999999999999</c:v>
                </c:pt>
                <c:pt idx="40">
                  <c:v>1.0028999999999999</c:v>
                </c:pt>
                <c:pt idx="41">
                  <c:v>1.0028999999999999</c:v>
                </c:pt>
                <c:pt idx="42">
                  <c:v>1.0028999999999999</c:v>
                </c:pt>
                <c:pt idx="43">
                  <c:v>1.0028999999999999</c:v>
                </c:pt>
                <c:pt idx="44">
                  <c:v>1.0046999999999999</c:v>
                </c:pt>
                <c:pt idx="45">
                  <c:v>1.0046999999999999</c:v>
                </c:pt>
                <c:pt idx="46">
                  <c:v>1.0046999999999999</c:v>
                </c:pt>
                <c:pt idx="47">
                  <c:v>1.0046999999999999</c:v>
                </c:pt>
                <c:pt idx="48">
                  <c:v>1.0046999999999999</c:v>
                </c:pt>
                <c:pt idx="49">
                  <c:v>1.0058</c:v>
                </c:pt>
                <c:pt idx="50">
                  <c:v>1.0058</c:v>
                </c:pt>
                <c:pt idx="51">
                  <c:v>1.0058</c:v>
                </c:pt>
                <c:pt idx="52">
                  <c:v>1.0058</c:v>
                </c:pt>
                <c:pt idx="53">
                  <c:v>1.0058</c:v>
                </c:pt>
                <c:pt idx="54">
                  <c:v>1.0065</c:v>
                </c:pt>
                <c:pt idx="55">
                  <c:v>1.0073000000000001</c:v>
                </c:pt>
                <c:pt idx="56">
                  <c:v>1.0073000000000001</c:v>
                </c:pt>
                <c:pt idx="57">
                  <c:v>1.0073000000000001</c:v>
                </c:pt>
                <c:pt idx="58">
                  <c:v>1.0073000000000001</c:v>
                </c:pt>
                <c:pt idx="59">
                  <c:v>1.008</c:v>
                </c:pt>
                <c:pt idx="60">
                  <c:v>1.008</c:v>
                </c:pt>
                <c:pt idx="61">
                  <c:v>1.008</c:v>
                </c:pt>
                <c:pt idx="62">
                  <c:v>1.008</c:v>
                </c:pt>
                <c:pt idx="63">
                  <c:v>1.008</c:v>
                </c:pt>
                <c:pt idx="64">
                  <c:v>1.0083</c:v>
                </c:pt>
                <c:pt idx="65">
                  <c:v>1.0083</c:v>
                </c:pt>
                <c:pt idx="66">
                  <c:v>1.0083</c:v>
                </c:pt>
                <c:pt idx="67">
                  <c:v>1.0083</c:v>
                </c:pt>
                <c:pt idx="68">
                  <c:v>1.0083</c:v>
                </c:pt>
                <c:pt idx="69">
                  <c:v>1.008</c:v>
                </c:pt>
                <c:pt idx="70">
                  <c:v>1.008</c:v>
                </c:pt>
                <c:pt idx="71">
                  <c:v>1.008</c:v>
                </c:pt>
                <c:pt idx="72">
                  <c:v>1.008</c:v>
                </c:pt>
                <c:pt idx="73">
                  <c:v>1.008</c:v>
                </c:pt>
                <c:pt idx="74">
                  <c:v>1.0086999999999999</c:v>
                </c:pt>
                <c:pt idx="75">
                  <c:v>1.0086999999999999</c:v>
                </c:pt>
                <c:pt idx="76">
                  <c:v>1.0086999999999999</c:v>
                </c:pt>
                <c:pt idx="77">
                  <c:v>1.0082</c:v>
                </c:pt>
                <c:pt idx="78">
                  <c:v>1.0082</c:v>
                </c:pt>
                <c:pt idx="79">
                  <c:v>1.0096000000000001</c:v>
                </c:pt>
                <c:pt idx="80">
                  <c:v>1.0096000000000001</c:v>
                </c:pt>
                <c:pt idx="81">
                  <c:v>1.0096000000000001</c:v>
                </c:pt>
                <c:pt idx="82">
                  <c:v>1.0096000000000001</c:v>
                </c:pt>
                <c:pt idx="83">
                  <c:v>1.0096000000000001</c:v>
                </c:pt>
                <c:pt idx="84">
                  <c:v>1.0075000000000001</c:v>
                </c:pt>
                <c:pt idx="85">
                  <c:v>1.0075000000000001</c:v>
                </c:pt>
                <c:pt idx="86">
                  <c:v>1.0075000000000001</c:v>
                </c:pt>
                <c:pt idx="87">
                  <c:v>1.0075000000000001</c:v>
                </c:pt>
                <c:pt idx="88">
                  <c:v>1.0075000000000001</c:v>
                </c:pt>
                <c:pt idx="89">
                  <c:v>1.0066999999999999</c:v>
                </c:pt>
                <c:pt idx="90">
                  <c:v>1.0066999999999999</c:v>
                </c:pt>
                <c:pt idx="91">
                  <c:v>1.0066999999999999</c:v>
                </c:pt>
                <c:pt idx="92">
                  <c:v>1.0066999999999999</c:v>
                </c:pt>
                <c:pt idx="93">
                  <c:v>1.0066999999999999</c:v>
                </c:pt>
                <c:pt idx="94">
                  <c:v>1.0073000000000001</c:v>
                </c:pt>
                <c:pt idx="95">
                  <c:v>1.0073000000000001</c:v>
                </c:pt>
                <c:pt idx="96">
                  <c:v>1.0073000000000001</c:v>
                </c:pt>
                <c:pt idx="97">
                  <c:v>1.0079</c:v>
                </c:pt>
                <c:pt idx="98">
                  <c:v>1.0079</c:v>
                </c:pt>
                <c:pt idx="99">
                  <c:v>1.0084</c:v>
                </c:pt>
                <c:pt idx="100">
                  <c:v>1.0084</c:v>
                </c:pt>
                <c:pt idx="101">
                  <c:v>1.0084</c:v>
                </c:pt>
                <c:pt idx="102">
                  <c:v>1.0084</c:v>
                </c:pt>
                <c:pt idx="103">
                  <c:v>1.0084</c:v>
                </c:pt>
                <c:pt idx="104">
                  <c:v>1.0084</c:v>
                </c:pt>
                <c:pt idx="105">
                  <c:v>1.0084</c:v>
                </c:pt>
                <c:pt idx="106">
                  <c:v>1.0084</c:v>
                </c:pt>
                <c:pt idx="107">
                  <c:v>1.0084</c:v>
                </c:pt>
                <c:pt idx="108">
                  <c:v>1.0084</c:v>
                </c:pt>
                <c:pt idx="109">
                  <c:v>1.0084</c:v>
                </c:pt>
                <c:pt idx="110">
                  <c:v>1.0084</c:v>
                </c:pt>
                <c:pt idx="111">
                  <c:v>1.0084</c:v>
                </c:pt>
                <c:pt idx="112">
                  <c:v>1.0084</c:v>
                </c:pt>
                <c:pt idx="113">
                  <c:v>1.0084</c:v>
                </c:pt>
                <c:pt idx="114">
                  <c:v>1.0084</c:v>
                </c:pt>
                <c:pt idx="115">
                  <c:v>1.0084</c:v>
                </c:pt>
                <c:pt idx="116">
                  <c:v>1.0084</c:v>
                </c:pt>
                <c:pt idx="117">
                  <c:v>1.0084</c:v>
                </c:pt>
                <c:pt idx="118">
                  <c:v>1.0084</c:v>
                </c:pt>
                <c:pt idx="119">
                  <c:v>1.0084</c:v>
                </c:pt>
                <c:pt idx="120">
                  <c:v>1.0084</c:v>
                </c:pt>
                <c:pt idx="121">
                  <c:v>1.0084</c:v>
                </c:pt>
                <c:pt idx="122">
                  <c:v>1.0084</c:v>
                </c:pt>
                <c:pt idx="123">
                  <c:v>1.0084</c:v>
                </c:pt>
                <c:pt idx="124">
                  <c:v>1.0084</c:v>
                </c:pt>
                <c:pt idx="125">
                  <c:v>1.0084</c:v>
                </c:pt>
                <c:pt idx="126">
                  <c:v>1.0084</c:v>
                </c:pt>
                <c:pt idx="127">
                  <c:v>1.0084</c:v>
                </c:pt>
                <c:pt idx="128">
                  <c:v>1.0084</c:v>
                </c:pt>
                <c:pt idx="129">
                  <c:v>1.0167999999999999</c:v>
                </c:pt>
                <c:pt idx="130">
                  <c:v>1.0167999999999999</c:v>
                </c:pt>
                <c:pt idx="131">
                  <c:v>1.0167999999999999</c:v>
                </c:pt>
                <c:pt idx="132">
                  <c:v>1.0167999999999999</c:v>
                </c:pt>
                <c:pt idx="133">
                  <c:v>1.0167999999999999</c:v>
                </c:pt>
                <c:pt idx="134">
                  <c:v>1.0189999999999999</c:v>
                </c:pt>
                <c:pt idx="135">
                  <c:v>1.0189999999999999</c:v>
                </c:pt>
                <c:pt idx="136">
                  <c:v>1.0189999999999999</c:v>
                </c:pt>
                <c:pt idx="137">
                  <c:v>1.0189999999999999</c:v>
                </c:pt>
                <c:pt idx="138">
                  <c:v>1.0189999999999999</c:v>
                </c:pt>
                <c:pt idx="139">
                  <c:v>1.0189999999999999</c:v>
                </c:pt>
                <c:pt idx="140">
                  <c:v>1.0189999999999999</c:v>
                </c:pt>
                <c:pt idx="141">
                  <c:v>1.0196000000000001</c:v>
                </c:pt>
                <c:pt idx="142">
                  <c:v>1.0196000000000001</c:v>
                </c:pt>
                <c:pt idx="143">
                  <c:v>1.0197000000000001</c:v>
                </c:pt>
                <c:pt idx="144">
                  <c:v>1.0203</c:v>
                </c:pt>
                <c:pt idx="145">
                  <c:v>1.0203</c:v>
                </c:pt>
                <c:pt idx="146">
                  <c:v>1.0214000000000001</c:v>
                </c:pt>
                <c:pt idx="147">
                  <c:v>1.0214000000000001</c:v>
                </c:pt>
                <c:pt idx="148">
                  <c:v>1.0214000000000001</c:v>
                </c:pt>
                <c:pt idx="149">
                  <c:v>1.0235000000000001</c:v>
                </c:pt>
                <c:pt idx="150">
                  <c:v>1.0235000000000001</c:v>
                </c:pt>
                <c:pt idx="151">
                  <c:v>1.0242</c:v>
                </c:pt>
                <c:pt idx="152">
                  <c:v>1.0242</c:v>
                </c:pt>
                <c:pt idx="153">
                  <c:v>1.0242</c:v>
                </c:pt>
                <c:pt idx="154">
                  <c:v>1.0245</c:v>
                </c:pt>
                <c:pt idx="155">
                  <c:v>1.0245</c:v>
                </c:pt>
                <c:pt idx="156">
                  <c:v>1.0248999999999999</c:v>
                </c:pt>
                <c:pt idx="157">
                  <c:v>1.0248999999999999</c:v>
                </c:pt>
                <c:pt idx="158">
                  <c:v>1.0248999999999999</c:v>
                </c:pt>
                <c:pt idx="159">
                  <c:v>1.0253000000000001</c:v>
                </c:pt>
                <c:pt idx="160">
                  <c:v>1.0253000000000001</c:v>
                </c:pt>
                <c:pt idx="161">
                  <c:v>1.0253000000000001</c:v>
                </c:pt>
                <c:pt idx="162">
                  <c:v>1.0253000000000001</c:v>
                </c:pt>
                <c:pt idx="163">
                  <c:v>1.0259</c:v>
                </c:pt>
                <c:pt idx="164">
                  <c:v>1.0259</c:v>
                </c:pt>
                <c:pt idx="165">
                  <c:v>1.0266999999999999</c:v>
                </c:pt>
                <c:pt idx="166">
                  <c:v>1.0266999999999999</c:v>
                </c:pt>
                <c:pt idx="167">
                  <c:v>1.0266999999999999</c:v>
                </c:pt>
                <c:pt idx="168">
                  <c:v>1.0279</c:v>
                </c:pt>
                <c:pt idx="169">
                  <c:v>1.0279</c:v>
                </c:pt>
                <c:pt idx="170">
                  <c:v>1.0278</c:v>
                </c:pt>
                <c:pt idx="171">
                  <c:v>1.0278</c:v>
                </c:pt>
                <c:pt idx="172">
                  <c:v>1.0278</c:v>
                </c:pt>
                <c:pt idx="173">
                  <c:v>1.0284</c:v>
                </c:pt>
                <c:pt idx="174">
                  <c:v>1.0284</c:v>
                </c:pt>
                <c:pt idx="175">
                  <c:v>1.0290999999999999</c:v>
                </c:pt>
                <c:pt idx="176">
                  <c:v>1.0290999999999999</c:v>
                </c:pt>
                <c:pt idx="177">
                  <c:v>1.0290999999999999</c:v>
                </c:pt>
                <c:pt idx="178">
                  <c:v>1.0290999999999999</c:v>
                </c:pt>
                <c:pt idx="179">
                  <c:v>1.0301</c:v>
                </c:pt>
                <c:pt idx="180">
                  <c:v>1.0301</c:v>
                </c:pt>
                <c:pt idx="181">
                  <c:v>1.0301</c:v>
                </c:pt>
                <c:pt idx="182">
                  <c:v>1.0301</c:v>
                </c:pt>
                <c:pt idx="183">
                  <c:v>1.0318000000000001</c:v>
                </c:pt>
                <c:pt idx="184">
                  <c:v>1.0318000000000001</c:v>
                </c:pt>
                <c:pt idx="185">
                  <c:v>1.0318000000000001</c:v>
                </c:pt>
                <c:pt idx="186">
                  <c:v>1.0318000000000001</c:v>
                </c:pt>
                <c:pt idx="187">
                  <c:v>1.0318000000000001</c:v>
                </c:pt>
                <c:pt idx="188">
                  <c:v>1.0318000000000001</c:v>
                </c:pt>
                <c:pt idx="189">
                  <c:v>1.0330999999999999</c:v>
                </c:pt>
                <c:pt idx="190">
                  <c:v>1.0330999999999999</c:v>
                </c:pt>
                <c:pt idx="191">
                  <c:v>1.0330999999999999</c:v>
                </c:pt>
                <c:pt idx="192">
                  <c:v>1.0339</c:v>
                </c:pt>
                <c:pt idx="193">
                  <c:v>1.0339</c:v>
                </c:pt>
                <c:pt idx="194">
                  <c:v>1.0341</c:v>
                </c:pt>
                <c:pt idx="195">
                  <c:v>1.0341</c:v>
                </c:pt>
                <c:pt idx="196">
                  <c:v>1.0341</c:v>
                </c:pt>
                <c:pt idx="197">
                  <c:v>1.0341</c:v>
                </c:pt>
                <c:pt idx="198">
                  <c:v>1.0349999999999999</c:v>
                </c:pt>
                <c:pt idx="199">
                  <c:v>1.0351999999999999</c:v>
                </c:pt>
                <c:pt idx="200">
                  <c:v>1.0351999999999999</c:v>
                </c:pt>
                <c:pt idx="201">
                  <c:v>1.0357000000000001</c:v>
                </c:pt>
                <c:pt idx="202">
                  <c:v>1.0357000000000001</c:v>
                </c:pt>
                <c:pt idx="203">
                  <c:v>1.0357000000000001</c:v>
                </c:pt>
                <c:pt idx="204">
                  <c:v>1.0361</c:v>
                </c:pt>
                <c:pt idx="205">
                  <c:v>1.0361</c:v>
                </c:pt>
                <c:pt idx="206">
                  <c:v>1.0361</c:v>
                </c:pt>
                <c:pt idx="207">
                  <c:v>1.0361</c:v>
                </c:pt>
                <c:pt idx="208">
                  <c:v>1.0361</c:v>
                </c:pt>
                <c:pt idx="209">
                  <c:v>1.0369999999999999</c:v>
                </c:pt>
                <c:pt idx="210">
                  <c:v>1.0369999999999999</c:v>
                </c:pt>
                <c:pt idx="211">
                  <c:v>1.0376000000000001</c:v>
                </c:pt>
                <c:pt idx="212">
                  <c:v>1.0379</c:v>
                </c:pt>
                <c:pt idx="213">
                  <c:v>1.0379</c:v>
                </c:pt>
                <c:pt idx="214">
                  <c:v>1.0382</c:v>
                </c:pt>
                <c:pt idx="215">
                  <c:v>1.0382</c:v>
                </c:pt>
                <c:pt idx="216">
                  <c:v>1.0382</c:v>
                </c:pt>
                <c:pt idx="217">
                  <c:v>1.0401</c:v>
                </c:pt>
                <c:pt idx="218">
                  <c:v>1.0401</c:v>
                </c:pt>
                <c:pt idx="219">
                  <c:v>1.0401</c:v>
                </c:pt>
                <c:pt idx="220">
                  <c:v>1.0406</c:v>
                </c:pt>
                <c:pt idx="221">
                  <c:v>1.0407999999999999</c:v>
                </c:pt>
                <c:pt idx="222">
                  <c:v>1.0407999999999999</c:v>
                </c:pt>
                <c:pt idx="223">
                  <c:v>1.0410999999999999</c:v>
                </c:pt>
                <c:pt idx="224">
                  <c:v>1.0410999999999999</c:v>
                </c:pt>
                <c:pt idx="225">
                  <c:v>1.0410999999999999</c:v>
                </c:pt>
                <c:pt idx="226">
                  <c:v>1.0410999999999999</c:v>
                </c:pt>
                <c:pt idx="227">
                  <c:v>1.0410999999999999</c:v>
                </c:pt>
                <c:pt idx="228">
                  <c:v>1.0424</c:v>
                </c:pt>
                <c:pt idx="229">
                  <c:v>1.0424</c:v>
                </c:pt>
                <c:pt idx="230">
                  <c:v>1.0429999999999999</c:v>
                </c:pt>
                <c:pt idx="231">
                  <c:v>1.0431999999999999</c:v>
                </c:pt>
                <c:pt idx="232">
                  <c:v>1.0431999999999999</c:v>
                </c:pt>
                <c:pt idx="233">
                  <c:v>1.0437000000000001</c:v>
                </c:pt>
                <c:pt idx="234">
                  <c:v>1.0437000000000001</c:v>
                </c:pt>
                <c:pt idx="235">
                  <c:v>1.0437000000000001</c:v>
                </c:pt>
                <c:pt idx="236">
                  <c:v>1.0443</c:v>
                </c:pt>
                <c:pt idx="237">
                  <c:v>1.0445</c:v>
                </c:pt>
                <c:pt idx="238">
                  <c:v>1.0446</c:v>
                </c:pt>
                <c:pt idx="239">
                  <c:v>1.0446</c:v>
                </c:pt>
                <c:pt idx="240">
                  <c:v>1.0446</c:v>
                </c:pt>
                <c:pt idx="241">
                  <c:v>1.0451999999999999</c:v>
                </c:pt>
                <c:pt idx="242">
                  <c:v>1.0452999999999999</c:v>
                </c:pt>
                <c:pt idx="243">
                  <c:v>1.0454000000000001</c:v>
                </c:pt>
                <c:pt idx="244">
                  <c:v>1.0456000000000001</c:v>
                </c:pt>
                <c:pt idx="245">
                  <c:v>1.0456000000000001</c:v>
                </c:pt>
                <c:pt idx="246">
                  <c:v>1.0459000000000001</c:v>
                </c:pt>
                <c:pt idx="247">
                  <c:v>1.0459000000000001</c:v>
                </c:pt>
                <c:pt idx="248">
                  <c:v>1.0465</c:v>
                </c:pt>
                <c:pt idx="249">
                  <c:v>1.0465</c:v>
                </c:pt>
                <c:pt idx="250">
                  <c:v>1.0465</c:v>
                </c:pt>
                <c:pt idx="251">
                  <c:v>1.0472999999999999</c:v>
                </c:pt>
                <c:pt idx="252">
                  <c:v>1.0472999999999999</c:v>
                </c:pt>
                <c:pt idx="253">
                  <c:v>1.0479000000000001</c:v>
                </c:pt>
                <c:pt idx="254">
                  <c:v>1.0479000000000001</c:v>
                </c:pt>
                <c:pt idx="255">
                  <c:v>1.0486</c:v>
                </c:pt>
                <c:pt idx="256">
                  <c:v>1.0490999999999999</c:v>
                </c:pt>
                <c:pt idx="257">
                  <c:v>1.0490999999999999</c:v>
                </c:pt>
                <c:pt idx="258">
                  <c:v>1.0495000000000001</c:v>
                </c:pt>
                <c:pt idx="259">
                  <c:v>1.0501</c:v>
                </c:pt>
                <c:pt idx="260">
                  <c:v>1.0505</c:v>
                </c:pt>
                <c:pt idx="261">
                  <c:v>1.0508</c:v>
                </c:pt>
                <c:pt idx="262">
                  <c:v>1.0508</c:v>
                </c:pt>
                <c:pt idx="263">
                  <c:v>1.0511999999999999</c:v>
                </c:pt>
                <c:pt idx="264">
                  <c:v>1.0511999999999999</c:v>
                </c:pt>
                <c:pt idx="265">
                  <c:v>1.0511999999999999</c:v>
                </c:pt>
                <c:pt idx="266">
                  <c:v>1.0517000000000001</c:v>
                </c:pt>
                <c:pt idx="267">
                  <c:v>1.052</c:v>
                </c:pt>
                <c:pt idx="268">
                  <c:v>1.0521</c:v>
                </c:pt>
                <c:pt idx="269">
                  <c:v>1.0521</c:v>
                </c:pt>
                <c:pt idx="270">
                  <c:v>1.0521</c:v>
                </c:pt>
                <c:pt idx="271">
                  <c:v>1.0522</c:v>
                </c:pt>
                <c:pt idx="272">
                  <c:v>1.0522</c:v>
                </c:pt>
                <c:pt idx="273">
                  <c:v>1.0516000000000001</c:v>
                </c:pt>
                <c:pt idx="274">
                  <c:v>1.0516000000000001</c:v>
                </c:pt>
                <c:pt idx="275">
                  <c:v>1.0513999999999999</c:v>
                </c:pt>
                <c:pt idx="276">
                  <c:v>1.0518000000000001</c:v>
                </c:pt>
                <c:pt idx="277">
                  <c:v>1.0518000000000001</c:v>
                </c:pt>
                <c:pt idx="278">
                  <c:v>1.0527</c:v>
                </c:pt>
                <c:pt idx="279">
                  <c:v>1.0527</c:v>
                </c:pt>
                <c:pt idx="280">
                  <c:v>1.0530999999999999</c:v>
                </c:pt>
                <c:pt idx="281">
                  <c:v>1.0535000000000001</c:v>
                </c:pt>
                <c:pt idx="282">
                  <c:v>1.0535000000000001</c:v>
                </c:pt>
                <c:pt idx="283">
                  <c:v>1.0541</c:v>
                </c:pt>
                <c:pt idx="284">
                  <c:v>1.0541</c:v>
                </c:pt>
                <c:pt idx="285">
                  <c:v>1.0541</c:v>
                </c:pt>
                <c:pt idx="286">
                  <c:v>1.0546</c:v>
                </c:pt>
                <c:pt idx="287">
                  <c:v>1.0548</c:v>
                </c:pt>
                <c:pt idx="288">
                  <c:v>1.0548</c:v>
                </c:pt>
                <c:pt idx="289">
                  <c:v>1.0548</c:v>
                </c:pt>
                <c:pt idx="290">
                  <c:v>1.0548</c:v>
                </c:pt>
                <c:pt idx="291">
                  <c:v>1.0566</c:v>
                </c:pt>
                <c:pt idx="292">
                  <c:v>1.0568</c:v>
                </c:pt>
                <c:pt idx="293">
                  <c:v>1.0568</c:v>
                </c:pt>
                <c:pt idx="294">
                  <c:v>1.0571999999999999</c:v>
                </c:pt>
                <c:pt idx="295">
                  <c:v>1.0571999999999999</c:v>
                </c:pt>
                <c:pt idx="296">
                  <c:v>1.0585</c:v>
                </c:pt>
                <c:pt idx="297">
                  <c:v>1.0586</c:v>
                </c:pt>
                <c:pt idx="298">
                  <c:v>1.0586</c:v>
                </c:pt>
                <c:pt idx="299">
                  <c:v>1.0587</c:v>
                </c:pt>
                <c:pt idx="300">
                  <c:v>1.0587</c:v>
                </c:pt>
                <c:pt idx="301">
                  <c:v>1.0590999999999999</c:v>
                </c:pt>
                <c:pt idx="302">
                  <c:v>1.0592999999999999</c:v>
                </c:pt>
                <c:pt idx="303">
                  <c:v>1.0592999999999999</c:v>
                </c:pt>
                <c:pt idx="304">
                  <c:v>1.0596000000000001</c:v>
                </c:pt>
                <c:pt idx="305">
                  <c:v>1.0596000000000001</c:v>
                </c:pt>
                <c:pt idx="306">
                  <c:v>1.0603</c:v>
                </c:pt>
                <c:pt idx="307">
                  <c:v>1.0606</c:v>
                </c:pt>
                <c:pt idx="308">
                  <c:v>1.0609999999999999</c:v>
                </c:pt>
                <c:pt idx="309">
                  <c:v>1.0611999999999999</c:v>
                </c:pt>
                <c:pt idx="310">
                  <c:v>1.0611999999999999</c:v>
                </c:pt>
                <c:pt idx="311">
                  <c:v>1.0611999999999999</c:v>
                </c:pt>
                <c:pt idx="312">
                  <c:v>1.0617000000000001</c:v>
                </c:pt>
                <c:pt idx="313">
                  <c:v>1.0617000000000001</c:v>
                </c:pt>
                <c:pt idx="314">
                  <c:v>1.0626</c:v>
                </c:pt>
                <c:pt idx="315">
                  <c:v>1.0626</c:v>
                </c:pt>
                <c:pt idx="316">
                  <c:v>1.0636000000000001</c:v>
                </c:pt>
                <c:pt idx="317">
                  <c:v>1.0640000000000001</c:v>
                </c:pt>
                <c:pt idx="318">
                  <c:v>1.0640000000000001</c:v>
                </c:pt>
                <c:pt idx="319">
                  <c:v>1.0646</c:v>
                </c:pt>
                <c:pt idx="320">
                  <c:v>1.0646</c:v>
                </c:pt>
                <c:pt idx="321">
                  <c:v>1.0654999999999999</c:v>
                </c:pt>
                <c:pt idx="322">
                  <c:v>1.0657000000000001</c:v>
                </c:pt>
                <c:pt idx="323">
                  <c:v>1.0657000000000001</c:v>
                </c:pt>
                <c:pt idx="324">
                  <c:v>1.0659000000000001</c:v>
                </c:pt>
                <c:pt idx="325">
                  <c:v>1.0659000000000001</c:v>
                </c:pt>
                <c:pt idx="326">
                  <c:v>1.0659000000000001</c:v>
                </c:pt>
                <c:pt idx="327">
                  <c:v>1.0664</c:v>
                </c:pt>
                <c:pt idx="328">
                  <c:v>1.0665</c:v>
                </c:pt>
                <c:pt idx="329">
                  <c:v>1.0668</c:v>
                </c:pt>
                <c:pt idx="330">
                  <c:v>1.0668</c:v>
                </c:pt>
                <c:pt idx="331">
                  <c:v>1.0671999999999999</c:v>
                </c:pt>
                <c:pt idx="332">
                  <c:v>1.0671999999999999</c:v>
                </c:pt>
                <c:pt idx="333">
                  <c:v>1.0671999999999999</c:v>
                </c:pt>
                <c:pt idx="334">
                  <c:v>1.0674999999999999</c:v>
                </c:pt>
                <c:pt idx="335">
                  <c:v>1.0674999999999999</c:v>
                </c:pt>
                <c:pt idx="336">
                  <c:v>1.0679000000000001</c:v>
                </c:pt>
                <c:pt idx="337">
                  <c:v>1.0681</c:v>
                </c:pt>
                <c:pt idx="338">
                  <c:v>1.0681</c:v>
                </c:pt>
                <c:pt idx="339">
                  <c:v>1.0687</c:v>
                </c:pt>
                <c:pt idx="340">
                  <c:v>1.0687</c:v>
                </c:pt>
                <c:pt idx="341">
                  <c:v>1.0687</c:v>
                </c:pt>
                <c:pt idx="342">
                  <c:v>1.0696000000000001</c:v>
                </c:pt>
                <c:pt idx="343">
                  <c:v>1.0696000000000001</c:v>
                </c:pt>
                <c:pt idx="344">
                  <c:v>1.07</c:v>
                </c:pt>
                <c:pt idx="345">
                  <c:v>1.07</c:v>
                </c:pt>
                <c:pt idx="346">
                  <c:v>1.0708</c:v>
                </c:pt>
                <c:pt idx="347">
                  <c:v>1.0712999999999999</c:v>
                </c:pt>
                <c:pt idx="348">
                  <c:v>1.0712999999999999</c:v>
                </c:pt>
                <c:pt idx="349">
                  <c:v>1.0726</c:v>
                </c:pt>
                <c:pt idx="350">
                  <c:v>1.0726</c:v>
                </c:pt>
                <c:pt idx="351">
                  <c:v>1.0726</c:v>
                </c:pt>
                <c:pt idx="352">
                  <c:v>1.0733999999999999</c:v>
                </c:pt>
                <c:pt idx="353">
                  <c:v>1.0733999999999999</c:v>
                </c:pt>
                <c:pt idx="354">
                  <c:v>1.0739000000000001</c:v>
                </c:pt>
                <c:pt idx="355">
                  <c:v>1.0739000000000001</c:v>
                </c:pt>
                <c:pt idx="356">
                  <c:v>1.0749</c:v>
                </c:pt>
                <c:pt idx="357">
                  <c:v>1.0750999999999999</c:v>
                </c:pt>
                <c:pt idx="358">
                  <c:v>1.0752999999999999</c:v>
                </c:pt>
                <c:pt idx="359">
                  <c:v>1.0746</c:v>
                </c:pt>
                <c:pt idx="360">
                  <c:v>1.0746</c:v>
                </c:pt>
                <c:pt idx="361">
                  <c:v>1.0760000000000001</c:v>
                </c:pt>
                <c:pt idx="362">
                  <c:v>1.0763</c:v>
                </c:pt>
                <c:pt idx="363">
                  <c:v>1.0763</c:v>
                </c:pt>
                <c:pt idx="364">
                  <c:v>1.077</c:v>
                </c:pt>
                <c:pt idx="365">
                  <c:v>1.077</c:v>
                </c:pt>
                <c:pt idx="366">
                  <c:v>1.0779000000000001</c:v>
                </c:pt>
                <c:pt idx="367">
                  <c:v>1.0783</c:v>
                </c:pt>
                <c:pt idx="368">
                  <c:v>1.0783</c:v>
                </c:pt>
                <c:pt idx="369">
                  <c:v>1.0788</c:v>
                </c:pt>
                <c:pt idx="370">
                  <c:v>1.0788</c:v>
                </c:pt>
                <c:pt idx="371">
                  <c:v>1.0795999999999999</c:v>
                </c:pt>
                <c:pt idx="372">
                  <c:v>1.0802</c:v>
                </c:pt>
                <c:pt idx="373">
                  <c:v>1.0802</c:v>
                </c:pt>
                <c:pt idx="374">
                  <c:v>1.0807</c:v>
                </c:pt>
                <c:pt idx="375">
                  <c:v>1.0807</c:v>
                </c:pt>
                <c:pt idx="376">
                  <c:v>1.0807</c:v>
                </c:pt>
                <c:pt idx="377">
                  <c:v>1.081</c:v>
                </c:pt>
                <c:pt idx="378">
                  <c:v>1.0812999999999999</c:v>
                </c:pt>
                <c:pt idx="379">
                  <c:v>1.0817000000000001</c:v>
                </c:pt>
                <c:pt idx="380">
                  <c:v>1.0817000000000001</c:v>
                </c:pt>
                <c:pt idx="381">
                  <c:v>1.0817000000000001</c:v>
                </c:pt>
                <c:pt idx="382">
                  <c:v>1.0817000000000001</c:v>
                </c:pt>
                <c:pt idx="383">
                  <c:v>1.0817000000000001</c:v>
                </c:pt>
                <c:pt idx="384">
                  <c:v>1.0817000000000001</c:v>
                </c:pt>
                <c:pt idx="385">
                  <c:v>1.0817000000000001</c:v>
                </c:pt>
                <c:pt idx="386">
                  <c:v>1.0845</c:v>
                </c:pt>
                <c:pt idx="387">
                  <c:v>1.0845</c:v>
                </c:pt>
                <c:pt idx="388">
                  <c:v>1.0845</c:v>
                </c:pt>
                <c:pt idx="389">
                  <c:v>1.0857000000000001</c:v>
                </c:pt>
                <c:pt idx="390">
                  <c:v>1.0863</c:v>
                </c:pt>
                <c:pt idx="391">
                  <c:v>1.0863</c:v>
                </c:pt>
                <c:pt idx="392">
                  <c:v>1.0863</c:v>
                </c:pt>
                <c:pt idx="393">
                  <c:v>1.0873999999999999</c:v>
                </c:pt>
                <c:pt idx="394">
                  <c:v>1.0876999999999999</c:v>
                </c:pt>
                <c:pt idx="395">
                  <c:v>1.0876999999999999</c:v>
                </c:pt>
                <c:pt idx="396">
                  <c:v>1.0886</c:v>
                </c:pt>
                <c:pt idx="397">
                  <c:v>1.0886</c:v>
                </c:pt>
                <c:pt idx="398">
                  <c:v>1.0886</c:v>
                </c:pt>
                <c:pt idx="399">
                  <c:v>1.0883</c:v>
                </c:pt>
                <c:pt idx="400">
                  <c:v>1.0883</c:v>
                </c:pt>
                <c:pt idx="401">
                  <c:v>1.0884</c:v>
                </c:pt>
                <c:pt idx="402">
                  <c:v>1.0884</c:v>
                </c:pt>
                <c:pt idx="403">
                  <c:v>1.0884</c:v>
                </c:pt>
                <c:pt idx="404">
                  <c:v>1.0892999999999999</c:v>
                </c:pt>
                <c:pt idx="405">
                  <c:v>1.0892999999999999</c:v>
                </c:pt>
                <c:pt idx="406">
                  <c:v>1.0896999999999999</c:v>
                </c:pt>
                <c:pt idx="407">
                  <c:v>1.0901000000000001</c:v>
                </c:pt>
                <c:pt idx="408">
                  <c:v>1.0903</c:v>
                </c:pt>
                <c:pt idx="409">
                  <c:v>1.0902000000000001</c:v>
                </c:pt>
                <c:pt idx="410">
                  <c:v>1.0902000000000001</c:v>
                </c:pt>
                <c:pt idx="411">
                  <c:v>1.091</c:v>
                </c:pt>
                <c:pt idx="412">
                  <c:v>1.091</c:v>
                </c:pt>
                <c:pt idx="413">
                  <c:v>1.0916999999999999</c:v>
                </c:pt>
                <c:pt idx="414">
                  <c:v>1.0923</c:v>
                </c:pt>
                <c:pt idx="415">
                  <c:v>1.0923</c:v>
                </c:pt>
                <c:pt idx="416">
                  <c:v>1.0923</c:v>
                </c:pt>
                <c:pt idx="417">
                  <c:v>1.0923</c:v>
                </c:pt>
                <c:pt idx="418">
                  <c:v>1.0940000000000001</c:v>
                </c:pt>
                <c:pt idx="419">
                  <c:v>1.0940000000000001</c:v>
                </c:pt>
                <c:pt idx="420">
                  <c:v>1.0949</c:v>
                </c:pt>
                <c:pt idx="421">
                  <c:v>1.0949</c:v>
                </c:pt>
                <c:pt idx="422">
                  <c:v>1.0949</c:v>
                </c:pt>
                <c:pt idx="423">
                  <c:v>1.0965</c:v>
                </c:pt>
                <c:pt idx="424">
                  <c:v>1.0965</c:v>
                </c:pt>
                <c:pt idx="425">
                  <c:v>1.0973999999999999</c:v>
                </c:pt>
                <c:pt idx="426">
                  <c:v>1.0982000000000001</c:v>
                </c:pt>
                <c:pt idx="427">
                  <c:v>1.0982000000000001</c:v>
                </c:pt>
                <c:pt idx="428">
                  <c:v>1.0986</c:v>
                </c:pt>
                <c:pt idx="429">
                  <c:v>1.0985</c:v>
                </c:pt>
                <c:pt idx="430">
                  <c:v>1.0981000000000001</c:v>
                </c:pt>
                <c:pt idx="431">
                  <c:v>1.0981000000000001</c:v>
                </c:pt>
                <c:pt idx="432">
                  <c:v>1.0981000000000001</c:v>
                </c:pt>
                <c:pt idx="433">
                  <c:v>1.0985</c:v>
                </c:pt>
                <c:pt idx="434">
                  <c:v>1.0993999999999999</c:v>
                </c:pt>
                <c:pt idx="435">
                  <c:v>1.1002000000000001</c:v>
                </c:pt>
                <c:pt idx="436">
                  <c:v>1.1007</c:v>
                </c:pt>
                <c:pt idx="437">
                  <c:v>1.1007</c:v>
                </c:pt>
                <c:pt idx="438">
                  <c:v>1.1011</c:v>
                </c:pt>
                <c:pt idx="439">
                  <c:v>1.1011</c:v>
                </c:pt>
                <c:pt idx="440">
                  <c:v>1.1011</c:v>
                </c:pt>
                <c:pt idx="441">
                  <c:v>1.1011</c:v>
                </c:pt>
                <c:pt idx="442">
                  <c:v>1.1027</c:v>
                </c:pt>
                <c:pt idx="443">
                  <c:v>1.1027</c:v>
                </c:pt>
                <c:pt idx="444">
                  <c:v>1.1031</c:v>
                </c:pt>
                <c:pt idx="445">
                  <c:v>1.1031</c:v>
                </c:pt>
                <c:pt idx="446">
                  <c:v>1.1031</c:v>
                </c:pt>
                <c:pt idx="447">
                  <c:v>1.1044</c:v>
                </c:pt>
                <c:pt idx="448">
                  <c:v>1.1047</c:v>
                </c:pt>
                <c:pt idx="449">
                  <c:v>1.1051</c:v>
                </c:pt>
                <c:pt idx="450">
                  <c:v>1.1056999999999999</c:v>
                </c:pt>
                <c:pt idx="451">
                  <c:v>1.1056999999999999</c:v>
                </c:pt>
                <c:pt idx="452">
                  <c:v>1.1065</c:v>
                </c:pt>
                <c:pt idx="453">
                  <c:v>1.1065</c:v>
                </c:pt>
                <c:pt idx="454">
                  <c:v>1.1072</c:v>
                </c:pt>
                <c:pt idx="455">
                  <c:v>1.1079000000000001</c:v>
                </c:pt>
                <c:pt idx="456">
                  <c:v>1.1082000000000001</c:v>
                </c:pt>
                <c:pt idx="457">
                  <c:v>1.1087</c:v>
                </c:pt>
                <c:pt idx="458">
                  <c:v>1.1087</c:v>
                </c:pt>
                <c:pt idx="459">
                  <c:v>1.1094999999999999</c:v>
                </c:pt>
                <c:pt idx="460">
                  <c:v>1.1094999999999999</c:v>
                </c:pt>
                <c:pt idx="461">
                  <c:v>1.1104000000000001</c:v>
                </c:pt>
                <c:pt idx="462">
                  <c:v>1.1104000000000001</c:v>
                </c:pt>
                <c:pt idx="463">
                  <c:v>1.1111</c:v>
                </c:pt>
                <c:pt idx="464">
                  <c:v>1.1111</c:v>
                </c:pt>
                <c:pt idx="465">
                  <c:v>1.1117999999999999</c:v>
                </c:pt>
                <c:pt idx="466">
                  <c:v>1.1119000000000001</c:v>
                </c:pt>
                <c:pt idx="467">
                  <c:v>1.1121000000000001</c:v>
                </c:pt>
                <c:pt idx="468">
                  <c:v>1.1121000000000001</c:v>
                </c:pt>
                <c:pt idx="469">
                  <c:v>1.1121000000000001</c:v>
                </c:pt>
                <c:pt idx="470">
                  <c:v>1.1121000000000001</c:v>
                </c:pt>
                <c:pt idx="471">
                  <c:v>1.1129</c:v>
                </c:pt>
                <c:pt idx="472">
                  <c:v>1.1133</c:v>
                </c:pt>
                <c:pt idx="473">
                  <c:v>1.1137999999999999</c:v>
                </c:pt>
                <c:pt idx="474">
                  <c:v>1.1141000000000001</c:v>
                </c:pt>
                <c:pt idx="475">
                  <c:v>1.1143000000000001</c:v>
                </c:pt>
                <c:pt idx="476">
                  <c:v>1.1145</c:v>
                </c:pt>
                <c:pt idx="477">
                  <c:v>1.1145</c:v>
                </c:pt>
                <c:pt idx="478">
                  <c:v>1.1149</c:v>
                </c:pt>
                <c:pt idx="479">
                  <c:v>1.1149</c:v>
                </c:pt>
                <c:pt idx="480">
                  <c:v>1.1153</c:v>
                </c:pt>
                <c:pt idx="481">
                  <c:v>1.1154999999999999</c:v>
                </c:pt>
                <c:pt idx="482">
                  <c:v>1.1154999999999999</c:v>
                </c:pt>
                <c:pt idx="483">
                  <c:v>1.1160000000000001</c:v>
                </c:pt>
                <c:pt idx="484">
                  <c:v>1.1160000000000001</c:v>
                </c:pt>
                <c:pt idx="485">
                  <c:v>1.1168</c:v>
                </c:pt>
                <c:pt idx="486">
                  <c:v>1.1169</c:v>
                </c:pt>
                <c:pt idx="487">
                  <c:v>1.1171</c:v>
                </c:pt>
                <c:pt idx="488">
                  <c:v>1.1172</c:v>
                </c:pt>
                <c:pt idx="489">
                  <c:v>1.1172</c:v>
                </c:pt>
                <c:pt idx="490">
                  <c:v>1.1182000000000001</c:v>
                </c:pt>
                <c:pt idx="491">
                  <c:v>1.1186</c:v>
                </c:pt>
                <c:pt idx="492">
                  <c:v>1.1186</c:v>
                </c:pt>
                <c:pt idx="493">
                  <c:v>1.1194999999999999</c:v>
                </c:pt>
                <c:pt idx="494">
                  <c:v>1.1201000000000001</c:v>
                </c:pt>
                <c:pt idx="495">
                  <c:v>1.1207</c:v>
                </c:pt>
                <c:pt idx="496">
                  <c:v>1.1211</c:v>
                </c:pt>
                <c:pt idx="497">
                  <c:v>1.1215999999999999</c:v>
                </c:pt>
                <c:pt idx="498">
                  <c:v>1.1218999999999999</c:v>
                </c:pt>
                <c:pt idx="499">
                  <c:v>1.1225000000000001</c:v>
                </c:pt>
                <c:pt idx="500">
                  <c:v>1.1226</c:v>
                </c:pt>
                <c:pt idx="501">
                  <c:v>1.1228</c:v>
                </c:pt>
                <c:pt idx="502">
                  <c:v>1.1228</c:v>
                </c:pt>
                <c:pt idx="503">
                  <c:v>1.1223000000000001</c:v>
                </c:pt>
                <c:pt idx="504">
                  <c:v>1.1223000000000001</c:v>
                </c:pt>
                <c:pt idx="505">
                  <c:v>1.1223000000000001</c:v>
                </c:pt>
                <c:pt idx="506">
                  <c:v>1.1221000000000001</c:v>
                </c:pt>
                <c:pt idx="507">
                  <c:v>1.1224000000000001</c:v>
                </c:pt>
                <c:pt idx="508">
                  <c:v>1.1226</c:v>
                </c:pt>
                <c:pt idx="509">
                  <c:v>1.1226</c:v>
                </c:pt>
                <c:pt idx="510">
                  <c:v>1.1226</c:v>
                </c:pt>
                <c:pt idx="511">
                  <c:v>1.1226</c:v>
                </c:pt>
                <c:pt idx="512">
                  <c:v>1.1226</c:v>
                </c:pt>
                <c:pt idx="513">
                  <c:v>1.1222000000000001</c:v>
                </c:pt>
                <c:pt idx="514">
                  <c:v>1.1222000000000001</c:v>
                </c:pt>
                <c:pt idx="515">
                  <c:v>1.1222000000000001</c:v>
                </c:pt>
                <c:pt idx="516">
                  <c:v>1.1206</c:v>
                </c:pt>
                <c:pt idx="517">
                  <c:v>1.1209</c:v>
                </c:pt>
                <c:pt idx="518">
                  <c:v>1.1211</c:v>
                </c:pt>
                <c:pt idx="519">
                  <c:v>1.1215999999999999</c:v>
                </c:pt>
                <c:pt idx="520">
                  <c:v>1.1218999999999999</c:v>
                </c:pt>
                <c:pt idx="521">
                  <c:v>1.1221000000000001</c:v>
                </c:pt>
                <c:pt idx="522">
                  <c:v>1.1218999999999999</c:v>
                </c:pt>
                <c:pt idx="523">
                  <c:v>1.1220000000000001</c:v>
                </c:pt>
                <c:pt idx="524">
                  <c:v>1.1220000000000001</c:v>
                </c:pt>
                <c:pt idx="525">
                  <c:v>1.1220000000000001</c:v>
                </c:pt>
                <c:pt idx="526">
                  <c:v>1.1223000000000001</c:v>
                </c:pt>
                <c:pt idx="527">
                  <c:v>1.1224000000000001</c:v>
                </c:pt>
                <c:pt idx="528">
                  <c:v>1.1224000000000001</c:v>
                </c:pt>
                <c:pt idx="529">
                  <c:v>1.1224000000000001</c:v>
                </c:pt>
                <c:pt idx="530">
                  <c:v>1.1224000000000001</c:v>
                </c:pt>
                <c:pt idx="531">
                  <c:v>1.1229</c:v>
                </c:pt>
                <c:pt idx="532">
                  <c:v>1.1228</c:v>
                </c:pt>
                <c:pt idx="533">
                  <c:v>1.123</c:v>
                </c:pt>
                <c:pt idx="534">
                  <c:v>1.1235999999999999</c:v>
                </c:pt>
                <c:pt idx="535">
                  <c:v>1.1237999999999999</c:v>
                </c:pt>
                <c:pt idx="536">
                  <c:v>1.1238999999999999</c:v>
                </c:pt>
                <c:pt idx="537">
                  <c:v>1.123</c:v>
                </c:pt>
                <c:pt idx="538">
                  <c:v>1.123</c:v>
                </c:pt>
                <c:pt idx="539">
                  <c:v>1.1203000000000001</c:v>
                </c:pt>
                <c:pt idx="540">
                  <c:v>1.119</c:v>
                </c:pt>
                <c:pt idx="541">
                  <c:v>1.1169</c:v>
                </c:pt>
                <c:pt idx="542">
                  <c:v>1.1169</c:v>
                </c:pt>
                <c:pt idx="543">
                  <c:v>1.1178999999999999</c:v>
                </c:pt>
                <c:pt idx="544">
                  <c:v>1.1178999999999999</c:v>
                </c:pt>
                <c:pt idx="545">
                  <c:v>1.1178999999999999</c:v>
                </c:pt>
                <c:pt idx="546">
                  <c:v>1.1178999999999999</c:v>
                </c:pt>
                <c:pt idx="547">
                  <c:v>1.1226</c:v>
                </c:pt>
                <c:pt idx="548">
                  <c:v>1.1226</c:v>
                </c:pt>
                <c:pt idx="549">
                  <c:v>1.1236999999999999</c:v>
                </c:pt>
                <c:pt idx="550">
                  <c:v>1.1236999999999999</c:v>
                </c:pt>
                <c:pt idx="551">
                  <c:v>1.1236999999999999</c:v>
                </c:pt>
                <c:pt idx="552">
                  <c:v>1.123</c:v>
                </c:pt>
                <c:pt idx="553">
                  <c:v>1.123</c:v>
                </c:pt>
                <c:pt idx="554">
                  <c:v>1.1223000000000001</c:v>
                </c:pt>
                <c:pt idx="555">
                  <c:v>1.1223000000000001</c:v>
                </c:pt>
                <c:pt idx="556">
                  <c:v>1.1214999999999999</c:v>
                </c:pt>
                <c:pt idx="557">
                  <c:v>1.1211</c:v>
                </c:pt>
                <c:pt idx="558">
                  <c:v>1.1209</c:v>
                </c:pt>
                <c:pt idx="559">
                  <c:v>1.1212</c:v>
                </c:pt>
                <c:pt idx="560">
                  <c:v>1.1212</c:v>
                </c:pt>
                <c:pt idx="561">
                  <c:v>1.1214</c:v>
                </c:pt>
                <c:pt idx="562">
                  <c:v>1.1214</c:v>
                </c:pt>
                <c:pt idx="563">
                  <c:v>1.1215999999999999</c:v>
                </c:pt>
                <c:pt idx="564">
                  <c:v>1.1216999999999999</c:v>
                </c:pt>
                <c:pt idx="565">
                  <c:v>1.1216999999999999</c:v>
                </c:pt>
                <c:pt idx="566">
                  <c:v>1.1226</c:v>
                </c:pt>
                <c:pt idx="567">
                  <c:v>1.1231</c:v>
                </c:pt>
                <c:pt idx="568">
                  <c:v>1.1231</c:v>
                </c:pt>
                <c:pt idx="569">
                  <c:v>1.1243000000000001</c:v>
                </c:pt>
                <c:pt idx="570">
                  <c:v>1.1243000000000001</c:v>
                </c:pt>
                <c:pt idx="571">
                  <c:v>1.1252</c:v>
                </c:pt>
                <c:pt idx="572">
                  <c:v>1.1254999999999999</c:v>
                </c:pt>
                <c:pt idx="573">
                  <c:v>1.1254999999999999</c:v>
                </c:pt>
                <c:pt idx="574">
                  <c:v>1.1265000000000001</c:v>
                </c:pt>
                <c:pt idx="575">
                  <c:v>1.1273</c:v>
                </c:pt>
                <c:pt idx="576">
                  <c:v>1.1273</c:v>
                </c:pt>
                <c:pt idx="577">
                  <c:v>1.1287</c:v>
                </c:pt>
                <c:pt idx="578">
                  <c:v>1.1287</c:v>
                </c:pt>
                <c:pt idx="579">
                  <c:v>1.1302000000000001</c:v>
                </c:pt>
                <c:pt idx="580">
                  <c:v>1.1302000000000001</c:v>
                </c:pt>
                <c:pt idx="581">
                  <c:v>1.1322000000000001</c:v>
                </c:pt>
                <c:pt idx="582">
                  <c:v>1.1329</c:v>
                </c:pt>
                <c:pt idx="583">
                  <c:v>1.1334</c:v>
                </c:pt>
                <c:pt idx="584">
                  <c:v>1.1336999999999999</c:v>
                </c:pt>
                <c:pt idx="585">
                  <c:v>1.1336999999999999</c:v>
                </c:pt>
                <c:pt idx="586">
                  <c:v>1.1336999999999999</c:v>
                </c:pt>
                <c:pt idx="587">
                  <c:v>1.135</c:v>
                </c:pt>
                <c:pt idx="588">
                  <c:v>1.1351</c:v>
                </c:pt>
                <c:pt idx="589">
                  <c:v>1.1351</c:v>
                </c:pt>
                <c:pt idx="590">
                  <c:v>1.1351</c:v>
                </c:pt>
                <c:pt idx="591">
                  <c:v>1.1351</c:v>
                </c:pt>
                <c:pt idx="592">
                  <c:v>1.1371</c:v>
                </c:pt>
                <c:pt idx="593">
                  <c:v>1.137</c:v>
                </c:pt>
                <c:pt idx="594">
                  <c:v>1.1373</c:v>
                </c:pt>
                <c:pt idx="595">
                  <c:v>1.1373</c:v>
                </c:pt>
                <c:pt idx="596">
                  <c:v>1.1375</c:v>
                </c:pt>
                <c:pt idx="597">
                  <c:v>1.1375</c:v>
                </c:pt>
                <c:pt idx="598">
                  <c:v>1.1374</c:v>
                </c:pt>
                <c:pt idx="599">
                  <c:v>1.1375999999999999</c:v>
                </c:pt>
                <c:pt idx="600">
                  <c:v>1.1375999999999999</c:v>
                </c:pt>
                <c:pt idx="601">
                  <c:v>1.1384000000000001</c:v>
                </c:pt>
                <c:pt idx="602">
                  <c:v>1.1384000000000001</c:v>
                </c:pt>
                <c:pt idx="603">
                  <c:v>1.1400999999999999</c:v>
                </c:pt>
                <c:pt idx="604">
                  <c:v>1.1400999999999999</c:v>
                </c:pt>
                <c:pt idx="605">
                  <c:v>1.1413</c:v>
                </c:pt>
                <c:pt idx="606">
                  <c:v>1.1415</c:v>
                </c:pt>
                <c:pt idx="607">
                  <c:v>1.1415</c:v>
                </c:pt>
                <c:pt idx="608">
                  <c:v>1.1413</c:v>
                </c:pt>
                <c:pt idx="609">
                  <c:v>1.1413</c:v>
                </c:pt>
                <c:pt idx="610">
                  <c:v>1.1413</c:v>
                </c:pt>
                <c:pt idx="611">
                  <c:v>1.1413</c:v>
                </c:pt>
                <c:pt idx="612">
                  <c:v>1.1413</c:v>
                </c:pt>
                <c:pt idx="613">
                  <c:v>1.1408</c:v>
                </c:pt>
                <c:pt idx="614">
                  <c:v>1.1408</c:v>
                </c:pt>
                <c:pt idx="615">
                  <c:v>1.1408</c:v>
                </c:pt>
                <c:pt idx="616">
                  <c:v>1.1403000000000001</c:v>
                </c:pt>
                <c:pt idx="617">
                  <c:v>1.1402000000000001</c:v>
                </c:pt>
                <c:pt idx="618">
                  <c:v>1.1399999999999999</c:v>
                </c:pt>
                <c:pt idx="619">
                  <c:v>1.1399999999999999</c:v>
                </c:pt>
                <c:pt idx="620">
                  <c:v>1.1407</c:v>
                </c:pt>
                <c:pt idx="621">
                  <c:v>1.1407</c:v>
                </c:pt>
                <c:pt idx="622">
                  <c:v>1.1407</c:v>
                </c:pt>
                <c:pt idx="623">
                  <c:v>1.1425000000000001</c:v>
                </c:pt>
                <c:pt idx="624">
                  <c:v>1.1425000000000001</c:v>
                </c:pt>
                <c:pt idx="625">
                  <c:v>1.1425000000000001</c:v>
                </c:pt>
                <c:pt idx="626">
                  <c:v>1.1432</c:v>
                </c:pt>
                <c:pt idx="627">
                  <c:v>1.1432</c:v>
                </c:pt>
                <c:pt idx="628">
                  <c:v>1.1433</c:v>
                </c:pt>
                <c:pt idx="629">
                  <c:v>1.1433</c:v>
                </c:pt>
                <c:pt idx="630">
                  <c:v>1.1433</c:v>
                </c:pt>
                <c:pt idx="631">
                  <c:v>1.1429</c:v>
                </c:pt>
                <c:pt idx="632">
                  <c:v>1.143</c:v>
                </c:pt>
                <c:pt idx="633">
                  <c:v>1.1426000000000001</c:v>
                </c:pt>
                <c:pt idx="634">
                  <c:v>1.1419999999999999</c:v>
                </c:pt>
                <c:pt idx="635">
                  <c:v>1.1413</c:v>
                </c:pt>
                <c:pt idx="636">
                  <c:v>1.1415999999999999</c:v>
                </c:pt>
                <c:pt idx="637">
                  <c:v>1.1415999999999999</c:v>
                </c:pt>
                <c:pt idx="638">
                  <c:v>1.1412</c:v>
                </c:pt>
                <c:pt idx="639">
                  <c:v>1.1409</c:v>
                </c:pt>
                <c:pt idx="640">
                  <c:v>1.141</c:v>
                </c:pt>
                <c:pt idx="641">
                  <c:v>1.1413</c:v>
                </c:pt>
                <c:pt idx="642">
                  <c:v>1.1414</c:v>
                </c:pt>
                <c:pt idx="643">
                  <c:v>1.1413</c:v>
                </c:pt>
                <c:pt idx="644">
                  <c:v>1.1404000000000001</c:v>
                </c:pt>
                <c:pt idx="645">
                  <c:v>1.1402000000000001</c:v>
                </c:pt>
                <c:pt idx="646">
                  <c:v>1.1394</c:v>
                </c:pt>
                <c:pt idx="647">
                  <c:v>1.1395</c:v>
                </c:pt>
                <c:pt idx="648">
                  <c:v>1.1400999999999999</c:v>
                </c:pt>
                <c:pt idx="649">
                  <c:v>1.1404000000000001</c:v>
                </c:pt>
                <c:pt idx="650">
                  <c:v>1.1402000000000001</c:v>
                </c:pt>
                <c:pt idx="651">
                  <c:v>1.1404000000000001</c:v>
                </c:pt>
                <c:pt idx="652">
                  <c:v>1.141</c:v>
                </c:pt>
                <c:pt idx="653">
                  <c:v>1.1415</c:v>
                </c:pt>
                <c:pt idx="654">
                  <c:v>1.1422000000000001</c:v>
                </c:pt>
                <c:pt idx="655">
                  <c:v>1.1428</c:v>
                </c:pt>
                <c:pt idx="656">
                  <c:v>1.1433</c:v>
                </c:pt>
                <c:pt idx="657">
                  <c:v>1.1437999999999999</c:v>
                </c:pt>
                <c:pt idx="658">
                  <c:v>1.1440999999999999</c:v>
                </c:pt>
                <c:pt idx="659">
                  <c:v>1.1445000000000001</c:v>
                </c:pt>
                <c:pt idx="660">
                  <c:v>1.1449</c:v>
                </c:pt>
                <c:pt idx="661">
                  <c:v>1.1451</c:v>
                </c:pt>
                <c:pt idx="662">
                  <c:v>1.1455</c:v>
                </c:pt>
                <c:pt idx="663">
                  <c:v>1.1467000000000001</c:v>
                </c:pt>
                <c:pt idx="664">
                  <c:v>1.1488</c:v>
                </c:pt>
                <c:pt idx="665">
                  <c:v>1.1489</c:v>
                </c:pt>
                <c:pt idx="666">
                  <c:v>1.1489</c:v>
                </c:pt>
                <c:pt idx="667">
                  <c:v>1.149</c:v>
                </c:pt>
                <c:pt idx="668">
                  <c:v>1.1491</c:v>
                </c:pt>
                <c:pt idx="669">
                  <c:v>1.1494</c:v>
                </c:pt>
                <c:pt idx="670">
                  <c:v>1.1496</c:v>
                </c:pt>
                <c:pt idx="671">
                  <c:v>1.1496999999999999</c:v>
                </c:pt>
                <c:pt idx="672">
                  <c:v>1.1497999999999999</c:v>
                </c:pt>
                <c:pt idx="673">
                  <c:v>1.1498999999999999</c:v>
                </c:pt>
                <c:pt idx="674">
                  <c:v>1.1500999999999999</c:v>
                </c:pt>
                <c:pt idx="675">
                  <c:v>1.1500999999999999</c:v>
                </c:pt>
                <c:pt idx="676">
                  <c:v>1.1500999999999999</c:v>
                </c:pt>
                <c:pt idx="677">
                  <c:v>1.1499999999999999</c:v>
                </c:pt>
                <c:pt idx="678">
                  <c:v>1.1500999999999999</c:v>
                </c:pt>
                <c:pt idx="679">
                  <c:v>1.1500999999999999</c:v>
                </c:pt>
                <c:pt idx="680">
                  <c:v>1.1501999999999999</c:v>
                </c:pt>
                <c:pt idx="681">
                  <c:v>1.1504000000000001</c:v>
                </c:pt>
                <c:pt idx="682">
                  <c:v>1.1505000000000001</c:v>
                </c:pt>
                <c:pt idx="683">
                  <c:v>1.1513</c:v>
                </c:pt>
                <c:pt idx="684">
                  <c:v>1.1514</c:v>
                </c:pt>
                <c:pt idx="685">
                  <c:v>1.1517999999999999</c:v>
                </c:pt>
                <c:pt idx="686">
                  <c:v>1.1520999999999999</c:v>
                </c:pt>
                <c:pt idx="687">
                  <c:v>1.1525000000000001</c:v>
                </c:pt>
                <c:pt idx="688">
                  <c:v>1.1527000000000001</c:v>
                </c:pt>
                <c:pt idx="689">
                  <c:v>1.153</c:v>
                </c:pt>
                <c:pt idx="690">
                  <c:v>1.1532</c:v>
                </c:pt>
                <c:pt idx="691">
                  <c:v>1.1533</c:v>
                </c:pt>
                <c:pt idx="692">
                  <c:v>1.1537999999999999</c:v>
                </c:pt>
                <c:pt idx="693">
                  <c:v>1.1540999999999999</c:v>
                </c:pt>
                <c:pt idx="694">
                  <c:v>1.1544000000000001</c:v>
                </c:pt>
                <c:pt idx="695">
                  <c:v>1.1548</c:v>
                </c:pt>
                <c:pt idx="696">
                  <c:v>1.1551</c:v>
                </c:pt>
                <c:pt idx="697">
                  <c:v>1.1553</c:v>
                </c:pt>
                <c:pt idx="698">
                  <c:v>1.1556</c:v>
                </c:pt>
                <c:pt idx="699">
                  <c:v>1.1555</c:v>
                </c:pt>
                <c:pt idx="700">
                  <c:v>1.1554</c:v>
                </c:pt>
                <c:pt idx="701">
                  <c:v>1.1556999999999999</c:v>
                </c:pt>
                <c:pt idx="702">
                  <c:v>1.1559999999999999</c:v>
                </c:pt>
                <c:pt idx="703">
                  <c:v>1.1560999999999999</c:v>
                </c:pt>
                <c:pt idx="704">
                  <c:v>1.1563000000000001</c:v>
                </c:pt>
                <c:pt idx="705">
                  <c:v>1.1567000000000001</c:v>
                </c:pt>
                <c:pt idx="706">
                  <c:v>1.1575</c:v>
                </c:pt>
                <c:pt idx="707">
                  <c:v>1.1578999999999999</c:v>
                </c:pt>
                <c:pt idx="708">
                  <c:v>1.1580999999999999</c:v>
                </c:pt>
                <c:pt idx="709">
                  <c:v>1.1581999999999999</c:v>
                </c:pt>
                <c:pt idx="710">
                  <c:v>1.1584000000000001</c:v>
                </c:pt>
                <c:pt idx="711">
                  <c:v>1.1589</c:v>
                </c:pt>
                <c:pt idx="712">
                  <c:v>1.1592</c:v>
                </c:pt>
                <c:pt idx="713">
                  <c:v>1.1594</c:v>
                </c:pt>
                <c:pt idx="714">
                  <c:v>1.1596</c:v>
                </c:pt>
                <c:pt idx="715">
                  <c:v>1.1597</c:v>
                </c:pt>
                <c:pt idx="716">
                  <c:v>1.1600999999999999</c:v>
                </c:pt>
                <c:pt idx="717">
                  <c:v>1.1599999999999999</c:v>
                </c:pt>
                <c:pt idx="718">
                  <c:v>1.1599999999999999</c:v>
                </c:pt>
                <c:pt idx="719">
                  <c:v>1.1599999999999999</c:v>
                </c:pt>
                <c:pt idx="720">
                  <c:v>1.1601999999999999</c:v>
                </c:pt>
                <c:pt idx="721">
                  <c:v>1.1604000000000001</c:v>
                </c:pt>
                <c:pt idx="722">
                  <c:v>1.1605000000000001</c:v>
                </c:pt>
                <c:pt idx="723">
                  <c:v>1.1607000000000001</c:v>
                </c:pt>
                <c:pt idx="724">
                  <c:v>1.1611</c:v>
                </c:pt>
                <c:pt idx="725">
                  <c:v>1.1615</c:v>
                </c:pt>
                <c:pt idx="726">
                  <c:v>1.1617999999999999</c:v>
                </c:pt>
                <c:pt idx="727">
                  <c:v>1.1618999999999999</c:v>
                </c:pt>
                <c:pt idx="728">
                  <c:v>1.1620999999999999</c:v>
                </c:pt>
                <c:pt idx="729">
                  <c:v>1.1620999999999999</c:v>
                </c:pt>
                <c:pt idx="730">
                  <c:v>1.1619999999999999</c:v>
                </c:pt>
                <c:pt idx="731">
                  <c:v>1.1620999999999999</c:v>
                </c:pt>
                <c:pt idx="732">
                  <c:v>1.1624000000000001</c:v>
                </c:pt>
                <c:pt idx="733">
                  <c:v>1.1626000000000001</c:v>
                </c:pt>
                <c:pt idx="734">
                  <c:v>1.1628000000000001</c:v>
                </c:pt>
                <c:pt idx="735">
                  <c:v>1.1629</c:v>
                </c:pt>
                <c:pt idx="736">
                  <c:v>1.163</c:v>
                </c:pt>
                <c:pt idx="737">
                  <c:v>1.163</c:v>
                </c:pt>
                <c:pt idx="738">
                  <c:v>1.1627000000000001</c:v>
                </c:pt>
                <c:pt idx="739">
                  <c:v>1.1623000000000001</c:v>
                </c:pt>
                <c:pt idx="740">
                  <c:v>1.1619999999999999</c:v>
                </c:pt>
                <c:pt idx="741">
                  <c:v>1.1624000000000001</c:v>
                </c:pt>
                <c:pt idx="742">
                  <c:v>1.1619999999999999</c:v>
                </c:pt>
                <c:pt idx="743">
                  <c:v>1.1621999999999999</c:v>
                </c:pt>
                <c:pt idx="744">
                  <c:v>1.1625000000000001</c:v>
                </c:pt>
                <c:pt idx="745">
                  <c:v>1.1628000000000001</c:v>
                </c:pt>
                <c:pt idx="746">
                  <c:v>1.163</c:v>
                </c:pt>
                <c:pt idx="747">
                  <c:v>1.1633</c:v>
                </c:pt>
                <c:pt idx="748">
                  <c:v>1.1636</c:v>
                </c:pt>
                <c:pt idx="749">
                  <c:v>1.1637999999999999</c:v>
                </c:pt>
                <c:pt idx="750">
                  <c:v>1.1638999999999999</c:v>
                </c:pt>
                <c:pt idx="751">
                  <c:v>1.1639999999999999</c:v>
                </c:pt>
                <c:pt idx="752">
                  <c:v>1.1637999999999999</c:v>
                </c:pt>
                <c:pt idx="753">
                  <c:v>1.1638999999999999</c:v>
                </c:pt>
                <c:pt idx="754">
                  <c:v>1.1638999999999999</c:v>
                </c:pt>
                <c:pt idx="755">
                  <c:v>1.1637999999999999</c:v>
                </c:pt>
                <c:pt idx="756">
                  <c:v>1.1634</c:v>
                </c:pt>
                <c:pt idx="757">
                  <c:v>1.1632</c:v>
                </c:pt>
                <c:pt idx="758">
                  <c:v>1.163</c:v>
                </c:pt>
                <c:pt idx="759">
                  <c:v>1.1637999999999999</c:v>
                </c:pt>
                <c:pt idx="760">
                  <c:v>1.1637</c:v>
                </c:pt>
                <c:pt idx="761">
                  <c:v>1.1639999999999999</c:v>
                </c:pt>
                <c:pt idx="762">
                  <c:v>1.1639999999999999</c:v>
                </c:pt>
                <c:pt idx="763">
                  <c:v>1.1639999999999999</c:v>
                </c:pt>
                <c:pt idx="764">
                  <c:v>1.1639999999999999</c:v>
                </c:pt>
                <c:pt idx="765">
                  <c:v>1.1640999999999999</c:v>
                </c:pt>
                <c:pt idx="766">
                  <c:v>1.1644000000000001</c:v>
                </c:pt>
                <c:pt idx="767">
                  <c:v>1.1644000000000001</c:v>
                </c:pt>
                <c:pt idx="768">
                  <c:v>1.1647000000000001</c:v>
                </c:pt>
                <c:pt idx="769">
                  <c:v>1.1649</c:v>
                </c:pt>
                <c:pt idx="770">
                  <c:v>1.1651</c:v>
                </c:pt>
                <c:pt idx="771">
                  <c:v>1.1651</c:v>
                </c:pt>
                <c:pt idx="772">
                  <c:v>1.165</c:v>
                </c:pt>
                <c:pt idx="773">
                  <c:v>1.165</c:v>
                </c:pt>
                <c:pt idx="774">
                  <c:v>1.1648000000000001</c:v>
                </c:pt>
                <c:pt idx="775">
                  <c:v>1.1649</c:v>
                </c:pt>
                <c:pt idx="776">
                  <c:v>1.1652</c:v>
                </c:pt>
                <c:pt idx="777">
                  <c:v>1.1653</c:v>
                </c:pt>
                <c:pt idx="778">
                  <c:v>1.1655</c:v>
                </c:pt>
                <c:pt idx="779">
                  <c:v>1.1656</c:v>
                </c:pt>
                <c:pt idx="780">
                  <c:v>1.1656</c:v>
                </c:pt>
                <c:pt idx="781">
                  <c:v>1.1657999999999999</c:v>
                </c:pt>
                <c:pt idx="782">
                  <c:v>1.1656</c:v>
                </c:pt>
                <c:pt idx="783">
                  <c:v>1.1653</c:v>
                </c:pt>
                <c:pt idx="784">
                  <c:v>1.1649</c:v>
                </c:pt>
                <c:pt idx="785">
                  <c:v>1.1646000000000001</c:v>
                </c:pt>
                <c:pt idx="786">
                  <c:v>1.1646000000000001</c:v>
                </c:pt>
                <c:pt idx="787">
                  <c:v>1.1647000000000001</c:v>
                </c:pt>
                <c:pt idx="788">
                  <c:v>1.1647000000000001</c:v>
                </c:pt>
                <c:pt idx="789">
                  <c:v>1.1655</c:v>
                </c:pt>
                <c:pt idx="790">
                  <c:v>1.1656</c:v>
                </c:pt>
                <c:pt idx="791">
                  <c:v>1.1656</c:v>
                </c:pt>
                <c:pt idx="792">
                  <c:v>1.1662999999999999</c:v>
                </c:pt>
                <c:pt idx="793">
                  <c:v>1.1665000000000001</c:v>
                </c:pt>
                <c:pt idx="794">
                  <c:v>1.1667000000000001</c:v>
                </c:pt>
                <c:pt idx="795">
                  <c:v>1.167</c:v>
                </c:pt>
                <c:pt idx="796">
                  <c:v>1.1674</c:v>
                </c:pt>
                <c:pt idx="797">
                  <c:v>1.1677999999999999</c:v>
                </c:pt>
                <c:pt idx="798">
                  <c:v>1.1681999999999999</c:v>
                </c:pt>
                <c:pt idx="799">
                  <c:v>1.1685000000000001</c:v>
                </c:pt>
                <c:pt idx="800">
                  <c:v>1.1687000000000001</c:v>
                </c:pt>
                <c:pt idx="801">
                  <c:v>1.169</c:v>
                </c:pt>
                <c:pt idx="802">
                  <c:v>1.1694</c:v>
                </c:pt>
                <c:pt idx="803">
                  <c:v>1.17</c:v>
                </c:pt>
                <c:pt idx="804">
                  <c:v>1.1705000000000001</c:v>
                </c:pt>
                <c:pt idx="805">
                  <c:v>1.1708000000000001</c:v>
                </c:pt>
                <c:pt idx="806">
                  <c:v>1.1713</c:v>
                </c:pt>
                <c:pt idx="807">
                  <c:v>1.1719999999999999</c:v>
                </c:pt>
                <c:pt idx="808">
                  <c:v>1.1721999999999999</c:v>
                </c:pt>
                <c:pt idx="809">
                  <c:v>1.1724000000000001</c:v>
                </c:pt>
                <c:pt idx="810">
                  <c:v>1.1725000000000001</c:v>
                </c:pt>
                <c:pt idx="811">
                  <c:v>1.1727000000000001</c:v>
                </c:pt>
                <c:pt idx="812">
                  <c:v>1.173</c:v>
                </c:pt>
                <c:pt idx="813">
                  <c:v>1.1733</c:v>
                </c:pt>
                <c:pt idx="814">
                  <c:v>1.1736</c:v>
                </c:pt>
                <c:pt idx="815">
                  <c:v>1.1738999999999999</c:v>
                </c:pt>
                <c:pt idx="816">
                  <c:v>1.1740999999999999</c:v>
                </c:pt>
                <c:pt idx="817">
                  <c:v>1.1745000000000001</c:v>
                </c:pt>
                <c:pt idx="818">
                  <c:v>1.1748000000000001</c:v>
                </c:pt>
                <c:pt idx="819">
                  <c:v>1.175</c:v>
                </c:pt>
                <c:pt idx="820">
                  <c:v>1.175</c:v>
                </c:pt>
                <c:pt idx="821">
                  <c:v>1.175</c:v>
                </c:pt>
                <c:pt idx="822">
                  <c:v>1.1753</c:v>
                </c:pt>
                <c:pt idx="823">
                  <c:v>1.1753</c:v>
                </c:pt>
                <c:pt idx="824">
                  <c:v>1.1752</c:v>
                </c:pt>
                <c:pt idx="825">
                  <c:v>1.175</c:v>
                </c:pt>
                <c:pt idx="826">
                  <c:v>1.1751</c:v>
                </c:pt>
                <c:pt idx="827">
                  <c:v>1.1753</c:v>
                </c:pt>
                <c:pt idx="828">
                  <c:v>1.1752</c:v>
                </c:pt>
                <c:pt idx="829">
                  <c:v>1.1751</c:v>
                </c:pt>
                <c:pt idx="830">
                  <c:v>1.1747000000000001</c:v>
                </c:pt>
                <c:pt idx="831">
                  <c:v>1.1747000000000001</c:v>
                </c:pt>
                <c:pt idx="832">
                  <c:v>1.1747000000000001</c:v>
                </c:pt>
                <c:pt idx="833">
                  <c:v>1.1748000000000001</c:v>
                </c:pt>
                <c:pt idx="834">
                  <c:v>1.1749000000000001</c:v>
                </c:pt>
                <c:pt idx="835">
                  <c:v>1.1751</c:v>
                </c:pt>
                <c:pt idx="836">
                  <c:v>1.1752</c:v>
                </c:pt>
                <c:pt idx="837">
                  <c:v>1.1754</c:v>
                </c:pt>
                <c:pt idx="838">
                  <c:v>1.1754</c:v>
                </c:pt>
                <c:pt idx="839">
                  <c:v>1.1755</c:v>
                </c:pt>
                <c:pt idx="840">
                  <c:v>1.1756</c:v>
                </c:pt>
                <c:pt idx="841">
                  <c:v>1.1758</c:v>
                </c:pt>
                <c:pt idx="842">
                  <c:v>1.1760999999999999</c:v>
                </c:pt>
                <c:pt idx="843">
                  <c:v>1.1762999999999999</c:v>
                </c:pt>
                <c:pt idx="844">
                  <c:v>1.1763999999999999</c:v>
                </c:pt>
                <c:pt idx="845">
                  <c:v>1.1765000000000001</c:v>
                </c:pt>
                <c:pt idx="846">
                  <c:v>1.1766000000000001</c:v>
                </c:pt>
                <c:pt idx="847">
                  <c:v>1.1768000000000001</c:v>
                </c:pt>
                <c:pt idx="848">
                  <c:v>1.1768000000000001</c:v>
                </c:pt>
                <c:pt idx="849">
                  <c:v>1.1769000000000001</c:v>
                </c:pt>
                <c:pt idx="850">
                  <c:v>1.1769000000000001</c:v>
                </c:pt>
                <c:pt idx="851">
                  <c:v>1.1773</c:v>
                </c:pt>
                <c:pt idx="852">
                  <c:v>1.1773</c:v>
                </c:pt>
                <c:pt idx="853">
                  <c:v>1.1774</c:v>
                </c:pt>
                <c:pt idx="854">
                  <c:v>1.1775</c:v>
                </c:pt>
                <c:pt idx="855">
                  <c:v>1.1776</c:v>
                </c:pt>
                <c:pt idx="856">
                  <c:v>1.1778999999999999</c:v>
                </c:pt>
                <c:pt idx="857">
                  <c:v>1.1780999999999999</c:v>
                </c:pt>
                <c:pt idx="858">
                  <c:v>1.1781999999999999</c:v>
                </c:pt>
                <c:pt idx="859">
                  <c:v>1.1782999999999999</c:v>
                </c:pt>
                <c:pt idx="860">
                  <c:v>1.1786000000000001</c:v>
                </c:pt>
                <c:pt idx="861">
                  <c:v>1.1789000000000001</c:v>
                </c:pt>
                <c:pt idx="862">
                  <c:v>1.1792</c:v>
                </c:pt>
                <c:pt idx="863">
                  <c:v>1.1795</c:v>
                </c:pt>
                <c:pt idx="864">
                  <c:v>1.1797</c:v>
                </c:pt>
                <c:pt idx="865">
                  <c:v>1.1798999999999999</c:v>
                </c:pt>
                <c:pt idx="866">
                  <c:v>1.1803999999999999</c:v>
                </c:pt>
                <c:pt idx="867">
                  <c:v>1.1806000000000001</c:v>
                </c:pt>
                <c:pt idx="868">
                  <c:v>1.1807000000000001</c:v>
                </c:pt>
                <c:pt idx="869">
                  <c:v>1.1809000000000001</c:v>
                </c:pt>
                <c:pt idx="870">
                  <c:v>1.181</c:v>
                </c:pt>
                <c:pt idx="871">
                  <c:v>1.1814</c:v>
                </c:pt>
                <c:pt idx="872">
                  <c:v>1.1815</c:v>
                </c:pt>
                <c:pt idx="873">
                  <c:v>1.1816</c:v>
                </c:pt>
                <c:pt idx="874">
                  <c:v>1.1818</c:v>
                </c:pt>
                <c:pt idx="875">
                  <c:v>1.1819</c:v>
                </c:pt>
                <c:pt idx="876">
                  <c:v>1.1822999999999999</c:v>
                </c:pt>
                <c:pt idx="877">
                  <c:v>1.1825000000000001</c:v>
                </c:pt>
                <c:pt idx="878">
                  <c:v>1.1826000000000001</c:v>
                </c:pt>
                <c:pt idx="879">
                  <c:v>1.1828000000000001</c:v>
                </c:pt>
                <c:pt idx="880">
                  <c:v>1.1831</c:v>
                </c:pt>
                <c:pt idx="881">
                  <c:v>1.1831</c:v>
                </c:pt>
              </c:numCache>
            </c:numRef>
          </c:val>
          <c:smooth val="1"/>
          <c:extLst>
            <c:ext xmlns:c16="http://schemas.microsoft.com/office/drawing/2014/chart" uri="{C3380CC4-5D6E-409C-BE32-E72D297353CC}">
              <c16:uniqueId val="{00000001-8910-4752-8546-3FDE9C1F0714}"/>
            </c:ext>
          </c:extLst>
        </c:ser>
        <c:ser>
          <c:idx val="2"/>
          <c:order val="2"/>
          <c:tx>
            <c:strRef>
              <c:f>file!$D$1</c:f>
              <c:strCache>
                <c:ptCount val="1"/>
                <c:pt idx="0">
                  <c:v>外贸信托稳鑫A期</c:v>
                </c:pt>
              </c:strCache>
            </c:strRef>
          </c:tx>
          <c:spPr>
            <a:ln w="28575" cap="rnd">
              <a:solidFill>
                <a:srgbClr val="FFC000"/>
              </a:solidFill>
              <a:round/>
            </a:ln>
            <a:effectLst/>
          </c:spPr>
          <c:marker>
            <c:symbol val="none"/>
          </c:marker>
          <c:cat>
            <c:numRef>
              <c:f>file!$A$2:$A$883</c:f>
              <c:numCache>
                <c:formatCode>m/d/yyyy</c:formatCode>
                <c:ptCount val="882"/>
                <c:pt idx="0">
                  <c:v>44782</c:v>
                </c:pt>
                <c:pt idx="1">
                  <c:v>44783</c:v>
                </c:pt>
                <c:pt idx="2">
                  <c:v>44784</c:v>
                </c:pt>
                <c:pt idx="3">
                  <c:v>44785</c:v>
                </c:pt>
                <c:pt idx="4">
                  <c:v>44788</c:v>
                </c:pt>
                <c:pt idx="5">
                  <c:v>44789</c:v>
                </c:pt>
                <c:pt idx="6">
                  <c:v>44790</c:v>
                </c:pt>
                <c:pt idx="7">
                  <c:v>44791</c:v>
                </c:pt>
                <c:pt idx="8">
                  <c:v>44792</c:v>
                </c:pt>
                <c:pt idx="9">
                  <c:v>44795</c:v>
                </c:pt>
                <c:pt idx="10">
                  <c:v>44796</c:v>
                </c:pt>
                <c:pt idx="11">
                  <c:v>44797</c:v>
                </c:pt>
                <c:pt idx="12">
                  <c:v>44798</c:v>
                </c:pt>
                <c:pt idx="13">
                  <c:v>44799</c:v>
                </c:pt>
                <c:pt idx="14">
                  <c:v>44802</c:v>
                </c:pt>
                <c:pt idx="15">
                  <c:v>44803</c:v>
                </c:pt>
                <c:pt idx="16">
                  <c:v>44804</c:v>
                </c:pt>
                <c:pt idx="17">
                  <c:v>44805</c:v>
                </c:pt>
                <c:pt idx="18">
                  <c:v>44806</c:v>
                </c:pt>
                <c:pt idx="19">
                  <c:v>44809</c:v>
                </c:pt>
                <c:pt idx="20">
                  <c:v>44810</c:v>
                </c:pt>
                <c:pt idx="21">
                  <c:v>44811</c:v>
                </c:pt>
                <c:pt idx="22">
                  <c:v>44812</c:v>
                </c:pt>
                <c:pt idx="23">
                  <c:v>44813</c:v>
                </c:pt>
                <c:pt idx="24">
                  <c:v>44817</c:v>
                </c:pt>
                <c:pt idx="25">
                  <c:v>44818</c:v>
                </c:pt>
                <c:pt idx="26">
                  <c:v>44819</c:v>
                </c:pt>
                <c:pt idx="27">
                  <c:v>44820</c:v>
                </c:pt>
                <c:pt idx="28">
                  <c:v>44823</c:v>
                </c:pt>
                <c:pt idx="29">
                  <c:v>44824</c:v>
                </c:pt>
                <c:pt idx="30">
                  <c:v>44825</c:v>
                </c:pt>
                <c:pt idx="31">
                  <c:v>44826</c:v>
                </c:pt>
                <c:pt idx="32">
                  <c:v>44827</c:v>
                </c:pt>
                <c:pt idx="33">
                  <c:v>44830</c:v>
                </c:pt>
                <c:pt idx="34">
                  <c:v>44831</c:v>
                </c:pt>
                <c:pt idx="35">
                  <c:v>44832</c:v>
                </c:pt>
                <c:pt idx="36">
                  <c:v>44833</c:v>
                </c:pt>
                <c:pt idx="37">
                  <c:v>44834</c:v>
                </c:pt>
                <c:pt idx="38">
                  <c:v>44842</c:v>
                </c:pt>
                <c:pt idx="39">
                  <c:v>44843</c:v>
                </c:pt>
                <c:pt idx="40">
                  <c:v>44844</c:v>
                </c:pt>
                <c:pt idx="41">
                  <c:v>44845</c:v>
                </c:pt>
                <c:pt idx="42">
                  <c:v>44846</c:v>
                </c:pt>
                <c:pt idx="43">
                  <c:v>44847</c:v>
                </c:pt>
                <c:pt idx="44">
                  <c:v>44848</c:v>
                </c:pt>
                <c:pt idx="45">
                  <c:v>44851</c:v>
                </c:pt>
                <c:pt idx="46">
                  <c:v>44852</c:v>
                </c:pt>
                <c:pt idx="47">
                  <c:v>44853</c:v>
                </c:pt>
                <c:pt idx="48">
                  <c:v>44854</c:v>
                </c:pt>
                <c:pt idx="49">
                  <c:v>44855</c:v>
                </c:pt>
                <c:pt idx="50">
                  <c:v>44858</c:v>
                </c:pt>
                <c:pt idx="51">
                  <c:v>44859</c:v>
                </c:pt>
                <c:pt idx="52">
                  <c:v>44860</c:v>
                </c:pt>
                <c:pt idx="53">
                  <c:v>44861</c:v>
                </c:pt>
                <c:pt idx="54">
                  <c:v>44862</c:v>
                </c:pt>
                <c:pt idx="55">
                  <c:v>44865</c:v>
                </c:pt>
                <c:pt idx="56">
                  <c:v>44866</c:v>
                </c:pt>
                <c:pt idx="57">
                  <c:v>44867</c:v>
                </c:pt>
                <c:pt idx="58">
                  <c:v>44868</c:v>
                </c:pt>
                <c:pt idx="59">
                  <c:v>44869</c:v>
                </c:pt>
                <c:pt idx="60">
                  <c:v>44872</c:v>
                </c:pt>
                <c:pt idx="61">
                  <c:v>44873</c:v>
                </c:pt>
                <c:pt idx="62">
                  <c:v>44874</c:v>
                </c:pt>
                <c:pt idx="63">
                  <c:v>44875</c:v>
                </c:pt>
                <c:pt idx="64">
                  <c:v>44876</c:v>
                </c:pt>
                <c:pt idx="65">
                  <c:v>44879</c:v>
                </c:pt>
                <c:pt idx="66">
                  <c:v>44880</c:v>
                </c:pt>
                <c:pt idx="67">
                  <c:v>44881</c:v>
                </c:pt>
                <c:pt idx="68">
                  <c:v>44882</c:v>
                </c:pt>
                <c:pt idx="69">
                  <c:v>44883</c:v>
                </c:pt>
                <c:pt idx="70">
                  <c:v>44886</c:v>
                </c:pt>
                <c:pt idx="71">
                  <c:v>44887</c:v>
                </c:pt>
                <c:pt idx="72">
                  <c:v>44888</c:v>
                </c:pt>
                <c:pt idx="73">
                  <c:v>44889</c:v>
                </c:pt>
                <c:pt idx="74">
                  <c:v>44890</c:v>
                </c:pt>
                <c:pt idx="75">
                  <c:v>44893</c:v>
                </c:pt>
                <c:pt idx="76">
                  <c:v>44894</c:v>
                </c:pt>
                <c:pt idx="77">
                  <c:v>44895</c:v>
                </c:pt>
                <c:pt idx="78">
                  <c:v>44896</c:v>
                </c:pt>
                <c:pt idx="79">
                  <c:v>44897</c:v>
                </c:pt>
                <c:pt idx="80">
                  <c:v>44900</c:v>
                </c:pt>
                <c:pt idx="81">
                  <c:v>44901</c:v>
                </c:pt>
                <c:pt idx="82">
                  <c:v>44902</c:v>
                </c:pt>
                <c:pt idx="83">
                  <c:v>44903</c:v>
                </c:pt>
                <c:pt idx="84">
                  <c:v>44904</c:v>
                </c:pt>
                <c:pt idx="85">
                  <c:v>44907</c:v>
                </c:pt>
                <c:pt idx="86">
                  <c:v>44908</c:v>
                </c:pt>
                <c:pt idx="87">
                  <c:v>44909</c:v>
                </c:pt>
                <c:pt idx="88">
                  <c:v>44910</c:v>
                </c:pt>
                <c:pt idx="89">
                  <c:v>44911</c:v>
                </c:pt>
                <c:pt idx="90">
                  <c:v>44914</c:v>
                </c:pt>
                <c:pt idx="91">
                  <c:v>44915</c:v>
                </c:pt>
                <c:pt idx="92">
                  <c:v>44916</c:v>
                </c:pt>
                <c:pt idx="93">
                  <c:v>44917</c:v>
                </c:pt>
                <c:pt idx="94">
                  <c:v>44918</c:v>
                </c:pt>
                <c:pt idx="95">
                  <c:v>44921</c:v>
                </c:pt>
                <c:pt idx="96">
                  <c:v>44922</c:v>
                </c:pt>
                <c:pt idx="97">
                  <c:v>44923</c:v>
                </c:pt>
                <c:pt idx="98">
                  <c:v>44924</c:v>
                </c:pt>
                <c:pt idx="99">
                  <c:v>44925</c:v>
                </c:pt>
                <c:pt idx="100">
                  <c:v>44926</c:v>
                </c:pt>
                <c:pt idx="101">
                  <c:v>44929</c:v>
                </c:pt>
                <c:pt idx="102">
                  <c:v>44930</c:v>
                </c:pt>
                <c:pt idx="103">
                  <c:v>44931</c:v>
                </c:pt>
                <c:pt idx="104">
                  <c:v>44932</c:v>
                </c:pt>
                <c:pt idx="105">
                  <c:v>44935</c:v>
                </c:pt>
                <c:pt idx="106">
                  <c:v>44936</c:v>
                </c:pt>
                <c:pt idx="107">
                  <c:v>44937</c:v>
                </c:pt>
                <c:pt idx="108">
                  <c:v>44938</c:v>
                </c:pt>
                <c:pt idx="109">
                  <c:v>44939</c:v>
                </c:pt>
                <c:pt idx="110">
                  <c:v>44942</c:v>
                </c:pt>
                <c:pt idx="111">
                  <c:v>44943</c:v>
                </c:pt>
                <c:pt idx="112">
                  <c:v>44944</c:v>
                </c:pt>
                <c:pt idx="113">
                  <c:v>44945</c:v>
                </c:pt>
                <c:pt idx="114">
                  <c:v>44946</c:v>
                </c:pt>
                <c:pt idx="115">
                  <c:v>44954</c:v>
                </c:pt>
                <c:pt idx="116">
                  <c:v>44955</c:v>
                </c:pt>
                <c:pt idx="117">
                  <c:v>44956</c:v>
                </c:pt>
                <c:pt idx="118">
                  <c:v>44957</c:v>
                </c:pt>
                <c:pt idx="119">
                  <c:v>44958</c:v>
                </c:pt>
                <c:pt idx="120">
                  <c:v>44959</c:v>
                </c:pt>
                <c:pt idx="121">
                  <c:v>44960</c:v>
                </c:pt>
                <c:pt idx="122">
                  <c:v>44963</c:v>
                </c:pt>
                <c:pt idx="123">
                  <c:v>44964</c:v>
                </c:pt>
                <c:pt idx="124">
                  <c:v>44965</c:v>
                </c:pt>
                <c:pt idx="125">
                  <c:v>44966</c:v>
                </c:pt>
                <c:pt idx="126">
                  <c:v>44967</c:v>
                </c:pt>
                <c:pt idx="127">
                  <c:v>44970</c:v>
                </c:pt>
                <c:pt idx="128">
                  <c:v>44971</c:v>
                </c:pt>
                <c:pt idx="129">
                  <c:v>44972</c:v>
                </c:pt>
                <c:pt idx="130">
                  <c:v>44973</c:v>
                </c:pt>
                <c:pt idx="131">
                  <c:v>44974</c:v>
                </c:pt>
                <c:pt idx="132">
                  <c:v>44977</c:v>
                </c:pt>
                <c:pt idx="133">
                  <c:v>44978</c:v>
                </c:pt>
                <c:pt idx="134">
                  <c:v>44979</c:v>
                </c:pt>
                <c:pt idx="135">
                  <c:v>44980</c:v>
                </c:pt>
                <c:pt idx="136">
                  <c:v>44981</c:v>
                </c:pt>
                <c:pt idx="137">
                  <c:v>44984</c:v>
                </c:pt>
                <c:pt idx="138">
                  <c:v>44985</c:v>
                </c:pt>
                <c:pt idx="139">
                  <c:v>44986</c:v>
                </c:pt>
                <c:pt idx="140">
                  <c:v>44987</c:v>
                </c:pt>
                <c:pt idx="141">
                  <c:v>44988</c:v>
                </c:pt>
                <c:pt idx="142">
                  <c:v>44991</c:v>
                </c:pt>
                <c:pt idx="143">
                  <c:v>44992</c:v>
                </c:pt>
                <c:pt idx="144">
                  <c:v>44993</c:v>
                </c:pt>
                <c:pt idx="145">
                  <c:v>44994</c:v>
                </c:pt>
                <c:pt idx="146">
                  <c:v>44995</c:v>
                </c:pt>
                <c:pt idx="147">
                  <c:v>44998</c:v>
                </c:pt>
                <c:pt idx="148">
                  <c:v>44999</c:v>
                </c:pt>
                <c:pt idx="149">
                  <c:v>45000</c:v>
                </c:pt>
                <c:pt idx="150">
                  <c:v>45001</c:v>
                </c:pt>
                <c:pt idx="151">
                  <c:v>45002</c:v>
                </c:pt>
                <c:pt idx="152">
                  <c:v>45005</c:v>
                </c:pt>
                <c:pt idx="153">
                  <c:v>45006</c:v>
                </c:pt>
                <c:pt idx="154">
                  <c:v>45007</c:v>
                </c:pt>
                <c:pt idx="155">
                  <c:v>45008</c:v>
                </c:pt>
                <c:pt idx="156">
                  <c:v>45009</c:v>
                </c:pt>
                <c:pt idx="157">
                  <c:v>45012</c:v>
                </c:pt>
                <c:pt idx="158">
                  <c:v>45013</c:v>
                </c:pt>
                <c:pt idx="159">
                  <c:v>45014</c:v>
                </c:pt>
                <c:pt idx="160">
                  <c:v>45015</c:v>
                </c:pt>
                <c:pt idx="161">
                  <c:v>45016</c:v>
                </c:pt>
                <c:pt idx="162">
                  <c:v>45019</c:v>
                </c:pt>
                <c:pt idx="163">
                  <c:v>45020</c:v>
                </c:pt>
                <c:pt idx="164">
                  <c:v>45022</c:v>
                </c:pt>
                <c:pt idx="165">
                  <c:v>45023</c:v>
                </c:pt>
                <c:pt idx="166">
                  <c:v>45026</c:v>
                </c:pt>
                <c:pt idx="167">
                  <c:v>45027</c:v>
                </c:pt>
                <c:pt idx="168">
                  <c:v>45028</c:v>
                </c:pt>
                <c:pt idx="169">
                  <c:v>45029</c:v>
                </c:pt>
                <c:pt idx="170">
                  <c:v>45030</c:v>
                </c:pt>
                <c:pt idx="171">
                  <c:v>45033</c:v>
                </c:pt>
                <c:pt idx="172">
                  <c:v>45034</c:v>
                </c:pt>
                <c:pt idx="173">
                  <c:v>45035</c:v>
                </c:pt>
                <c:pt idx="174">
                  <c:v>45036</c:v>
                </c:pt>
                <c:pt idx="175">
                  <c:v>45037</c:v>
                </c:pt>
                <c:pt idx="176">
                  <c:v>45039</c:v>
                </c:pt>
                <c:pt idx="177">
                  <c:v>45040</c:v>
                </c:pt>
                <c:pt idx="178">
                  <c:v>45041</c:v>
                </c:pt>
                <c:pt idx="179">
                  <c:v>45042</c:v>
                </c:pt>
                <c:pt idx="180">
                  <c:v>45043</c:v>
                </c:pt>
                <c:pt idx="181">
                  <c:v>45044</c:v>
                </c:pt>
                <c:pt idx="182">
                  <c:v>45050</c:v>
                </c:pt>
                <c:pt idx="183">
                  <c:v>45051</c:v>
                </c:pt>
                <c:pt idx="184">
                  <c:v>45052</c:v>
                </c:pt>
                <c:pt idx="185">
                  <c:v>45054</c:v>
                </c:pt>
                <c:pt idx="186">
                  <c:v>45055</c:v>
                </c:pt>
                <c:pt idx="187">
                  <c:v>45056</c:v>
                </c:pt>
                <c:pt idx="188">
                  <c:v>45057</c:v>
                </c:pt>
                <c:pt idx="189">
                  <c:v>45058</c:v>
                </c:pt>
                <c:pt idx="190">
                  <c:v>45061</c:v>
                </c:pt>
                <c:pt idx="191">
                  <c:v>45062</c:v>
                </c:pt>
                <c:pt idx="192">
                  <c:v>45063</c:v>
                </c:pt>
                <c:pt idx="193">
                  <c:v>45064</c:v>
                </c:pt>
                <c:pt idx="194">
                  <c:v>45065</c:v>
                </c:pt>
                <c:pt idx="195">
                  <c:v>45068</c:v>
                </c:pt>
                <c:pt idx="196">
                  <c:v>45069</c:v>
                </c:pt>
                <c:pt idx="197">
                  <c:v>45070</c:v>
                </c:pt>
                <c:pt idx="198">
                  <c:v>45071</c:v>
                </c:pt>
                <c:pt idx="199">
                  <c:v>45072</c:v>
                </c:pt>
                <c:pt idx="200">
                  <c:v>45075</c:v>
                </c:pt>
                <c:pt idx="201">
                  <c:v>45076</c:v>
                </c:pt>
                <c:pt idx="202">
                  <c:v>45077</c:v>
                </c:pt>
                <c:pt idx="203">
                  <c:v>45078</c:v>
                </c:pt>
                <c:pt idx="204">
                  <c:v>45079</c:v>
                </c:pt>
                <c:pt idx="205">
                  <c:v>45082</c:v>
                </c:pt>
                <c:pt idx="206">
                  <c:v>45083</c:v>
                </c:pt>
                <c:pt idx="207">
                  <c:v>45084</c:v>
                </c:pt>
                <c:pt idx="208">
                  <c:v>45085</c:v>
                </c:pt>
                <c:pt idx="209">
                  <c:v>45086</c:v>
                </c:pt>
                <c:pt idx="210">
                  <c:v>45089</c:v>
                </c:pt>
                <c:pt idx="211">
                  <c:v>45090</c:v>
                </c:pt>
                <c:pt idx="212">
                  <c:v>45091</c:v>
                </c:pt>
                <c:pt idx="213">
                  <c:v>45092</c:v>
                </c:pt>
                <c:pt idx="214">
                  <c:v>45093</c:v>
                </c:pt>
                <c:pt idx="215">
                  <c:v>45096</c:v>
                </c:pt>
                <c:pt idx="216">
                  <c:v>45097</c:v>
                </c:pt>
                <c:pt idx="217">
                  <c:v>45098</c:v>
                </c:pt>
                <c:pt idx="218">
                  <c:v>45102</c:v>
                </c:pt>
                <c:pt idx="219">
                  <c:v>45103</c:v>
                </c:pt>
                <c:pt idx="220">
                  <c:v>45104</c:v>
                </c:pt>
                <c:pt idx="221">
                  <c:v>45105</c:v>
                </c:pt>
                <c:pt idx="222">
                  <c:v>45106</c:v>
                </c:pt>
                <c:pt idx="223">
                  <c:v>45107</c:v>
                </c:pt>
                <c:pt idx="224">
                  <c:v>45110</c:v>
                </c:pt>
                <c:pt idx="225">
                  <c:v>45111</c:v>
                </c:pt>
                <c:pt idx="226">
                  <c:v>45112</c:v>
                </c:pt>
                <c:pt idx="227">
                  <c:v>45113</c:v>
                </c:pt>
                <c:pt idx="228">
                  <c:v>45114</c:v>
                </c:pt>
                <c:pt idx="229">
                  <c:v>45117</c:v>
                </c:pt>
                <c:pt idx="230">
                  <c:v>45118</c:v>
                </c:pt>
                <c:pt idx="231">
                  <c:v>45119</c:v>
                </c:pt>
                <c:pt idx="232">
                  <c:v>45120</c:v>
                </c:pt>
                <c:pt idx="233">
                  <c:v>45121</c:v>
                </c:pt>
                <c:pt idx="234">
                  <c:v>45124</c:v>
                </c:pt>
                <c:pt idx="235">
                  <c:v>45125</c:v>
                </c:pt>
                <c:pt idx="236">
                  <c:v>45126</c:v>
                </c:pt>
                <c:pt idx="237">
                  <c:v>45127</c:v>
                </c:pt>
                <c:pt idx="238">
                  <c:v>45128</c:v>
                </c:pt>
                <c:pt idx="239">
                  <c:v>45131</c:v>
                </c:pt>
                <c:pt idx="240">
                  <c:v>45132</c:v>
                </c:pt>
                <c:pt idx="241">
                  <c:v>45133</c:v>
                </c:pt>
                <c:pt idx="242">
                  <c:v>45134</c:v>
                </c:pt>
                <c:pt idx="243">
                  <c:v>45135</c:v>
                </c:pt>
                <c:pt idx="244">
                  <c:v>45138</c:v>
                </c:pt>
                <c:pt idx="245">
                  <c:v>45139</c:v>
                </c:pt>
                <c:pt idx="246">
                  <c:v>45140</c:v>
                </c:pt>
                <c:pt idx="247">
                  <c:v>45141</c:v>
                </c:pt>
                <c:pt idx="248">
                  <c:v>45142</c:v>
                </c:pt>
                <c:pt idx="249">
                  <c:v>45145</c:v>
                </c:pt>
                <c:pt idx="250">
                  <c:v>45146</c:v>
                </c:pt>
                <c:pt idx="251">
                  <c:v>45147</c:v>
                </c:pt>
                <c:pt idx="252">
                  <c:v>45148</c:v>
                </c:pt>
                <c:pt idx="253">
                  <c:v>45149</c:v>
                </c:pt>
                <c:pt idx="254">
                  <c:v>45152</c:v>
                </c:pt>
                <c:pt idx="255">
                  <c:v>45153</c:v>
                </c:pt>
                <c:pt idx="256">
                  <c:v>45154</c:v>
                </c:pt>
                <c:pt idx="257">
                  <c:v>45155</c:v>
                </c:pt>
                <c:pt idx="258">
                  <c:v>45156</c:v>
                </c:pt>
                <c:pt idx="259">
                  <c:v>45159</c:v>
                </c:pt>
                <c:pt idx="260">
                  <c:v>45160</c:v>
                </c:pt>
                <c:pt idx="261">
                  <c:v>45161</c:v>
                </c:pt>
                <c:pt idx="262">
                  <c:v>45162</c:v>
                </c:pt>
                <c:pt idx="263">
                  <c:v>45163</c:v>
                </c:pt>
                <c:pt idx="264">
                  <c:v>45166</c:v>
                </c:pt>
                <c:pt idx="265">
                  <c:v>45167</c:v>
                </c:pt>
                <c:pt idx="266">
                  <c:v>45168</c:v>
                </c:pt>
                <c:pt idx="267">
                  <c:v>45169</c:v>
                </c:pt>
                <c:pt idx="268">
                  <c:v>45170</c:v>
                </c:pt>
                <c:pt idx="269">
                  <c:v>45173</c:v>
                </c:pt>
                <c:pt idx="270">
                  <c:v>45174</c:v>
                </c:pt>
                <c:pt idx="271">
                  <c:v>45175</c:v>
                </c:pt>
                <c:pt idx="272">
                  <c:v>45176</c:v>
                </c:pt>
                <c:pt idx="273">
                  <c:v>45177</c:v>
                </c:pt>
                <c:pt idx="274">
                  <c:v>45180</c:v>
                </c:pt>
                <c:pt idx="275">
                  <c:v>45181</c:v>
                </c:pt>
                <c:pt idx="276">
                  <c:v>45182</c:v>
                </c:pt>
                <c:pt idx="277">
                  <c:v>45183</c:v>
                </c:pt>
                <c:pt idx="278">
                  <c:v>45184</c:v>
                </c:pt>
                <c:pt idx="279">
                  <c:v>45187</c:v>
                </c:pt>
                <c:pt idx="280">
                  <c:v>45188</c:v>
                </c:pt>
                <c:pt idx="281">
                  <c:v>45189</c:v>
                </c:pt>
                <c:pt idx="282">
                  <c:v>45190</c:v>
                </c:pt>
                <c:pt idx="283">
                  <c:v>45191</c:v>
                </c:pt>
                <c:pt idx="284">
                  <c:v>45194</c:v>
                </c:pt>
                <c:pt idx="285">
                  <c:v>45195</c:v>
                </c:pt>
                <c:pt idx="286">
                  <c:v>45196</c:v>
                </c:pt>
                <c:pt idx="287">
                  <c:v>45197</c:v>
                </c:pt>
                <c:pt idx="288">
                  <c:v>45206</c:v>
                </c:pt>
                <c:pt idx="289">
                  <c:v>45207</c:v>
                </c:pt>
                <c:pt idx="290">
                  <c:v>45208</c:v>
                </c:pt>
                <c:pt idx="291">
                  <c:v>45209</c:v>
                </c:pt>
                <c:pt idx="292">
                  <c:v>45210</c:v>
                </c:pt>
                <c:pt idx="293">
                  <c:v>45211</c:v>
                </c:pt>
                <c:pt idx="294">
                  <c:v>45212</c:v>
                </c:pt>
                <c:pt idx="295">
                  <c:v>45215</c:v>
                </c:pt>
                <c:pt idx="296">
                  <c:v>45216</c:v>
                </c:pt>
                <c:pt idx="297">
                  <c:v>45217</c:v>
                </c:pt>
                <c:pt idx="298">
                  <c:v>45218</c:v>
                </c:pt>
                <c:pt idx="299">
                  <c:v>45219</c:v>
                </c:pt>
                <c:pt idx="300">
                  <c:v>45222</c:v>
                </c:pt>
                <c:pt idx="301">
                  <c:v>45223</c:v>
                </c:pt>
                <c:pt idx="302">
                  <c:v>45224</c:v>
                </c:pt>
                <c:pt idx="303">
                  <c:v>45225</c:v>
                </c:pt>
                <c:pt idx="304">
                  <c:v>45226</c:v>
                </c:pt>
                <c:pt idx="305">
                  <c:v>45229</c:v>
                </c:pt>
                <c:pt idx="306">
                  <c:v>45230</c:v>
                </c:pt>
                <c:pt idx="307">
                  <c:v>45231</c:v>
                </c:pt>
                <c:pt idx="308">
                  <c:v>45232</c:v>
                </c:pt>
                <c:pt idx="309">
                  <c:v>45233</c:v>
                </c:pt>
                <c:pt idx="310">
                  <c:v>45236</c:v>
                </c:pt>
                <c:pt idx="311">
                  <c:v>45237</c:v>
                </c:pt>
                <c:pt idx="312">
                  <c:v>45238</c:v>
                </c:pt>
                <c:pt idx="313">
                  <c:v>45239</c:v>
                </c:pt>
                <c:pt idx="314">
                  <c:v>45240</c:v>
                </c:pt>
                <c:pt idx="315">
                  <c:v>45243</c:v>
                </c:pt>
                <c:pt idx="316">
                  <c:v>45244</c:v>
                </c:pt>
                <c:pt idx="317">
                  <c:v>45245</c:v>
                </c:pt>
                <c:pt idx="318">
                  <c:v>45246</c:v>
                </c:pt>
                <c:pt idx="319">
                  <c:v>45247</c:v>
                </c:pt>
                <c:pt idx="320">
                  <c:v>45250</c:v>
                </c:pt>
                <c:pt idx="321">
                  <c:v>45251</c:v>
                </c:pt>
                <c:pt idx="322">
                  <c:v>45252</c:v>
                </c:pt>
                <c:pt idx="323">
                  <c:v>45253</c:v>
                </c:pt>
                <c:pt idx="324">
                  <c:v>45254</c:v>
                </c:pt>
                <c:pt idx="325">
                  <c:v>45257</c:v>
                </c:pt>
                <c:pt idx="326">
                  <c:v>45258</c:v>
                </c:pt>
                <c:pt idx="327">
                  <c:v>45259</c:v>
                </c:pt>
                <c:pt idx="328">
                  <c:v>45260</c:v>
                </c:pt>
                <c:pt idx="329">
                  <c:v>45261</c:v>
                </c:pt>
                <c:pt idx="330">
                  <c:v>45264</c:v>
                </c:pt>
                <c:pt idx="331">
                  <c:v>45265</c:v>
                </c:pt>
                <c:pt idx="332">
                  <c:v>45266</c:v>
                </c:pt>
                <c:pt idx="333">
                  <c:v>45267</c:v>
                </c:pt>
                <c:pt idx="334">
                  <c:v>45268</c:v>
                </c:pt>
                <c:pt idx="335">
                  <c:v>45271</c:v>
                </c:pt>
                <c:pt idx="336">
                  <c:v>45272</c:v>
                </c:pt>
                <c:pt idx="337">
                  <c:v>45273</c:v>
                </c:pt>
                <c:pt idx="338">
                  <c:v>45274</c:v>
                </c:pt>
                <c:pt idx="339">
                  <c:v>45275</c:v>
                </c:pt>
                <c:pt idx="340">
                  <c:v>45278</c:v>
                </c:pt>
                <c:pt idx="341">
                  <c:v>45279</c:v>
                </c:pt>
                <c:pt idx="342">
                  <c:v>45280</c:v>
                </c:pt>
                <c:pt idx="343">
                  <c:v>45281</c:v>
                </c:pt>
                <c:pt idx="344">
                  <c:v>45282</c:v>
                </c:pt>
                <c:pt idx="345">
                  <c:v>45285</c:v>
                </c:pt>
                <c:pt idx="346">
                  <c:v>45286</c:v>
                </c:pt>
                <c:pt idx="347">
                  <c:v>45287</c:v>
                </c:pt>
                <c:pt idx="348">
                  <c:v>45288</c:v>
                </c:pt>
                <c:pt idx="349">
                  <c:v>45289</c:v>
                </c:pt>
                <c:pt idx="350">
                  <c:v>45291</c:v>
                </c:pt>
                <c:pt idx="351">
                  <c:v>45293</c:v>
                </c:pt>
                <c:pt idx="352">
                  <c:v>45294</c:v>
                </c:pt>
                <c:pt idx="353">
                  <c:v>45295</c:v>
                </c:pt>
                <c:pt idx="354">
                  <c:v>45296</c:v>
                </c:pt>
                <c:pt idx="355">
                  <c:v>45299</c:v>
                </c:pt>
                <c:pt idx="356">
                  <c:v>45300</c:v>
                </c:pt>
                <c:pt idx="357">
                  <c:v>45301</c:v>
                </c:pt>
                <c:pt idx="358">
                  <c:v>45302</c:v>
                </c:pt>
                <c:pt idx="359">
                  <c:v>45303</c:v>
                </c:pt>
                <c:pt idx="360">
                  <c:v>45306</c:v>
                </c:pt>
                <c:pt idx="361">
                  <c:v>45307</c:v>
                </c:pt>
                <c:pt idx="362">
                  <c:v>45308</c:v>
                </c:pt>
                <c:pt idx="363">
                  <c:v>45309</c:v>
                </c:pt>
                <c:pt idx="364">
                  <c:v>45310</c:v>
                </c:pt>
                <c:pt idx="365">
                  <c:v>45313</c:v>
                </c:pt>
                <c:pt idx="366">
                  <c:v>45314</c:v>
                </c:pt>
                <c:pt idx="367">
                  <c:v>45315</c:v>
                </c:pt>
                <c:pt idx="368">
                  <c:v>45316</c:v>
                </c:pt>
                <c:pt idx="369">
                  <c:v>45317</c:v>
                </c:pt>
                <c:pt idx="370">
                  <c:v>45320</c:v>
                </c:pt>
                <c:pt idx="371">
                  <c:v>45321</c:v>
                </c:pt>
                <c:pt idx="372">
                  <c:v>45322</c:v>
                </c:pt>
                <c:pt idx="373">
                  <c:v>45323</c:v>
                </c:pt>
                <c:pt idx="374">
                  <c:v>45324</c:v>
                </c:pt>
                <c:pt idx="375">
                  <c:v>45326</c:v>
                </c:pt>
                <c:pt idx="376">
                  <c:v>45327</c:v>
                </c:pt>
                <c:pt idx="377">
                  <c:v>45328</c:v>
                </c:pt>
                <c:pt idx="378">
                  <c:v>45329</c:v>
                </c:pt>
                <c:pt idx="379">
                  <c:v>45330</c:v>
                </c:pt>
                <c:pt idx="380">
                  <c:v>45331</c:v>
                </c:pt>
                <c:pt idx="381">
                  <c:v>45340</c:v>
                </c:pt>
                <c:pt idx="382">
                  <c:v>45341</c:v>
                </c:pt>
                <c:pt idx="383">
                  <c:v>45342</c:v>
                </c:pt>
                <c:pt idx="384">
                  <c:v>45343</c:v>
                </c:pt>
                <c:pt idx="385">
                  <c:v>45344</c:v>
                </c:pt>
                <c:pt idx="386">
                  <c:v>45345</c:v>
                </c:pt>
                <c:pt idx="387">
                  <c:v>45348</c:v>
                </c:pt>
                <c:pt idx="388">
                  <c:v>45349</c:v>
                </c:pt>
                <c:pt idx="389">
                  <c:v>45350</c:v>
                </c:pt>
                <c:pt idx="390">
                  <c:v>45351</c:v>
                </c:pt>
                <c:pt idx="391">
                  <c:v>45352</c:v>
                </c:pt>
                <c:pt idx="392">
                  <c:v>45355</c:v>
                </c:pt>
                <c:pt idx="393">
                  <c:v>45356</c:v>
                </c:pt>
                <c:pt idx="394">
                  <c:v>45357</c:v>
                </c:pt>
                <c:pt idx="395">
                  <c:v>45358</c:v>
                </c:pt>
                <c:pt idx="396">
                  <c:v>45359</c:v>
                </c:pt>
                <c:pt idx="397">
                  <c:v>45362</c:v>
                </c:pt>
                <c:pt idx="398">
                  <c:v>45363</c:v>
                </c:pt>
                <c:pt idx="399">
                  <c:v>45364</c:v>
                </c:pt>
                <c:pt idx="400">
                  <c:v>45365</c:v>
                </c:pt>
                <c:pt idx="401">
                  <c:v>45366</c:v>
                </c:pt>
                <c:pt idx="402">
                  <c:v>45369</c:v>
                </c:pt>
                <c:pt idx="403">
                  <c:v>45370</c:v>
                </c:pt>
                <c:pt idx="404">
                  <c:v>45371</c:v>
                </c:pt>
                <c:pt idx="405">
                  <c:v>45372</c:v>
                </c:pt>
                <c:pt idx="406">
                  <c:v>45373</c:v>
                </c:pt>
                <c:pt idx="407">
                  <c:v>45376</c:v>
                </c:pt>
                <c:pt idx="408">
                  <c:v>45377</c:v>
                </c:pt>
                <c:pt idx="409">
                  <c:v>45378</c:v>
                </c:pt>
                <c:pt idx="410">
                  <c:v>45379</c:v>
                </c:pt>
                <c:pt idx="411">
                  <c:v>45380</c:v>
                </c:pt>
                <c:pt idx="412">
                  <c:v>45383</c:v>
                </c:pt>
                <c:pt idx="413">
                  <c:v>45384</c:v>
                </c:pt>
                <c:pt idx="414">
                  <c:v>45385</c:v>
                </c:pt>
                <c:pt idx="415">
                  <c:v>45389</c:v>
                </c:pt>
                <c:pt idx="416">
                  <c:v>45390</c:v>
                </c:pt>
                <c:pt idx="417">
                  <c:v>45391</c:v>
                </c:pt>
                <c:pt idx="418">
                  <c:v>45392</c:v>
                </c:pt>
                <c:pt idx="419">
                  <c:v>45393</c:v>
                </c:pt>
                <c:pt idx="420">
                  <c:v>45394</c:v>
                </c:pt>
                <c:pt idx="421">
                  <c:v>45397</c:v>
                </c:pt>
                <c:pt idx="422">
                  <c:v>45398</c:v>
                </c:pt>
                <c:pt idx="423">
                  <c:v>45399</c:v>
                </c:pt>
                <c:pt idx="424">
                  <c:v>45400</c:v>
                </c:pt>
                <c:pt idx="425">
                  <c:v>45401</c:v>
                </c:pt>
                <c:pt idx="426">
                  <c:v>45404</c:v>
                </c:pt>
                <c:pt idx="427">
                  <c:v>45405</c:v>
                </c:pt>
                <c:pt idx="428">
                  <c:v>45406</c:v>
                </c:pt>
                <c:pt idx="429">
                  <c:v>45407</c:v>
                </c:pt>
                <c:pt idx="430">
                  <c:v>45408</c:v>
                </c:pt>
                <c:pt idx="431">
                  <c:v>45410</c:v>
                </c:pt>
                <c:pt idx="432">
                  <c:v>45411</c:v>
                </c:pt>
                <c:pt idx="433">
                  <c:v>45412</c:v>
                </c:pt>
                <c:pt idx="434">
                  <c:v>45418</c:v>
                </c:pt>
                <c:pt idx="435">
                  <c:v>45419</c:v>
                </c:pt>
                <c:pt idx="436">
                  <c:v>45420</c:v>
                </c:pt>
                <c:pt idx="437">
                  <c:v>45421</c:v>
                </c:pt>
                <c:pt idx="438">
                  <c:v>45422</c:v>
                </c:pt>
                <c:pt idx="439">
                  <c:v>45423</c:v>
                </c:pt>
                <c:pt idx="440">
                  <c:v>45425</c:v>
                </c:pt>
                <c:pt idx="441">
                  <c:v>45426</c:v>
                </c:pt>
                <c:pt idx="442">
                  <c:v>45427</c:v>
                </c:pt>
                <c:pt idx="443">
                  <c:v>45428</c:v>
                </c:pt>
                <c:pt idx="444">
                  <c:v>45429</c:v>
                </c:pt>
                <c:pt idx="445">
                  <c:v>45432</c:v>
                </c:pt>
                <c:pt idx="446">
                  <c:v>45433</c:v>
                </c:pt>
                <c:pt idx="447">
                  <c:v>45434</c:v>
                </c:pt>
                <c:pt idx="448">
                  <c:v>45435</c:v>
                </c:pt>
                <c:pt idx="449">
                  <c:v>45436</c:v>
                </c:pt>
                <c:pt idx="450">
                  <c:v>45439</c:v>
                </c:pt>
                <c:pt idx="451">
                  <c:v>45440</c:v>
                </c:pt>
                <c:pt idx="452">
                  <c:v>45441</c:v>
                </c:pt>
                <c:pt idx="453">
                  <c:v>45442</c:v>
                </c:pt>
                <c:pt idx="454">
                  <c:v>45443</c:v>
                </c:pt>
                <c:pt idx="455">
                  <c:v>45446</c:v>
                </c:pt>
                <c:pt idx="456">
                  <c:v>45447</c:v>
                </c:pt>
                <c:pt idx="457">
                  <c:v>45448</c:v>
                </c:pt>
                <c:pt idx="458">
                  <c:v>45449</c:v>
                </c:pt>
                <c:pt idx="459">
                  <c:v>45450</c:v>
                </c:pt>
                <c:pt idx="460">
                  <c:v>45454</c:v>
                </c:pt>
                <c:pt idx="461">
                  <c:v>45455</c:v>
                </c:pt>
                <c:pt idx="462">
                  <c:v>45456</c:v>
                </c:pt>
                <c:pt idx="463">
                  <c:v>45457</c:v>
                </c:pt>
                <c:pt idx="464">
                  <c:v>45460</c:v>
                </c:pt>
                <c:pt idx="465">
                  <c:v>45461</c:v>
                </c:pt>
                <c:pt idx="466">
                  <c:v>45462</c:v>
                </c:pt>
                <c:pt idx="467">
                  <c:v>45463</c:v>
                </c:pt>
                <c:pt idx="468">
                  <c:v>45464</c:v>
                </c:pt>
                <c:pt idx="469">
                  <c:v>45467</c:v>
                </c:pt>
                <c:pt idx="470">
                  <c:v>45468</c:v>
                </c:pt>
                <c:pt idx="471">
                  <c:v>45469</c:v>
                </c:pt>
                <c:pt idx="472">
                  <c:v>45470</c:v>
                </c:pt>
                <c:pt idx="473">
                  <c:v>45471</c:v>
                </c:pt>
                <c:pt idx="474">
                  <c:v>45474</c:v>
                </c:pt>
                <c:pt idx="475">
                  <c:v>45475</c:v>
                </c:pt>
                <c:pt idx="476">
                  <c:v>45476</c:v>
                </c:pt>
                <c:pt idx="477">
                  <c:v>45477</c:v>
                </c:pt>
                <c:pt idx="478">
                  <c:v>45478</c:v>
                </c:pt>
                <c:pt idx="479">
                  <c:v>45481</c:v>
                </c:pt>
                <c:pt idx="480">
                  <c:v>45482</c:v>
                </c:pt>
                <c:pt idx="481">
                  <c:v>45483</c:v>
                </c:pt>
                <c:pt idx="482">
                  <c:v>45484</c:v>
                </c:pt>
                <c:pt idx="483">
                  <c:v>45485</c:v>
                </c:pt>
                <c:pt idx="484">
                  <c:v>45488</c:v>
                </c:pt>
                <c:pt idx="485">
                  <c:v>45489</c:v>
                </c:pt>
                <c:pt idx="486">
                  <c:v>45490</c:v>
                </c:pt>
                <c:pt idx="487">
                  <c:v>45491</c:v>
                </c:pt>
                <c:pt idx="488">
                  <c:v>45492</c:v>
                </c:pt>
                <c:pt idx="489">
                  <c:v>45495</c:v>
                </c:pt>
                <c:pt idx="490">
                  <c:v>45496</c:v>
                </c:pt>
                <c:pt idx="491">
                  <c:v>45497</c:v>
                </c:pt>
                <c:pt idx="492">
                  <c:v>45498</c:v>
                </c:pt>
                <c:pt idx="493">
                  <c:v>45499</c:v>
                </c:pt>
                <c:pt idx="494">
                  <c:v>45502</c:v>
                </c:pt>
                <c:pt idx="495">
                  <c:v>45503</c:v>
                </c:pt>
                <c:pt idx="496">
                  <c:v>45504</c:v>
                </c:pt>
                <c:pt idx="497">
                  <c:v>45505</c:v>
                </c:pt>
                <c:pt idx="498">
                  <c:v>45506</c:v>
                </c:pt>
                <c:pt idx="499">
                  <c:v>45509</c:v>
                </c:pt>
                <c:pt idx="500">
                  <c:v>45510</c:v>
                </c:pt>
                <c:pt idx="501">
                  <c:v>45511</c:v>
                </c:pt>
                <c:pt idx="502">
                  <c:v>45512</c:v>
                </c:pt>
                <c:pt idx="503">
                  <c:v>45513</c:v>
                </c:pt>
                <c:pt idx="504">
                  <c:v>45516</c:v>
                </c:pt>
                <c:pt idx="505">
                  <c:v>45517</c:v>
                </c:pt>
                <c:pt idx="506">
                  <c:v>45518</c:v>
                </c:pt>
                <c:pt idx="507">
                  <c:v>45519</c:v>
                </c:pt>
                <c:pt idx="508">
                  <c:v>45520</c:v>
                </c:pt>
                <c:pt idx="509">
                  <c:v>45523</c:v>
                </c:pt>
                <c:pt idx="510">
                  <c:v>45524</c:v>
                </c:pt>
                <c:pt idx="511">
                  <c:v>45525</c:v>
                </c:pt>
                <c:pt idx="512">
                  <c:v>45526</c:v>
                </c:pt>
                <c:pt idx="513">
                  <c:v>45527</c:v>
                </c:pt>
                <c:pt idx="514">
                  <c:v>45530</c:v>
                </c:pt>
                <c:pt idx="515">
                  <c:v>45531</c:v>
                </c:pt>
                <c:pt idx="516">
                  <c:v>45532</c:v>
                </c:pt>
                <c:pt idx="517">
                  <c:v>45533</c:v>
                </c:pt>
                <c:pt idx="518">
                  <c:v>45534</c:v>
                </c:pt>
                <c:pt idx="519">
                  <c:v>45537</c:v>
                </c:pt>
                <c:pt idx="520">
                  <c:v>45538</c:v>
                </c:pt>
                <c:pt idx="521">
                  <c:v>45539</c:v>
                </c:pt>
                <c:pt idx="522">
                  <c:v>45540</c:v>
                </c:pt>
                <c:pt idx="523">
                  <c:v>45541</c:v>
                </c:pt>
                <c:pt idx="524">
                  <c:v>45544</c:v>
                </c:pt>
                <c:pt idx="525">
                  <c:v>45545</c:v>
                </c:pt>
                <c:pt idx="526">
                  <c:v>45546</c:v>
                </c:pt>
                <c:pt idx="527">
                  <c:v>45547</c:v>
                </c:pt>
                <c:pt idx="528">
                  <c:v>45548</c:v>
                </c:pt>
                <c:pt idx="529">
                  <c:v>45549</c:v>
                </c:pt>
                <c:pt idx="530">
                  <c:v>45553</c:v>
                </c:pt>
                <c:pt idx="531">
                  <c:v>45554</c:v>
                </c:pt>
                <c:pt idx="532">
                  <c:v>45555</c:v>
                </c:pt>
                <c:pt idx="533">
                  <c:v>45558</c:v>
                </c:pt>
                <c:pt idx="534">
                  <c:v>45559</c:v>
                </c:pt>
                <c:pt idx="535">
                  <c:v>45560</c:v>
                </c:pt>
                <c:pt idx="536">
                  <c:v>45561</c:v>
                </c:pt>
                <c:pt idx="537">
                  <c:v>45562</c:v>
                </c:pt>
                <c:pt idx="538">
                  <c:v>45564</c:v>
                </c:pt>
                <c:pt idx="539">
                  <c:v>45565</c:v>
                </c:pt>
                <c:pt idx="540">
                  <c:v>45573</c:v>
                </c:pt>
                <c:pt idx="541">
                  <c:v>45574</c:v>
                </c:pt>
                <c:pt idx="542">
                  <c:v>45575</c:v>
                </c:pt>
                <c:pt idx="543">
                  <c:v>45576</c:v>
                </c:pt>
                <c:pt idx="544">
                  <c:v>45577</c:v>
                </c:pt>
                <c:pt idx="545">
                  <c:v>45579</c:v>
                </c:pt>
                <c:pt idx="546">
                  <c:v>45580</c:v>
                </c:pt>
                <c:pt idx="547">
                  <c:v>45581</c:v>
                </c:pt>
                <c:pt idx="548">
                  <c:v>45582</c:v>
                </c:pt>
                <c:pt idx="549">
                  <c:v>45583</c:v>
                </c:pt>
                <c:pt idx="550">
                  <c:v>45586</c:v>
                </c:pt>
                <c:pt idx="551">
                  <c:v>45587</c:v>
                </c:pt>
                <c:pt idx="552">
                  <c:v>45588</c:v>
                </c:pt>
                <c:pt idx="553">
                  <c:v>45589</c:v>
                </c:pt>
                <c:pt idx="554">
                  <c:v>45590</c:v>
                </c:pt>
                <c:pt idx="555">
                  <c:v>45593</c:v>
                </c:pt>
                <c:pt idx="556">
                  <c:v>45594</c:v>
                </c:pt>
                <c:pt idx="557">
                  <c:v>45595</c:v>
                </c:pt>
                <c:pt idx="558">
                  <c:v>45596</c:v>
                </c:pt>
                <c:pt idx="559">
                  <c:v>45597</c:v>
                </c:pt>
                <c:pt idx="560">
                  <c:v>45600</c:v>
                </c:pt>
                <c:pt idx="561">
                  <c:v>45601</c:v>
                </c:pt>
                <c:pt idx="562">
                  <c:v>45602</c:v>
                </c:pt>
                <c:pt idx="563">
                  <c:v>45603</c:v>
                </c:pt>
                <c:pt idx="564">
                  <c:v>45604</c:v>
                </c:pt>
                <c:pt idx="565">
                  <c:v>45607</c:v>
                </c:pt>
                <c:pt idx="566">
                  <c:v>45608</c:v>
                </c:pt>
                <c:pt idx="567">
                  <c:v>45609</c:v>
                </c:pt>
                <c:pt idx="568">
                  <c:v>45610</c:v>
                </c:pt>
                <c:pt idx="569">
                  <c:v>45611</c:v>
                </c:pt>
                <c:pt idx="570">
                  <c:v>45614</c:v>
                </c:pt>
                <c:pt idx="571">
                  <c:v>45615</c:v>
                </c:pt>
                <c:pt idx="572">
                  <c:v>45616</c:v>
                </c:pt>
                <c:pt idx="573">
                  <c:v>45617</c:v>
                </c:pt>
                <c:pt idx="574">
                  <c:v>45618</c:v>
                </c:pt>
                <c:pt idx="575">
                  <c:v>45621</c:v>
                </c:pt>
                <c:pt idx="576">
                  <c:v>45622</c:v>
                </c:pt>
                <c:pt idx="577">
                  <c:v>45623</c:v>
                </c:pt>
                <c:pt idx="578">
                  <c:v>45624</c:v>
                </c:pt>
                <c:pt idx="579">
                  <c:v>45625</c:v>
                </c:pt>
                <c:pt idx="580">
                  <c:v>45628</c:v>
                </c:pt>
                <c:pt idx="581">
                  <c:v>45629</c:v>
                </c:pt>
                <c:pt idx="582">
                  <c:v>45630</c:v>
                </c:pt>
                <c:pt idx="583">
                  <c:v>45631</c:v>
                </c:pt>
                <c:pt idx="584">
                  <c:v>45632</c:v>
                </c:pt>
                <c:pt idx="585">
                  <c:v>45635</c:v>
                </c:pt>
                <c:pt idx="586">
                  <c:v>45636</c:v>
                </c:pt>
                <c:pt idx="587">
                  <c:v>45637</c:v>
                </c:pt>
                <c:pt idx="588">
                  <c:v>45638</c:v>
                </c:pt>
                <c:pt idx="589">
                  <c:v>45639</c:v>
                </c:pt>
                <c:pt idx="590">
                  <c:v>45642</c:v>
                </c:pt>
                <c:pt idx="591">
                  <c:v>45643</c:v>
                </c:pt>
                <c:pt idx="592">
                  <c:v>45644</c:v>
                </c:pt>
                <c:pt idx="593">
                  <c:v>45645</c:v>
                </c:pt>
                <c:pt idx="594">
                  <c:v>45646</c:v>
                </c:pt>
                <c:pt idx="595">
                  <c:v>45649</c:v>
                </c:pt>
                <c:pt idx="596">
                  <c:v>45650</c:v>
                </c:pt>
                <c:pt idx="597">
                  <c:v>45651</c:v>
                </c:pt>
                <c:pt idx="598">
                  <c:v>45652</c:v>
                </c:pt>
                <c:pt idx="599">
                  <c:v>45653</c:v>
                </c:pt>
                <c:pt idx="600">
                  <c:v>45656</c:v>
                </c:pt>
                <c:pt idx="601">
                  <c:v>45657</c:v>
                </c:pt>
                <c:pt idx="602">
                  <c:v>45659</c:v>
                </c:pt>
                <c:pt idx="603">
                  <c:v>45660</c:v>
                </c:pt>
                <c:pt idx="604">
                  <c:v>45663</c:v>
                </c:pt>
                <c:pt idx="605">
                  <c:v>45664</c:v>
                </c:pt>
                <c:pt idx="606">
                  <c:v>45665</c:v>
                </c:pt>
                <c:pt idx="607">
                  <c:v>45666</c:v>
                </c:pt>
                <c:pt idx="608">
                  <c:v>45667</c:v>
                </c:pt>
                <c:pt idx="609">
                  <c:v>45670</c:v>
                </c:pt>
                <c:pt idx="610">
                  <c:v>45671</c:v>
                </c:pt>
                <c:pt idx="611">
                  <c:v>45672</c:v>
                </c:pt>
                <c:pt idx="612">
                  <c:v>45673</c:v>
                </c:pt>
                <c:pt idx="613">
                  <c:v>45674</c:v>
                </c:pt>
                <c:pt idx="614">
                  <c:v>45677</c:v>
                </c:pt>
                <c:pt idx="615">
                  <c:v>45678</c:v>
                </c:pt>
                <c:pt idx="616">
                  <c:v>45679</c:v>
                </c:pt>
                <c:pt idx="617">
                  <c:v>45680</c:v>
                </c:pt>
                <c:pt idx="618">
                  <c:v>45681</c:v>
                </c:pt>
                <c:pt idx="619">
                  <c:v>45683</c:v>
                </c:pt>
                <c:pt idx="620">
                  <c:v>45684</c:v>
                </c:pt>
                <c:pt idx="621">
                  <c:v>45693</c:v>
                </c:pt>
                <c:pt idx="622">
                  <c:v>45694</c:v>
                </c:pt>
                <c:pt idx="623">
                  <c:v>45695</c:v>
                </c:pt>
                <c:pt idx="624">
                  <c:v>45696</c:v>
                </c:pt>
                <c:pt idx="625">
                  <c:v>45698</c:v>
                </c:pt>
                <c:pt idx="626">
                  <c:v>45699</c:v>
                </c:pt>
                <c:pt idx="627">
                  <c:v>45700</c:v>
                </c:pt>
                <c:pt idx="628">
                  <c:v>45701</c:v>
                </c:pt>
                <c:pt idx="629">
                  <c:v>45702</c:v>
                </c:pt>
                <c:pt idx="630">
                  <c:v>45705</c:v>
                </c:pt>
                <c:pt idx="631">
                  <c:v>45706</c:v>
                </c:pt>
                <c:pt idx="632">
                  <c:v>45707</c:v>
                </c:pt>
                <c:pt idx="633">
                  <c:v>45708</c:v>
                </c:pt>
                <c:pt idx="634">
                  <c:v>45709</c:v>
                </c:pt>
                <c:pt idx="635">
                  <c:v>45712</c:v>
                </c:pt>
                <c:pt idx="636">
                  <c:v>45713</c:v>
                </c:pt>
                <c:pt idx="637">
                  <c:v>45714</c:v>
                </c:pt>
                <c:pt idx="638">
                  <c:v>45715</c:v>
                </c:pt>
                <c:pt idx="639">
                  <c:v>45716</c:v>
                </c:pt>
                <c:pt idx="640">
                  <c:v>45719</c:v>
                </c:pt>
                <c:pt idx="641">
                  <c:v>45720</c:v>
                </c:pt>
                <c:pt idx="642">
                  <c:v>45721</c:v>
                </c:pt>
                <c:pt idx="643">
                  <c:v>45722</c:v>
                </c:pt>
                <c:pt idx="644">
                  <c:v>45723</c:v>
                </c:pt>
                <c:pt idx="645">
                  <c:v>45726</c:v>
                </c:pt>
                <c:pt idx="646">
                  <c:v>45727</c:v>
                </c:pt>
                <c:pt idx="647">
                  <c:v>45728</c:v>
                </c:pt>
                <c:pt idx="648">
                  <c:v>45729</c:v>
                </c:pt>
                <c:pt idx="649">
                  <c:v>45730</c:v>
                </c:pt>
                <c:pt idx="650">
                  <c:v>45733</c:v>
                </c:pt>
                <c:pt idx="651">
                  <c:v>45734</c:v>
                </c:pt>
                <c:pt idx="652">
                  <c:v>45735</c:v>
                </c:pt>
                <c:pt idx="653">
                  <c:v>45736</c:v>
                </c:pt>
                <c:pt idx="654">
                  <c:v>45737</c:v>
                </c:pt>
                <c:pt idx="655">
                  <c:v>45740</c:v>
                </c:pt>
                <c:pt idx="656">
                  <c:v>45741</c:v>
                </c:pt>
                <c:pt idx="657">
                  <c:v>45742</c:v>
                </c:pt>
                <c:pt idx="658">
                  <c:v>45743</c:v>
                </c:pt>
                <c:pt idx="659">
                  <c:v>45744</c:v>
                </c:pt>
                <c:pt idx="660">
                  <c:v>45747</c:v>
                </c:pt>
                <c:pt idx="661">
                  <c:v>45748</c:v>
                </c:pt>
                <c:pt idx="662">
                  <c:v>45749</c:v>
                </c:pt>
                <c:pt idx="663">
                  <c:v>45750</c:v>
                </c:pt>
                <c:pt idx="664">
                  <c:v>45754</c:v>
                </c:pt>
                <c:pt idx="665">
                  <c:v>45755</c:v>
                </c:pt>
                <c:pt idx="666">
                  <c:v>45756</c:v>
                </c:pt>
                <c:pt idx="667">
                  <c:v>45757</c:v>
                </c:pt>
                <c:pt idx="668">
                  <c:v>45758</c:v>
                </c:pt>
                <c:pt idx="669">
                  <c:v>45761</c:v>
                </c:pt>
                <c:pt idx="670">
                  <c:v>45762</c:v>
                </c:pt>
                <c:pt idx="671">
                  <c:v>45763</c:v>
                </c:pt>
                <c:pt idx="672">
                  <c:v>45764</c:v>
                </c:pt>
                <c:pt idx="673">
                  <c:v>45765</c:v>
                </c:pt>
                <c:pt idx="674">
                  <c:v>45768</c:v>
                </c:pt>
                <c:pt idx="675">
                  <c:v>45769</c:v>
                </c:pt>
                <c:pt idx="676">
                  <c:v>45770</c:v>
                </c:pt>
                <c:pt idx="677">
                  <c:v>45771</c:v>
                </c:pt>
                <c:pt idx="678">
                  <c:v>45772</c:v>
                </c:pt>
                <c:pt idx="679">
                  <c:v>45774</c:v>
                </c:pt>
                <c:pt idx="680">
                  <c:v>45775</c:v>
                </c:pt>
                <c:pt idx="681">
                  <c:v>45776</c:v>
                </c:pt>
                <c:pt idx="682">
                  <c:v>45777</c:v>
                </c:pt>
                <c:pt idx="683">
                  <c:v>45783</c:v>
                </c:pt>
                <c:pt idx="684">
                  <c:v>45784</c:v>
                </c:pt>
                <c:pt idx="685">
                  <c:v>45785</c:v>
                </c:pt>
                <c:pt idx="686">
                  <c:v>45786</c:v>
                </c:pt>
                <c:pt idx="687">
                  <c:v>45789</c:v>
                </c:pt>
                <c:pt idx="688">
                  <c:v>45790</c:v>
                </c:pt>
                <c:pt idx="689">
                  <c:v>45791</c:v>
                </c:pt>
                <c:pt idx="690">
                  <c:v>45792</c:v>
                </c:pt>
                <c:pt idx="691">
                  <c:v>45793</c:v>
                </c:pt>
                <c:pt idx="692">
                  <c:v>45796</c:v>
                </c:pt>
                <c:pt idx="693">
                  <c:v>45797</c:v>
                </c:pt>
                <c:pt idx="694">
                  <c:v>45798</c:v>
                </c:pt>
                <c:pt idx="695">
                  <c:v>45799</c:v>
                </c:pt>
                <c:pt idx="696">
                  <c:v>45800</c:v>
                </c:pt>
                <c:pt idx="697">
                  <c:v>45803</c:v>
                </c:pt>
                <c:pt idx="698">
                  <c:v>45804</c:v>
                </c:pt>
                <c:pt idx="699">
                  <c:v>45805</c:v>
                </c:pt>
                <c:pt idx="700">
                  <c:v>45806</c:v>
                </c:pt>
                <c:pt idx="701">
                  <c:v>45807</c:v>
                </c:pt>
                <c:pt idx="702">
                  <c:v>45811</c:v>
                </c:pt>
                <c:pt idx="703">
                  <c:v>45812</c:v>
                </c:pt>
                <c:pt idx="704">
                  <c:v>45813</c:v>
                </c:pt>
                <c:pt idx="705">
                  <c:v>45814</c:v>
                </c:pt>
                <c:pt idx="706">
                  <c:v>45817</c:v>
                </c:pt>
                <c:pt idx="707">
                  <c:v>45818</c:v>
                </c:pt>
                <c:pt idx="708">
                  <c:v>45819</c:v>
                </c:pt>
                <c:pt idx="709">
                  <c:v>45820</c:v>
                </c:pt>
                <c:pt idx="710">
                  <c:v>45821</c:v>
                </c:pt>
                <c:pt idx="711">
                  <c:v>45824</c:v>
                </c:pt>
                <c:pt idx="712">
                  <c:v>45825</c:v>
                </c:pt>
                <c:pt idx="713">
                  <c:v>45826</c:v>
                </c:pt>
                <c:pt idx="714">
                  <c:v>45827</c:v>
                </c:pt>
                <c:pt idx="715">
                  <c:v>45828</c:v>
                </c:pt>
                <c:pt idx="716">
                  <c:v>45831</c:v>
                </c:pt>
                <c:pt idx="717">
                  <c:v>45832</c:v>
                </c:pt>
                <c:pt idx="718">
                  <c:v>45833</c:v>
                </c:pt>
                <c:pt idx="719">
                  <c:v>45834</c:v>
                </c:pt>
                <c:pt idx="720">
                  <c:v>45835</c:v>
                </c:pt>
                <c:pt idx="721">
                  <c:v>45838</c:v>
                </c:pt>
                <c:pt idx="722">
                  <c:v>45839</c:v>
                </c:pt>
                <c:pt idx="723">
                  <c:v>45840</c:v>
                </c:pt>
                <c:pt idx="724">
                  <c:v>45841</c:v>
                </c:pt>
                <c:pt idx="725">
                  <c:v>45842</c:v>
                </c:pt>
                <c:pt idx="726">
                  <c:v>45845</c:v>
                </c:pt>
                <c:pt idx="727">
                  <c:v>45846</c:v>
                </c:pt>
                <c:pt idx="728">
                  <c:v>45847</c:v>
                </c:pt>
                <c:pt idx="729">
                  <c:v>45848</c:v>
                </c:pt>
                <c:pt idx="730">
                  <c:v>45849</c:v>
                </c:pt>
                <c:pt idx="731">
                  <c:v>45852</c:v>
                </c:pt>
                <c:pt idx="732">
                  <c:v>45853</c:v>
                </c:pt>
                <c:pt idx="733">
                  <c:v>45854</c:v>
                </c:pt>
                <c:pt idx="734">
                  <c:v>45855</c:v>
                </c:pt>
                <c:pt idx="735">
                  <c:v>45856</c:v>
                </c:pt>
                <c:pt idx="736">
                  <c:v>45859</c:v>
                </c:pt>
                <c:pt idx="737">
                  <c:v>45860</c:v>
                </c:pt>
                <c:pt idx="738">
                  <c:v>45861</c:v>
                </c:pt>
                <c:pt idx="739">
                  <c:v>45862</c:v>
                </c:pt>
                <c:pt idx="740">
                  <c:v>45863</c:v>
                </c:pt>
                <c:pt idx="741">
                  <c:v>45866</c:v>
                </c:pt>
                <c:pt idx="742">
                  <c:v>45867</c:v>
                </c:pt>
                <c:pt idx="743">
                  <c:v>45868</c:v>
                </c:pt>
                <c:pt idx="744">
                  <c:v>45869</c:v>
                </c:pt>
                <c:pt idx="745">
                  <c:v>45870</c:v>
                </c:pt>
                <c:pt idx="746">
                  <c:v>45873</c:v>
                </c:pt>
                <c:pt idx="747">
                  <c:v>45874</c:v>
                </c:pt>
                <c:pt idx="748">
                  <c:v>45875</c:v>
                </c:pt>
                <c:pt idx="749">
                  <c:v>45876</c:v>
                </c:pt>
                <c:pt idx="750">
                  <c:v>45877</c:v>
                </c:pt>
                <c:pt idx="751">
                  <c:v>45880</c:v>
                </c:pt>
                <c:pt idx="752">
                  <c:v>45881</c:v>
                </c:pt>
                <c:pt idx="753">
                  <c:v>45882</c:v>
                </c:pt>
                <c:pt idx="754">
                  <c:v>45883</c:v>
                </c:pt>
                <c:pt idx="755">
                  <c:v>45884</c:v>
                </c:pt>
                <c:pt idx="756">
                  <c:v>45887</c:v>
                </c:pt>
                <c:pt idx="757">
                  <c:v>45888</c:v>
                </c:pt>
                <c:pt idx="758">
                  <c:v>45889</c:v>
                </c:pt>
                <c:pt idx="759">
                  <c:v>45890</c:v>
                </c:pt>
                <c:pt idx="760">
                  <c:v>45891</c:v>
                </c:pt>
                <c:pt idx="761">
                  <c:v>45894</c:v>
                </c:pt>
                <c:pt idx="762">
                  <c:v>45895</c:v>
                </c:pt>
                <c:pt idx="763">
                  <c:v>45896</c:v>
                </c:pt>
                <c:pt idx="764">
                  <c:v>45897</c:v>
                </c:pt>
                <c:pt idx="765">
                  <c:v>45898</c:v>
                </c:pt>
                <c:pt idx="766">
                  <c:v>45901</c:v>
                </c:pt>
                <c:pt idx="767">
                  <c:v>45902</c:v>
                </c:pt>
                <c:pt idx="768">
                  <c:v>45903</c:v>
                </c:pt>
                <c:pt idx="769">
                  <c:v>45904</c:v>
                </c:pt>
                <c:pt idx="770">
                  <c:v>45905</c:v>
                </c:pt>
                <c:pt idx="771">
                  <c:v>45908</c:v>
                </c:pt>
                <c:pt idx="772">
                  <c:v>45909</c:v>
                </c:pt>
                <c:pt idx="773">
                  <c:v>45910</c:v>
                </c:pt>
                <c:pt idx="774">
                  <c:v>45911</c:v>
                </c:pt>
                <c:pt idx="775">
                  <c:v>45912</c:v>
                </c:pt>
                <c:pt idx="776">
                  <c:v>45915</c:v>
                </c:pt>
                <c:pt idx="777">
                  <c:v>45916</c:v>
                </c:pt>
                <c:pt idx="778">
                  <c:v>45917</c:v>
                </c:pt>
                <c:pt idx="779">
                  <c:v>45918</c:v>
                </c:pt>
                <c:pt idx="780">
                  <c:v>45919</c:v>
                </c:pt>
                <c:pt idx="781">
                  <c:v>45922</c:v>
                </c:pt>
                <c:pt idx="782">
                  <c:v>45923</c:v>
                </c:pt>
                <c:pt idx="783">
                  <c:v>45924</c:v>
                </c:pt>
                <c:pt idx="784">
                  <c:v>45925</c:v>
                </c:pt>
                <c:pt idx="785">
                  <c:v>45926</c:v>
                </c:pt>
                <c:pt idx="786">
                  <c:v>45928</c:v>
                </c:pt>
                <c:pt idx="787">
                  <c:v>45929</c:v>
                </c:pt>
                <c:pt idx="788">
                  <c:v>45930</c:v>
                </c:pt>
                <c:pt idx="789">
                  <c:v>45939</c:v>
                </c:pt>
                <c:pt idx="790">
                  <c:v>45940</c:v>
                </c:pt>
                <c:pt idx="791">
                  <c:v>45941</c:v>
                </c:pt>
                <c:pt idx="792">
                  <c:v>45943</c:v>
                </c:pt>
                <c:pt idx="793">
                  <c:v>45944</c:v>
                </c:pt>
                <c:pt idx="794">
                  <c:v>45945</c:v>
                </c:pt>
                <c:pt idx="795">
                  <c:v>45946</c:v>
                </c:pt>
                <c:pt idx="796">
                  <c:v>45947</c:v>
                </c:pt>
                <c:pt idx="797">
                  <c:v>45950</c:v>
                </c:pt>
                <c:pt idx="798">
                  <c:v>45951</c:v>
                </c:pt>
                <c:pt idx="799">
                  <c:v>45952</c:v>
                </c:pt>
                <c:pt idx="800">
                  <c:v>45953</c:v>
                </c:pt>
                <c:pt idx="801">
                  <c:v>45954</c:v>
                </c:pt>
                <c:pt idx="802">
                  <c:v>45957</c:v>
                </c:pt>
                <c:pt idx="803">
                  <c:v>45958</c:v>
                </c:pt>
                <c:pt idx="804">
                  <c:v>45959</c:v>
                </c:pt>
                <c:pt idx="805">
                  <c:v>45960</c:v>
                </c:pt>
                <c:pt idx="806">
                  <c:v>45961</c:v>
                </c:pt>
                <c:pt idx="807">
                  <c:v>45964</c:v>
                </c:pt>
                <c:pt idx="808">
                  <c:v>45965</c:v>
                </c:pt>
                <c:pt idx="809">
                  <c:v>45966</c:v>
                </c:pt>
                <c:pt idx="810">
                  <c:v>45967</c:v>
                </c:pt>
                <c:pt idx="811">
                  <c:v>45968</c:v>
                </c:pt>
                <c:pt idx="812">
                  <c:v>45971</c:v>
                </c:pt>
                <c:pt idx="813">
                  <c:v>45972</c:v>
                </c:pt>
                <c:pt idx="814">
                  <c:v>45973</c:v>
                </c:pt>
                <c:pt idx="815">
                  <c:v>45974</c:v>
                </c:pt>
                <c:pt idx="816">
                  <c:v>45975</c:v>
                </c:pt>
                <c:pt idx="817">
                  <c:v>45978</c:v>
                </c:pt>
                <c:pt idx="818">
                  <c:v>45979</c:v>
                </c:pt>
                <c:pt idx="819">
                  <c:v>45980</c:v>
                </c:pt>
                <c:pt idx="820">
                  <c:v>45981</c:v>
                </c:pt>
                <c:pt idx="821">
                  <c:v>45982</c:v>
                </c:pt>
                <c:pt idx="822">
                  <c:v>45985</c:v>
                </c:pt>
                <c:pt idx="823">
                  <c:v>45986</c:v>
                </c:pt>
                <c:pt idx="824">
                  <c:v>45987</c:v>
                </c:pt>
                <c:pt idx="825">
                  <c:v>45988</c:v>
                </c:pt>
                <c:pt idx="826">
                  <c:v>45989</c:v>
                </c:pt>
                <c:pt idx="827">
                  <c:v>45992</c:v>
                </c:pt>
                <c:pt idx="828">
                  <c:v>45993</c:v>
                </c:pt>
                <c:pt idx="829">
                  <c:v>45994</c:v>
                </c:pt>
                <c:pt idx="830">
                  <c:v>45995</c:v>
                </c:pt>
                <c:pt idx="831">
                  <c:v>45996</c:v>
                </c:pt>
                <c:pt idx="832">
                  <c:v>45999</c:v>
                </c:pt>
                <c:pt idx="833">
                  <c:v>46000</c:v>
                </c:pt>
                <c:pt idx="834">
                  <c:v>46001</c:v>
                </c:pt>
                <c:pt idx="835">
                  <c:v>46002</c:v>
                </c:pt>
                <c:pt idx="836">
                  <c:v>46003</c:v>
                </c:pt>
                <c:pt idx="837">
                  <c:v>46006</c:v>
                </c:pt>
                <c:pt idx="838">
                  <c:v>46007</c:v>
                </c:pt>
                <c:pt idx="839">
                  <c:v>46008</c:v>
                </c:pt>
                <c:pt idx="840">
                  <c:v>46009</c:v>
                </c:pt>
                <c:pt idx="841">
                  <c:v>46010</c:v>
                </c:pt>
                <c:pt idx="842">
                  <c:v>46013</c:v>
                </c:pt>
                <c:pt idx="843">
                  <c:v>46014</c:v>
                </c:pt>
                <c:pt idx="844">
                  <c:v>46015</c:v>
                </c:pt>
                <c:pt idx="845">
                  <c:v>46016</c:v>
                </c:pt>
                <c:pt idx="846">
                  <c:v>46017</c:v>
                </c:pt>
                <c:pt idx="847">
                  <c:v>46020</c:v>
                </c:pt>
                <c:pt idx="848">
                  <c:v>46021</c:v>
                </c:pt>
                <c:pt idx="849">
                  <c:v>46022</c:v>
                </c:pt>
                <c:pt idx="850">
                  <c:v>46026</c:v>
                </c:pt>
                <c:pt idx="851">
                  <c:v>46027</c:v>
                </c:pt>
                <c:pt idx="852">
                  <c:v>46028</c:v>
                </c:pt>
                <c:pt idx="853">
                  <c:v>46029</c:v>
                </c:pt>
                <c:pt idx="854">
                  <c:v>46030</c:v>
                </c:pt>
                <c:pt idx="855">
                  <c:v>46031</c:v>
                </c:pt>
                <c:pt idx="856">
                  <c:v>46034</c:v>
                </c:pt>
                <c:pt idx="857">
                  <c:v>46035</c:v>
                </c:pt>
                <c:pt idx="858">
                  <c:v>46036</c:v>
                </c:pt>
                <c:pt idx="859">
                  <c:v>46037</c:v>
                </c:pt>
                <c:pt idx="860">
                  <c:v>46038</c:v>
                </c:pt>
                <c:pt idx="861">
                  <c:v>46041</c:v>
                </c:pt>
                <c:pt idx="862">
                  <c:v>46042</c:v>
                </c:pt>
                <c:pt idx="863">
                  <c:v>46043</c:v>
                </c:pt>
                <c:pt idx="864">
                  <c:v>46044</c:v>
                </c:pt>
                <c:pt idx="865">
                  <c:v>46045</c:v>
                </c:pt>
                <c:pt idx="866">
                  <c:v>46048</c:v>
                </c:pt>
                <c:pt idx="867">
                  <c:v>46049</c:v>
                </c:pt>
                <c:pt idx="868">
                  <c:v>46050</c:v>
                </c:pt>
                <c:pt idx="869">
                  <c:v>46051</c:v>
                </c:pt>
                <c:pt idx="870">
                  <c:v>46052</c:v>
                </c:pt>
                <c:pt idx="871">
                  <c:v>46055</c:v>
                </c:pt>
                <c:pt idx="872">
                  <c:v>46056</c:v>
                </c:pt>
                <c:pt idx="873">
                  <c:v>46057</c:v>
                </c:pt>
                <c:pt idx="874">
                  <c:v>46058</c:v>
                </c:pt>
                <c:pt idx="875">
                  <c:v>46059</c:v>
                </c:pt>
                <c:pt idx="876">
                  <c:v>46062</c:v>
                </c:pt>
                <c:pt idx="877">
                  <c:v>46063</c:v>
                </c:pt>
                <c:pt idx="878">
                  <c:v>46064</c:v>
                </c:pt>
                <c:pt idx="879">
                  <c:v>46065</c:v>
                </c:pt>
                <c:pt idx="880">
                  <c:v>46066</c:v>
                </c:pt>
                <c:pt idx="881">
                  <c:v>46067</c:v>
                </c:pt>
              </c:numCache>
            </c:numRef>
          </c:cat>
          <c:val>
            <c:numRef>
              <c:f>file!$D$2:$D$883</c:f>
              <c:numCache>
                <c:formatCode>0.0000_);[Red]\(0.0000\)</c:formatCode>
                <c:ptCount val="882"/>
                <c:pt idx="435">
                  <c:v>1</c:v>
                </c:pt>
                <c:pt idx="436">
                  <c:v>1</c:v>
                </c:pt>
                <c:pt idx="437">
                  <c:v>1</c:v>
                </c:pt>
                <c:pt idx="438">
                  <c:v>1.0005999999999999</c:v>
                </c:pt>
                <c:pt idx="439">
                  <c:v>1.0005999999999999</c:v>
                </c:pt>
                <c:pt idx="440">
                  <c:v>1.0005999999999999</c:v>
                </c:pt>
                <c:pt idx="441">
                  <c:v>1.0005999999999999</c:v>
                </c:pt>
                <c:pt idx="442">
                  <c:v>1.0005999999999999</c:v>
                </c:pt>
                <c:pt idx="443">
                  <c:v>1.0005999999999999</c:v>
                </c:pt>
                <c:pt idx="444">
                  <c:v>1.0016</c:v>
                </c:pt>
                <c:pt idx="445">
                  <c:v>1.0016</c:v>
                </c:pt>
                <c:pt idx="446">
                  <c:v>1.0016</c:v>
                </c:pt>
                <c:pt idx="447">
                  <c:v>1.0016</c:v>
                </c:pt>
                <c:pt idx="448">
                  <c:v>1.0016</c:v>
                </c:pt>
                <c:pt idx="449">
                  <c:v>1.0025999999999999</c:v>
                </c:pt>
                <c:pt idx="450">
                  <c:v>1.0025999999999999</c:v>
                </c:pt>
                <c:pt idx="451">
                  <c:v>1.0031000000000001</c:v>
                </c:pt>
                <c:pt idx="452">
                  <c:v>1.0031000000000001</c:v>
                </c:pt>
                <c:pt idx="453">
                  <c:v>1.0031000000000001</c:v>
                </c:pt>
                <c:pt idx="454">
                  <c:v>1.0036</c:v>
                </c:pt>
                <c:pt idx="455">
                  <c:v>1.004</c:v>
                </c:pt>
                <c:pt idx="456">
                  <c:v>1.0041</c:v>
                </c:pt>
                <c:pt idx="457">
                  <c:v>1.0041</c:v>
                </c:pt>
                <c:pt idx="458">
                  <c:v>1.0041</c:v>
                </c:pt>
                <c:pt idx="459">
                  <c:v>1.0045999999999999</c:v>
                </c:pt>
                <c:pt idx="460">
                  <c:v>1.0045999999999999</c:v>
                </c:pt>
                <c:pt idx="461">
                  <c:v>1.0045999999999999</c:v>
                </c:pt>
                <c:pt idx="462">
                  <c:v>1.0045999999999999</c:v>
                </c:pt>
                <c:pt idx="463">
                  <c:v>1.0056</c:v>
                </c:pt>
                <c:pt idx="464">
                  <c:v>1.0056</c:v>
                </c:pt>
                <c:pt idx="465">
                  <c:v>1.0056</c:v>
                </c:pt>
                <c:pt idx="466">
                  <c:v>1.0056</c:v>
                </c:pt>
                <c:pt idx="467">
                  <c:v>1.0056</c:v>
                </c:pt>
                <c:pt idx="468">
                  <c:v>1.0065999999999999</c:v>
                </c:pt>
                <c:pt idx="469">
                  <c:v>1.0065999999999999</c:v>
                </c:pt>
                <c:pt idx="470">
                  <c:v>1.0065999999999999</c:v>
                </c:pt>
                <c:pt idx="471">
                  <c:v>1.0065999999999999</c:v>
                </c:pt>
                <c:pt idx="472">
                  <c:v>1.0065999999999999</c:v>
                </c:pt>
                <c:pt idx="473">
                  <c:v>1.0076000000000001</c:v>
                </c:pt>
                <c:pt idx="474">
                  <c:v>1.0076000000000001</c:v>
                </c:pt>
                <c:pt idx="475">
                  <c:v>1.0081</c:v>
                </c:pt>
                <c:pt idx="476">
                  <c:v>1.0081</c:v>
                </c:pt>
                <c:pt idx="477">
                  <c:v>1.0084</c:v>
                </c:pt>
                <c:pt idx="478">
                  <c:v>1.0085999999999999</c:v>
                </c:pt>
                <c:pt idx="479">
                  <c:v>1.0085999999999999</c:v>
                </c:pt>
                <c:pt idx="480">
                  <c:v>1.0092000000000001</c:v>
                </c:pt>
                <c:pt idx="481">
                  <c:v>1.0092000000000001</c:v>
                </c:pt>
                <c:pt idx="482">
                  <c:v>1.0094000000000001</c:v>
                </c:pt>
                <c:pt idx="483">
                  <c:v>1.0096000000000001</c:v>
                </c:pt>
                <c:pt idx="484">
                  <c:v>1.0096000000000001</c:v>
                </c:pt>
                <c:pt idx="485">
                  <c:v>1.0102</c:v>
                </c:pt>
                <c:pt idx="486">
                  <c:v>1.0102</c:v>
                </c:pt>
                <c:pt idx="487">
                  <c:v>1.0105</c:v>
                </c:pt>
                <c:pt idx="488">
                  <c:v>1.0105999999999999</c:v>
                </c:pt>
                <c:pt idx="489">
                  <c:v>1.0105999999999999</c:v>
                </c:pt>
                <c:pt idx="490">
                  <c:v>1.0112000000000001</c:v>
                </c:pt>
                <c:pt idx="491">
                  <c:v>1.0112000000000001</c:v>
                </c:pt>
                <c:pt idx="492">
                  <c:v>1.0115000000000001</c:v>
                </c:pt>
                <c:pt idx="493">
                  <c:v>1.0116000000000001</c:v>
                </c:pt>
                <c:pt idx="494">
                  <c:v>1.0116000000000001</c:v>
                </c:pt>
                <c:pt idx="495">
                  <c:v>1.0116000000000001</c:v>
                </c:pt>
                <c:pt idx="496">
                  <c:v>1.0123</c:v>
                </c:pt>
                <c:pt idx="497">
                  <c:v>1.0123</c:v>
                </c:pt>
                <c:pt idx="498">
                  <c:v>1.0125999999999999</c:v>
                </c:pt>
                <c:pt idx="499">
                  <c:v>1.0125999999999999</c:v>
                </c:pt>
                <c:pt idx="500">
                  <c:v>1.0132000000000001</c:v>
                </c:pt>
                <c:pt idx="501">
                  <c:v>1.0132000000000001</c:v>
                </c:pt>
                <c:pt idx="502">
                  <c:v>1.0135000000000001</c:v>
                </c:pt>
                <c:pt idx="503">
                  <c:v>1.0136000000000001</c:v>
                </c:pt>
                <c:pt idx="504">
                  <c:v>1.0136000000000001</c:v>
                </c:pt>
                <c:pt idx="505">
                  <c:v>1.0136000000000001</c:v>
                </c:pt>
                <c:pt idx="506">
                  <c:v>1.0136000000000001</c:v>
                </c:pt>
                <c:pt idx="507">
                  <c:v>1.0136000000000001</c:v>
                </c:pt>
                <c:pt idx="508">
                  <c:v>1.0145999999999999</c:v>
                </c:pt>
                <c:pt idx="509">
                  <c:v>1.0145999999999999</c:v>
                </c:pt>
                <c:pt idx="510">
                  <c:v>1.0145999999999999</c:v>
                </c:pt>
                <c:pt idx="511">
                  <c:v>1.0145999999999999</c:v>
                </c:pt>
                <c:pt idx="512">
                  <c:v>1.0145999999999999</c:v>
                </c:pt>
                <c:pt idx="513">
                  <c:v>1.0156000000000001</c:v>
                </c:pt>
                <c:pt idx="514">
                  <c:v>1.0156000000000001</c:v>
                </c:pt>
                <c:pt idx="515">
                  <c:v>1.0156000000000001</c:v>
                </c:pt>
                <c:pt idx="516">
                  <c:v>1.0156000000000001</c:v>
                </c:pt>
                <c:pt idx="517">
                  <c:v>1.0156000000000001</c:v>
                </c:pt>
                <c:pt idx="518">
                  <c:v>1.0166999999999999</c:v>
                </c:pt>
                <c:pt idx="519">
                  <c:v>1.0166999999999999</c:v>
                </c:pt>
                <c:pt idx="520">
                  <c:v>1.0172000000000001</c:v>
                </c:pt>
                <c:pt idx="521">
                  <c:v>1.0172000000000001</c:v>
                </c:pt>
                <c:pt idx="522">
                  <c:v>1.0175000000000001</c:v>
                </c:pt>
                <c:pt idx="523">
                  <c:v>1.0177</c:v>
                </c:pt>
                <c:pt idx="524">
                  <c:v>1.0181</c:v>
                </c:pt>
                <c:pt idx="525">
                  <c:v>1.0181</c:v>
                </c:pt>
                <c:pt idx="526">
                  <c:v>1.0181</c:v>
                </c:pt>
                <c:pt idx="527">
                  <c:v>1.0181</c:v>
                </c:pt>
                <c:pt idx="528">
                  <c:v>1.0186999999999999</c:v>
                </c:pt>
                <c:pt idx="529">
                  <c:v>1.0186999999999999</c:v>
                </c:pt>
                <c:pt idx="530">
                  <c:v>1.0186999999999999</c:v>
                </c:pt>
                <c:pt idx="531">
                  <c:v>1.0186999999999999</c:v>
                </c:pt>
                <c:pt idx="532">
                  <c:v>1.0197000000000001</c:v>
                </c:pt>
                <c:pt idx="533">
                  <c:v>1.0197000000000001</c:v>
                </c:pt>
                <c:pt idx="534">
                  <c:v>1.0197000000000001</c:v>
                </c:pt>
                <c:pt idx="535">
                  <c:v>1.0197000000000001</c:v>
                </c:pt>
                <c:pt idx="536">
                  <c:v>1.0197000000000001</c:v>
                </c:pt>
                <c:pt idx="537">
                  <c:v>1.0206999999999999</c:v>
                </c:pt>
                <c:pt idx="538">
                  <c:v>1.0206999999999999</c:v>
                </c:pt>
                <c:pt idx="539">
                  <c:v>1.0212000000000001</c:v>
                </c:pt>
                <c:pt idx="540">
                  <c:v>1.0223</c:v>
                </c:pt>
                <c:pt idx="541">
                  <c:v>1.0223</c:v>
                </c:pt>
                <c:pt idx="542">
                  <c:v>1.0226</c:v>
                </c:pt>
                <c:pt idx="543">
                  <c:v>1.0227999999999999</c:v>
                </c:pt>
                <c:pt idx="544">
                  <c:v>1.0227999999999999</c:v>
                </c:pt>
                <c:pt idx="545">
                  <c:v>1.0227999999999999</c:v>
                </c:pt>
                <c:pt idx="546">
                  <c:v>1.0227999999999999</c:v>
                </c:pt>
                <c:pt idx="547">
                  <c:v>1.0227999999999999</c:v>
                </c:pt>
                <c:pt idx="548">
                  <c:v>1.0227999999999999</c:v>
                </c:pt>
                <c:pt idx="549">
                  <c:v>1.0238</c:v>
                </c:pt>
                <c:pt idx="550">
                  <c:v>1.0238</c:v>
                </c:pt>
                <c:pt idx="551">
                  <c:v>1.0238</c:v>
                </c:pt>
                <c:pt idx="552">
                  <c:v>1.0238</c:v>
                </c:pt>
                <c:pt idx="553">
                  <c:v>1.0238</c:v>
                </c:pt>
                <c:pt idx="554">
                  <c:v>1.0247999999999999</c:v>
                </c:pt>
                <c:pt idx="555">
                  <c:v>1.0247999999999999</c:v>
                </c:pt>
                <c:pt idx="556">
                  <c:v>1.0247999999999999</c:v>
                </c:pt>
                <c:pt idx="557">
                  <c:v>1.0247999999999999</c:v>
                </c:pt>
                <c:pt idx="558">
                  <c:v>1.0257000000000001</c:v>
                </c:pt>
                <c:pt idx="559">
                  <c:v>1.0258</c:v>
                </c:pt>
                <c:pt idx="560">
                  <c:v>1.0258</c:v>
                </c:pt>
                <c:pt idx="561">
                  <c:v>1.0258</c:v>
                </c:pt>
                <c:pt idx="562">
                  <c:v>1.0258</c:v>
                </c:pt>
                <c:pt idx="563">
                  <c:v>1.0258</c:v>
                </c:pt>
                <c:pt idx="564">
                  <c:v>1.0267999999999999</c:v>
                </c:pt>
                <c:pt idx="565">
                  <c:v>1.0267999999999999</c:v>
                </c:pt>
                <c:pt idx="566">
                  <c:v>1.0267999999999999</c:v>
                </c:pt>
                <c:pt idx="567">
                  <c:v>1.0267999999999999</c:v>
                </c:pt>
                <c:pt idx="568">
                  <c:v>1.0267999999999999</c:v>
                </c:pt>
                <c:pt idx="569">
                  <c:v>1.0279</c:v>
                </c:pt>
                <c:pt idx="570">
                  <c:v>1.0279</c:v>
                </c:pt>
                <c:pt idx="571">
                  <c:v>1.0279</c:v>
                </c:pt>
                <c:pt idx="572">
                  <c:v>1.0286</c:v>
                </c:pt>
                <c:pt idx="573">
                  <c:v>1.0286999999999999</c:v>
                </c:pt>
                <c:pt idx="574">
                  <c:v>1.0288999999999999</c:v>
                </c:pt>
                <c:pt idx="575">
                  <c:v>1.0288999999999999</c:v>
                </c:pt>
                <c:pt idx="576">
                  <c:v>1.0288999999999999</c:v>
                </c:pt>
                <c:pt idx="577">
                  <c:v>1.0288999999999999</c:v>
                </c:pt>
                <c:pt idx="578">
                  <c:v>1.0288999999999999</c:v>
                </c:pt>
                <c:pt idx="579">
                  <c:v>1.0299</c:v>
                </c:pt>
                <c:pt idx="580">
                  <c:v>1.0299</c:v>
                </c:pt>
                <c:pt idx="581">
                  <c:v>1.0299</c:v>
                </c:pt>
                <c:pt idx="582">
                  <c:v>1.0306999999999999</c:v>
                </c:pt>
                <c:pt idx="583">
                  <c:v>1.0307999999999999</c:v>
                </c:pt>
                <c:pt idx="584">
                  <c:v>1.0308999999999999</c:v>
                </c:pt>
                <c:pt idx="585">
                  <c:v>1.0308999999999999</c:v>
                </c:pt>
                <c:pt idx="586">
                  <c:v>1.0308999999999999</c:v>
                </c:pt>
                <c:pt idx="587">
                  <c:v>1.0308999999999999</c:v>
                </c:pt>
                <c:pt idx="588">
                  <c:v>1.0308999999999999</c:v>
                </c:pt>
                <c:pt idx="589">
                  <c:v>1.0308999999999999</c:v>
                </c:pt>
                <c:pt idx="590">
                  <c:v>1.0308999999999999</c:v>
                </c:pt>
                <c:pt idx="591">
                  <c:v>1.0308999999999999</c:v>
                </c:pt>
                <c:pt idx="592">
                  <c:v>1.0327</c:v>
                </c:pt>
                <c:pt idx="593">
                  <c:v>1.0328999999999999</c:v>
                </c:pt>
                <c:pt idx="594">
                  <c:v>1.0329999999999999</c:v>
                </c:pt>
                <c:pt idx="595">
                  <c:v>1.0329999999999999</c:v>
                </c:pt>
                <c:pt idx="596">
                  <c:v>1.0329999999999999</c:v>
                </c:pt>
                <c:pt idx="597">
                  <c:v>1.0337000000000001</c:v>
                </c:pt>
                <c:pt idx="598">
                  <c:v>1.0339</c:v>
                </c:pt>
                <c:pt idx="599">
                  <c:v>1.034</c:v>
                </c:pt>
                <c:pt idx="600">
                  <c:v>1.034</c:v>
                </c:pt>
                <c:pt idx="601">
                  <c:v>1.0346</c:v>
                </c:pt>
                <c:pt idx="602">
                  <c:v>1.0346</c:v>
                </c:pt>
                <c:pt idx="603">
                  <c:v>1.0350999999999999</c:v>
                </c:pt>
                <c:pt idx="604">
                  <c:v>1.0350999999999999</c:v>
                </c:pt>
                <c:pt idx="605">
                  <c:v>1.0350999999999999</c:v>
                </c:pt>
                <c:pt idx="606">
                  <c:v>1.0358000000000001</c:v>
                </c:pt>
                <c:pt idx="607">
                  <c:v>1.036</c:v>
                </c:pt>
                <c:pt idx="608">
                  <c:v>1.0361</c:v>
                </c:pt>
                <c:pt idx="609">
                  <c:v>1.0361</c:v>
                </c:pt>
                <c:pt idx="610">
                  <c:v>1.0361</c:v>
                </c:pt>
                <c:pt idx="611">
                  <c:v>1.0361</c:v>
                </c:pt>
                <c:pt idx="612">
                  <c:v>1.0361</c:v>
                </c:pt>
                <c:pt idx="613">
                  <c:v>1.0370999999999999</c:v>
                </c:pt>
                <c:pt idx="614">
                  <c:v>1.0370999999999999</c:v>
                </c:pt>
                <c:pt idx="615">
                  <c:v>1.0370999999999999</c:v>
                </c:pt>
                <c:pt idx="616">
                  <c:v>1.0370999999999999</c:v>
                </c:pt>
                <c:pt idx="617">
                  <c:v>1.0370999999999999</c:v>
                </c:pt>
                <c:pt idx="618">
                  <c:v>1.0382</c:v>
                </c:pt>
                <c:pt idx="619">
                  <c:v>1.0382</c:v>
                </c:pt>
                <c:pt idx="620">
                  <c:v>1.0386</c:v>
                </c:pt>
                <c:pt idx="621">
                  <c:v>1.0386</c:v>
                </c:pt>
                <c:pt idx="622">
                  <c:v>1.0386</c:v>
                </c:pt>
                <c:pt idx="623">
                  <c:v>1.0402</c:v>
                </c:pt>
                <c:pt idx="624">
                  <c:v>1.0402</c:v>
                </c:pt>
                <c:pt idx="625">
                  <c:v>1.0402</c:v>
                </c:pt>
                <c:pt idx="626">
                  <c:v>1.0402</c:v>
                </c:pt>
                <c:pt idx="627">
                  <c:v>1.0402</c:v>
                </c:pt>
                <c:pt idx="628">
                  <c:v>1.0410999999999999</c:v>
                </c:pt>
                <c:pt idx="629">
                  <c:v>1.0412999999999999</c:v>
                </c:pt>
                <c:pt idx="630">
                  <c:v>1.0412999999999999</c:v>
                </c:pt>
                <c:pt idx="631">
                  <c:v>1.0412999999999999</c:v>
                </c:pt>
                <c:pt idx="632">
                  <c:v>1.042</c:v>
                </c:pt>
                <c:pt idx="633">
                  <c:v>1.042</c:v>
                </c:pt>
                <c:pt idx="634">
                  <c:v>1.0423</c:v>
                </c:pt>
                <c:pt idx="635">
                  <c:v>1.0423</c:v>
                </c:pt>
                <c:pt idx="636">
                  <c:v>1.0423</c:v>
                </c:pt>
                <c:pt idx="637">
                  <c:v>1.0423</c:v>
                </c:pt>
                <c:pt idx="638">
                  <c:v>1.0423</c:v>
                </c:pt>
                <c:pt idx="639">
                  <c:v>1.0434000000000001</c:v>
                </c:pt>
                <c:pt idx="640">
                  <c:v>1.0434000000000001</c:v>
                </c:pt>
                <c:pt idx="641">
                  <c:v>1.0434000000000001</c:v>
                </c:pt>
                <c:pt idx="642">
                  <c:v>1.0441</c:v>
                </c:pt>
                <c:pt idx="643">
                  <c:v>1.0443</c:v>
                </c:pt>
                <c:pt idx="644">
                  <c:v>1.0444</c:v>
                </c:pt>
                <c:pt idx="645">
                  <c:v>1.0444</c:v>
                </c:pt>
                <c:pt idx="646">
                  <c:v>1.0444</c:v>
                </c:pt>
                <c:pt idx="647">
                  <c:v>1.0444</c:v>
                </c:pt>
                <c:pt idx="648">
                  <c:v>1.0444</c:v>
                </c:pt>
                <c:pt idx="649">
                  <c:v>1.0454000000000001</c:v>
                </c:pt>
                <c:pt idx="650">
                  <c:v>1.0454000000000001</c:v>
                </c:pt>
                <c:pt idx="651">
                  <c:v>1.0454000000000001</c:v>
                </c:pt>
                <c:pt idx="652">
                  <c:v>1.0454000000000001</c:v>
                </c:pt>
                <c:pt idx="653">
                  <c:v>1.0454000000000001</c:v>
                </c:pt>
                <c:pt idx="654">
                  <c:v>1.0465</c:v>
                </c:pt>
                <c:pt idx="655">
                  <c:v>1.0465</c:v>
                </c:pt>
                <c:pt idx="656">
                  <c:v>1.0465</c:v>
                </c:pt>
                <c:pt idx="657">
                  <c:v>1.0465</c:v>
                </c:pt>
                <c:pt idx="658">
                  <c:v>1.0465</c:v>
                </c:pt>
                <c:pt idx="659">
                  <c:v>1.0475000000000001</c:v>
                </c:pt>
                <c:pt idx="660">
                  <c:v>1.048</c:v>
                </c:pt>
                <c:pt idx="661">
                  <c:v>1.048</c:v>
                </c:pt>
                <c:pt idx="662">
                  <c:v>1.048</c:v>
                </c:pt>
                <c:pt idx="663">
                  <c:v>1.0484</c:v>
                </c:pt>
                <c:pt idx="664">
                  <c:v>1.0484</c:v>
                </c:pt>
                <c:pt idx="665">
                  <c:v>1.0484</c:v>
                </c:pt>
                <c:pt idx="666">
                  <c:v>1.0484</c:v>
                </c:pt>
                <c:pt idx="667">
                  <c:v>1.0484</c:v>
                </c:pt>
                <c:pt idx="668">
                  <c:v>1.0496000000000001</c:v>
                </c:pt>
                <c:pt idx="669">
                  <c:v>1.0496000000000001</c:v>
                </c:pt>
                <c:pt idx="670">
                  <c:v>1.0496000000000001</c:v>
                </c:pt>
                <c:pt idx="671">
                  <c:v>1.0496000000000001</c:v>
                </c:pt>
                <c:pt idx="672">
                  <c:v>1.0496000000000001</c:v>
                </c:pt>
                <c:pt idx="673">
                  <c:v>1.0507</c:v>
                </c:pt>
                <c:pt idx="674">
                  <c:v>1.0507</c:v>
                </c:pt>
                <c:pt idx="675">
                  <c:v>1.0507</c:v>
                </c:pt>
                <c:pt idx="676">
                  <c:v>1.0507</c:v>
                </c:pt>
                <c:pt idx="677">
                  <c:v>1.0507</c:v>
                </c:pt>
                <c:pt idx="678">
                  <c:v>1.0517000000000001</c:v>
                </c:pt>
                <c:pt idx="679">
                  <c:v>1.0517000000000001</c:v>
                </c:pt>
                <c:pt idx="680">
                  <c:v>1.0517000000000001</c:v>
                </c:pt>
                <c:pt idx="681">
                  <c:v>1.0517000000000001</c:v>
                </c:pt>
                <c:pt idx="682">
                  <c:v>1.0525</c:v>
                </c:pt>
                <c:pt idx="683">
                  <c:v>1.0525</c:v>
                </c:pt>
                <c:pt idx="684">
                  <c:v>1.0525</c:v>
                </c:pt>
                <c:pt idx="685">
                  <c:v>1.0525</c:v>
                </c:pt>
                <c:pt idx="686">
                  <c:v>1.0538000000000001</c:v>
                </c:pt>
                <c:pt idx="687">
                  <c:v>1.0538000000000001</c:v>
                </c:pt>
                <c:pt idx="688">
                  <c:v>1.0538000000000001</c:v>
                </c:pt>
                <c:pt idx="689">
                  <c:v>1.0538000000000001</c:v>
                </c:pt>
                <c:pt idx="690">
                  <c:v>1.0538000000000001</c:v>
                </c:pt>
                <c:pt idx="691">
                  <c:v>1.0548999999999999</c:v>
                </c:pt>
                <c:pt idx="692">
                  <c:v>1.0548999999999999</c:v>
                </c:pt>
                <c:pt idx="693">
                  <c:v>1.0548999999999999</c:v>
                </c:pt>
                <c:pt idx="694">
                  <c:v>1.0548999999999999</c:v>
                </c:pt>
                <c:pt idx="695">
                  <c:v>1.0548999999999999</c:v>
                </c:pt>
                <c:pt idx="696">
                  <c:v>1.0559000000000001</c:v>
                </c:pt>
                <c:pt idx="697">
                  <c:v>1.0559000000000001</c:v>
                </c:pt>
                <c:pt idx="698">
                  <c:v>1.0565</c:v>
                </c:pt>
                <c:pt idx="699">
                  <c:v>1.0567</c:v>
                </c:pt>
                <c:pt idx="700">
                  <c:v>1.0568</c:v>
                </c:pt>
                <c:pt idx="701">
                  <c:v>1.0569999999999999</c:v>
                </c:pt>
                <c:pt idx="702">
                  <c:v>1.0569999999999999</c:v>
                </c:pt>
                <c:pt idx="703">
                  <c:v>1.0569999999999999</c:v>
                </c:pt>
                <c:pt idx="704">
                  <c:v>1.0569999999999999</c:v>
                </c:pt>
                <c:pt idx="705">
                  <c:v>1.0580000000000001</c:v>
                </c:pt>
                <c:pt idx="706">
                  <c:v>1.0580000000000001</c:v>
                </c:pt>
                <c:pt idx="707">
                  <c:v>1.0580000000000001</c:v>
                </c:pt>
                <c:pt idx="708">
                  <c:v>1.0580000000000001</c:v>
                </c:pt>
                <c:pt idx="709">
                  <c:v>1.0580000000000001</c:v>
                </c:pt>
                <c:pt idx="710">
                  <c:v>1.0590999999999999</c:v>
                </c:pt>
                <c:pt idx="711">
                  <c:v>1.0590999999999999</c:v>
                </c:pt>
                <c:pt idx="712">
                  <c:v>1.0590999999999999</c:v>
                </c:pt>
                <c:pt idx="713">
                  <c:v>1.0598000000000001</c:v>
                </c:pt>
                <c:pt idx="714">
                  <c:v>1.06</c:v>
                </c:pt>
                <c:pt idx="715">
                  <c:v>1.0601</c:v>
                </c:pt>
                <c:pt idx="716">
                  <c:v>1.0601</c:v>
                </c:pt>
                <c:pt idx="717">
                  <c:v>1.0601</c:v>
                </c:pt>
                <c:pt idx="718">
                  <c:v>1.0601</c:v>
                </c:pt>
                <c:pt idx="719">
                  <c:v>1.0601</c:v>
                </c:pt>
                <c:pt idx="720">
                  <c:v>1.0611999999999999</c:v>
                </c:pt>
                <c:pt idx="721">
                  <c:v>1.0616000000000001</c:v>
                </c:pt>
                <c:pt idx="722">
                  <c:v>1.0616000000000001</c:v>
                </c:pt>
                <c:pt idx="723">
                  <c:v>1.0616000000000001</c:v>
                </c:pt>
                <c:pt idx="724">
                  <c:v>1.0616000000000001</c:v>
                </c:pt>
                <c:pt idx="725">
                  <c:v>1.0623</c:v>
                </c:pt>
                <c:pt idx="726">
                  <c:v>1.0623</c:v>
                </c:pt>
                <c:pt idx="727">
                  <c:v>1.0623</c:v>
                </c:pt>
                <c:pt idx="728">
                  <c:v>1.0623</c:v>
                </c:pt>
                <c:pt idx="729">
                  <c:v>1.0623</c:v>
                </c:pt>
                <c:pt idx="730">
                  <c:v>1.0632999999999999</c:v>
                </c:pt>
                <c:pt idx="731">
                  <c:v>1.0632999999999999</c:v>
                </c:pt>
                <c:pt idx="732">
                  <c:v>1.0632999999999999</c:v>
                </c:pt>
                <c:pt idx="733">
                  <c:v>1.0632999999999999</c:v>
                </c:pt>
                <c:pt idx="734">
                  <c:v>1.0632999999999999</c:v>
                </c:pt>
                <c:pt idx="735">
                  <c:v>1.0642</c:v>
                </c:pt>
                <c:pt idx="736">
                  <c:v>1.0642</c:v>
                </c:pt>
                <c:pt idx="737">
                  <c:v>1.0642</c:v>
                </c:pt>
                <c:pt idx="738">
                  <c:v>1.0642</c:v>
                </c:pt>
                <c:pt idx="739">
                  <c:v>1.0642</c:v>
                </c:pt>
                <c:pt idx="740">
                  <c:v>1.0649999999999999</c:v>
                </c:pt>
                <c:pt idx="741">
                  <c:v>1.0649999999999999</c:v>
                </c:pt>
                <c:pt idx="742">
                  <c:v>1.0649999999999999</c:v>
                </c:pt>
                <c:pt idx="743">
                  <c:v>1.0649999999999999</c:v>
                </c:pt>
                <c:pt idx="744">
                  <c:v>1.0656000000000001</c:v>
                </c:pt>
                <c:pt idx="745">
                  <c:v>1.0657000000000001</c:v>
                </c:pt>
                <c:pt idx="746">
                  <c:v>1.0657000000000001</c:v>
                </c:pt>
                <c:pt idx="747">
                  <c:v>1.0657000000000001</c:v>
                </c:pt>
                <c:pt idx="748">
                  <c:v>1.0657000000000001</c:v>
                </c:pt>
                <c:pt idx="749">
                  <c:v>1.0664</c:v>
                </c:pt>
                <c:pt idx="750">
                  <c:v>1.0665</c:v>
                </c:pt>
                <c:pt idx="751">
                  <c:v>1.0668</c:v>
                </c:pt>
                <c:pt idx="752">
                  <c:v>1.0669</c:v>
                </c:pt>
                <c:pt idx="753">
                  <c:v>1.0669999999999999</c:v>
                </c:pt>
                <c:pt idx="754">
                  <c:v>1.0669999999999999</c:v>
                </c:pt>
                <c:pt idx="755">
                  <c:v>1.0671999999999999</c:v>
                </c:pt>
                <c:pt idx="756">
                  <c:v>1.0671999999999999</c:v>
                </c:pt>
                <c:pt idx="757">
                  <c:v>1.0671999999999999</c:v>
                </c:pt>
                <c:pt idx="758">
                  <c:v>1.0678000000000001</c:v>
                </c:pt>
                <c:pt idx="759">
                  <c:v>1.0678000000000001</c:v>
                </c:pt>
                <c:pt idx="760">
                  <c:v>1.0680000000000001</c:v>
                </c:pt>
                <c:pt idx="761">
                  <c:v>1.0680000000000001</c:v>
                </c:pt>
                <c:pt idx="762">
                  <c:v>1.0684</c:v>
                </c:pt>
                <c:pt idx="763">
                  <c:v>1.0684</c:v>
                </c:pt>
                <c:pt idx="764">
                  <c:v>1.0684</c:v>
                </c:pt>
                <c:pt idx="765">
                  <c:v>1.0687</c:v>
                </c:pt>
                <c:pt idx="766">
                  <c:v>1.0687</c:v>
                </c:pt>
                <c:pt idx="767">
                  <c:v>1.0687</c:v>
                </c:pt>
                <c:pt idx="768">
                  <c:v>1.0692999999999999</c:v>
                </c:pt>
                <c:pt idx="769">
                  <c:v>1.0692999999999999</c:v>
                </c:pt>
                <c:pt idx="770">
                  <c:v>1.0694999999999999</c:v>
                </c:pt>
                <c:pt idx="771">
                  <c:v>1.0694999999999999</c:v>
                </c:pt>
                <c:pt idx="772">
                  <c:v>1.0694999999999999</c:v>
                </c:pt>
                <c:pt idx="773">
                  <c:v>1.0694999999999999</c:v>
                </c:pt>
                <c:pt idx="774">
                  <c:v>1.0694999999999999</c:v>
                </c:pt>
                <c:pt idx="775">
                  <c:v>1.0703</c:v>
                </c:pt>
                <c:pt idx="776">
                  <c:v>1.0703</c:v>
                </c:pt>
                <c:pt idx="777">
                  <c:v>1.0703</c:v>
                </c:pt>
                <c:pt idx="778">
                  <c:v>1.0703</c:v>
                </c:pt>
                <c:pt idx="779">
                  <c:v>1.0703</c:v>
                </c:pt>
                <c:pt idx="780">
                  <c:v>1.071</c:v>
                </c:pt>
                <c:pt idx="781">
                  <c:v>1.071</c:v>
                </c:pt>
                <c:pt idx="782">
                  <c:v>1.071</c:v>
                </c:pt>
                <c:pt idx="783">
                  <c:v>1.071</c:v>
                </c:pt>
                <c:pt idx="784">
                  <c:v>1.071</c:v>
                </c:pt>
                <c:pt idx="785">
                  <c:v>1.0718000000000001</c:v>
                </c:pt>
                <c:pt idx="786">
                  <c:v>1.0718000000000001</c:v>
                </c:pt>
                <c:pt idx="787">
                  <c:v>1.0718000000000001</c:v>
                </c:pt>
                <c:pt idx="788">
                  <c:v>1.0722</c:v>
                </c:pt>
                <c:pt idx="789">
                  <c:v>1.0722</c:v>
                </c:pt>
                <c:pt idx="790">
                  <c:v>1.0732999999999999</c:v>
                </c:pt>
                <c:pt idx="791">
                  <c:v>1.0732999999999999</c:v>
                </c:pt>
                <c:pt idx="792">
                  <c:v>1.0736000000000001</c:v>
                </c:pt>
                <c:pt idx="793">
                  <c:v>1.0736000000000001</c:v>
                </c:pt>
                <c:pt idx="794">
                  <c:v>1.0736000000000001</c:v>
                </c:pt>
                <c:pt idx="795">
                  <c:v>1.0740000000000001</c:v>
                </c:pt>
                <c:pt idx="796">
                  <c:v>1.0741000000000001</c:v>
                </c:pt>
                <c:pt idx="797">
                  <c:v>1.0744</c:v>
                </c:pt>
                <c:pt idx="798">
                  <c:v>1.0745</c:v>
                </c:pt>
                <c:pt idx="799">
                  <c:v>1.0745</c:v>
                </c:pt>
                <c:pt idx="800">
                  <c:v>1.0747</c:v>
                </c:pt>
                <c:pt idx="801">
                  <c:v>1.0748</c:v>
                </c:pt>
                <c:pt idx="802">
                  <c:v>1.0748</c:v>
                </c:pt>
                <c:pt idx="803">
                  <c:v>1.0748</c:v>
                </c:pt>
                <c:pt idx="804">
                  <c:v>1.0753999999999999</c:v>
                </c:pt>
                <c:pt idx="805">
                  <c:v>1.0753999999999999</c:v>
                </c:pt>
                <c:pt idx="806">
                  <c:v>1.0755999999999999</c:v>
                </c:pt>
                <c:pt idx="807">
                  <c:v>1.0759000000000001</c:v>
                </c:pt>
                <c:pt idx="808">
                  <c:v>1.0760000000000001</c:v>
                </c:pt>
                <c:pt idx="809">
                  <c:v>1.0761000000000001</c:v>
                </c:pt>
                <c:pt idx="810">
                  <c:v>1.0762</c:v>
                </c:pt>
                <c:pt idx="811">
                  <c:v>1.0763</c:v>
                </c:pt>
                <c:pt idx="812">
                  <c:v>1.0763</c:v>
                </c:pt>
                <c:pt idx="813">
                  <c:v>1.0763</c:v>
                </c:pt>
                <c:pt idx="814">
                  <c:v>1.0763</c:v>
                </c:pt>
                <c:pt idx="815">
                  <c:v>1.0763</c:v>
                </c:pt>
                <c:pt idx="816">
                  <c:v>1.0770999999999999</c:v>
                </c:pt>
                <c:pt idx="817">
                  <c:v>1.0770999999999999</c:v>
                </c:pt>
                <c:pt idx="818">
                  <c:v>1.0770999999999999</c:v>
                </c:pt>
                <c:pt idx="819">
                  <c:v>1.0770999999999999</c:v>
                </c:pt>
                <c:pt idx="820">
                  <c:v>1.0770999999999999</c:v>
                </c:pt>
                <c:pt idx="821">
                  <c:v>1.0779000000000001</c:v>
                </c:pt>
                <c:pt idx="822">
                  <c:v>1.0779000000000001</c:v>
                </c:pt>
                <c:pt idx="823">
                  <c:v>1.0779000000000001</c:v>
                </c:pt>
                <c:pt idx="824">
                  <c:v>1.0779000000000001</c:v>
                </c:pt>
                <c:pt idx="825">
                  <c:v>1.0779000000000001</c:v>
                </c:pt>
                <c:pt idx="826">
                  <c:v>1.0786</c:v>
                </c:pt>
                <c:pt idx="827">
                  <c:v>1.0786</c:v>
                </c:pt>
                <c:pt idx="828">
                  <c:v>1.0786</c:v>
                </c:pt>
                <c:pt idx="829">
                  <c:v>1.0791999999999999</c:v>
                </c:pt>
                <c:pt idx="830">
                  <c:v>1.0791999999999999</c:v>
                </c:pt>
                <c:pt idx="831">
                  <c:v>1.0793999999999999</c:v>
                </c:pt>
                <c:pt idx="832">
                  <c:v>1.0793999999999999</c:v>
                </c:pt>
                <c:pt idx="833">
                  <c:v>1.0793999999999999</c:v>
                </c:pt>
                <c:pt idx="834">
                  <c:v>1.0793999999999999</c:v>
                </c:pt>
                <c:pt idx="835">
                  <c:v>1.0793999999999999</c:v>
                </c:pt>
                <c:pt idx="836">
                  <c:v>1.0802</c:v>
                </c:pt>
                <c:pt idx="837">
                  <c:v>1.0802</c:v>
                </c:pt>
                <c:pt idx="838">
                  <c:v>1.0802</c:v>
                </c:pt>
                <c:pt idx="839">
                  <c:v>1.0802</c:v>
                </c:pt>
                <c:pt idx="840">
                  <c:v>1.0802</c:v>
                </c:pt>
                <c:pt idx="841">
                  <c:v>1.0809</c:v>
                </c:pt>
                <c:pt idx="842">
                  <c:v>1.0809</c:v>
                </c:pt>
                <c:pt idx="843">
                  <c:v>1.0809</c:v>
                </c:pt>
                <c:pt idx="844">
                  <c:v>1.0809</c:v>
                </c:pt>
                <c:pt idx="845">
                  <c:v>1.0809</c:v>
                </c:pt>
                <c:pt idx="846">
                  <c:v>1.0817000000000001</c:v>
                </c:pt>
                <c:pt idx="847">
                  <c:v>1.0817000000000001</c:v>
                </c:pt>
                <c:pt idx="848">
                  <c:v>1.0821000000000001</c:v>
                </c:pt>
                <c:pt idx="849">
                  <c:v>1.0823</c:v>
                </c:pt>
                <c:pt idx="850">
                  <c:v>1.0823</c:v>
                </c:pt>
                <c:pt idx="851">
                  <c:v>1.0823</c:v>
                </c:pt>
                <c:pt idx="852">
                  <c:v>1.0823</c:v>
                </c:pt>
                <c:pt idx="853">
                  <c:v>1.083</c:v>
                </c:pt>
                <c:pt idx="854">
                  <c:v>1.083</c:v>
                </c:pt>
                <c:pt idx="855">
                  <c:v>1.0831999999999999</c:v>
                </c:pt>
                <c:pt idx="856">
                  <c:v>1.0831999999999999</c:v>
                </c:pt>
                <c:pt idx="857">
                  <c:v>1.0831999999999999</c:v>
                </c:pt>
                <c:pt idx="858">
                  <c:v>1.0838000000000001</c:v>
                </c:pt>
                <c:pt idx="859">
                  <c:v>1.0838000000000001</c:v>
                </c:pt>
                <c:pt idx="860">
                  <c:v>1.0840000000000001</c:v>
                </c:pt>
                <c:pt idx="861">
                  <c:v>1.0840000000000001</c:v>
                </c:pt>
                <c:pt idx="862">
                  <c:v>1.0840000000000001</c:v>
                </c:pt>
                <c:pt idx="863">
                  <c:v>1.0840000000000001</c:v>
                </c:pt>
                <c:pt idx="864">
                  <c:v>1.0840000000000001</c:v>
                </c:pt>
                <c:pt idx="865">
                  <c:v>1.0848</c:v>
                </c:pt>
                <c:pt idx="866">
                  <c:v>1.0848</c:v>
                </c:pt>
                <c:pt idx="867">
                  <c:v>1.0848</c:v>
                </c:pt>
                <c:pt idx="868">
                  <c:v>1.0848</c:v>
                </c:pt>
                <c:pt idx="869">
                  <c:v>1.0848</c:v>
                </c:pt>
                <c:pt idx="870">
                  <c:v>1.0854999999999999</c:v>
                </c:pt>
                <c:pt idx="871">
                  <c:v>1.0854999999999999</c:v>
                </c:pt>
                <c:pt idx="872">
                  <c:v>1.0854999999999999</c:v>
                </c:pt>
                <c:pt idx="873">
                  <c:v>1.0860000000000001</c:v>
                </c:pt>
                <c:pt idx="874">
                  <c:v>1.0860000000000001</c:v>
                </c:pt>
                <c:pt idx="875">
                  <c:v>1.0862000000000001</c:v>
                </c:pt>
                <c:pt idx="876">
                  <c:v>1.0862000000000001</c:v>
                </c:pt>
                <c:pt idx="877">
                  <c:v>1.0862000000000001</c:v>
                </c:pt>
                <c:pt idx="878">
                  <c:v>1.0862000000000001</c:v>
                </c:pt>
                <c:pt idx="879">
                  <c:v>1.0862000000000001</c:v>
                </c:pt>
                <c:pt idx="880">
                  <c:v>1.087</c:v>
                </c:pt>
                <c:pt idx="881">
                  <c:v>1.087</c:v>
                </c:pt>
              </c:numCache>
            </c:numRef>
          </c:val>
          <c:smooth val="1"/>
          <c:extLst>
            <c:ext xmlns:c16="http://schemas.microsoft.com/office/drawing/2014/chart" uri="{C3380CC4-5D6E-409C-BE32-E72D297353CC}">
              <c16:uniqueId val="{00000002-8910-4752-8546-3FDE9C1F0714}"/>
            </c:ext>
          </c:extLst>
        </c:ser>
        <c:dLbls>
          <c:showLegendKey val="0"/>
          <c:showVal val="0"/>
          <c:showCatName val="0"/>
          <c:showSerName val="0"/>
          <c:showPercent val="0"/>
          <c:showBubbleSize val="0"/>
        </c:dLbls>
        <c:smooth val="0"/>
        <c:axId val="751404031"/>
        <c:axId val="751404447"/>
      </c:lineChart>
      <c:dateAx>
        <c:axId val="751404031"/>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zh-CN"/>
          </a:p>
        </c:txPr>
        <c:crossAx val="751404447"/>
        <c:crosses val="autoZero"/>
        <c:auto val="1"/>
        <c:lblOffset val="100"/>
        <c:baseTimeUnit val="days"/>
      </c:dateAx>
      <c:valAx>
        <c:axId val="751404447"/>
        <c:scaling>
          <c:orientation val="minMax"/>
          <c:min val="0.95000000000000007"/>
        </c:scaling>
        <c:delete val="0"/>
        <c:axPos val="l"/>
        <c:majorGridlines>
          <c:spPr>
            <a:ln w="9525" cap="flat" cmpd="sng" algn="ctr">
              <a:solidFill>
                <a:schemeClr val="tx1">
                  <a:lumMod val="15000"/>
                  <a:lumOff val="85000"/>
                </a:schemeClr>
              </a:solidFill>
              <a:round/>
            </a:ln>
            <a:effectLst/>
          </c:spPr>
        </c:majorGridlines>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51404031"/>
        <c:crosses val="autoZero"/>
        <c:crossBetween val="between"/>
      </c:valAx>
      <c:spPr>
        <a:noFill/>
        <a:ln>
          <a:noFill/>
        </a:ln>
        <a:effectLst/>
      </c:spPr>
    </c:plotArea>
    <c:legend>
      <c:legendPos val="b"/>
      <c:layout>
        <c:manualLayout>
          <c:xMode val="edge"/>
          <c:yMode val="edge"/>
          <c:x val="3.958282018599113E-2"/>
          <c:y val="0.90842177486309772"/>
          <c:w val="0.93995654063450673"/>
          <c:h val="8.604724409448819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4242116"/>
            <a:ext cx="5829300" cy="9024244"/>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857250" y="13614370"/>
            <a:ext cx="5143500" cy="62581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6462182"/>
            <a:ext cx="5915025" cy="10782289"/>
          </a:xfrm>
        </p:spPr>
        <p:txBody>
          <a:bodyPr anchor="b"/>
          <a:lstStyle>
            <a:lvl1pPr>
              <a:defRPr sz="45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467916" y="17346476"/>
            <a:ext cx="5915025" cy="5670151"/>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471488" y="6900186"/>
            <a:ext cx="2914650" cy="16446446"/>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hasCustomPrompt="1"/>
          </p:nvPr>
        </p:nvSpPr>
        <p:spPr>
          <a:xfrm>
            <a:off x="3471863" y="6900186"/>
            <a:ext cx="2914650" cy="16446446"/>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1380043"/>
            <a:ext cx="5915025" cy="5010137"/>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472381" y="6354174"/>
            <a:ext cx="2901255" cy="311408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hasCustomPrompt="1"/>
          </p:nvPr>
        </p:nvSpPr>
        <p:spPr>
          <a:xfrm>
            <a:off x="472381" y="9468256"/>
            <a:ext cx="2901255" cy="139263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hasCustomPrompt="1"/>
          </p:nvPr>
        </p:nvSpPr>
        <p:spPr>
          <a:xfrm>
            <a:off x="3471863" y="6354174"/>
            <a:ext cx="2915543" cy="311408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hasCustomPrompt="1"/>
          </p:nvPr>
        </p:nvSpPr>
        <p:spPr>
          <a:xfrm>
            <a:off x="3471863" y="9468256"/>
            <a:ext cx="2915543" cy="139263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1728047"/>
            <a:ext cx="2211884" cy="6048163"/>
          </a:xfrm>
        </p:spPr>
        <p:txBody>
          <a:bodyPr anchor="b"/>
          <a:lstStyle>
            <a:lvl1pPr>
              <a:defRPr sz="24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2915543" y="3732107"/>
            <a:ext cx="3471863" cy="1842049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hasCustomPrompt="1"/>
          </p:nvPr>
        </p:nvSpPr>
        <p:spPr>
          <a:xfrm>
            <a:off x="472381" y="7776210"/>
            <a:ext cx="2211884" cy="144063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1728047"/>
            <a:ext cx="2211884" cy="6048163"/>
          </a:xfrm>
        </p:spPr>
        <p:txBody>
          <a:bodyPr anchor="b"/>
          <a:lstStyle>
            <a:lvl1pPr>
              <a:defRPr sz="24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915543" y="3732107"/>
            <a:ext cx="3471863" cy="1842049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472381" y="7776210"/>
            <a:ext cx="2211884" cy="144063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1380037"/>
            <a:ext cx="1478756" cy="2196659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471488" y="1380037"/>
            <a:ext cx="4350544" cy="2196659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1380043"/>
            <a:ext cx="5915025" cy="501013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471488" y="6900186"/>
            <a:ext cx="5915025" cy="16446446"/>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471488" y="24024655"/>
            <a:ext cx="1543050" cy="1380037"/>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2/24/2026</a:t>
            </a:fld>
            <a:endParaRPr lang="en-US" dirty="0"/>
          </a:p>
        </p:txBody>
      </p:sp>
      <p:sp>
        <p:nvSpPr>
          <p:cNvPr id="5" name="Footer Placeholder 4"/>
          <p:cNvSpPr>
            <a:spLocks noGrp="1"/>
          </p:cNvSpPr>
          <p:nvPr>
            <p:ph type="ftr" sz="quarter" idx="3"/>
          </p:nvPr>
        </p:nvSpPr>
        <p:spPr>
          <a:xfrm>
            <a:off x="2271713" y="24024655"/>
            <a:ext cx="2314575" cy="1380037"/>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24024655"/>
            <a:ext cx="1543050" cy="1380037"/>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1" name="Shape 228"/>
          <p:cNvSpPr/>
          <p:nvPr/>
        </p:nvSpPr>
        <p:spPr>
          <a:xfrm>
            <a:off x="-8675" y="16862222"/>
            <a:ext cx="6867310" cy="3621881"/>
          </a:xfrm>
          <a:custGeom>
            <a:avLst/>
            <a:gdLst/>
            <a:ahLst/>
            <a:cxnLst/>
            <a:rect l="l" t="t" r="r" b="b"/>
            <a:pathLst>
              <a:path w="12192000" h="6438900">
                <a:moveTo>
                  <a:pt x="0" y="0"/>
                </a:moveTo>
                <a:lnTo>
                  <a:pt x="12192000" y="0"/>
                </a:lnTo>
                <a:lnTo>
                  <a:pt x="12192000" y="6438900"/>
                </a:lnTo>
                <a:lnTo>
                  <a:pt x="0" y="6438900"/>
                </a:lnTo>
                <a:lnTo>
                  <a:pt x="0" y="0"/>
                </a:lnTo>
                <a:close/>
              </a:path>
            </a:pathLst>
          </a:custGeom>
          <a:solidFill>
            <a:srgbClr val="FFFFFF"/>
          </a:solidFill>
        </p:spPr>
      </p:sp>
      <p:sp>
        <p:nvSpPr>
          <p:cNvPr id="369" name="矩形 368"/>
          <p:cNvSpPr/>
          <p:nvPr/>
        </p:nvSpPr>
        <p:spPr>
          <a:xfrm>
            <a:off x="-5908" y="23160520"/>
            <a:ext cx="6866460" cy="2454063"/>
          </a:xfrm>
          <a:prstGeom prst="rect">
            <a:avLst/>
          </a:prstGeom>
          <a:solidFill>
            <a:srgbClr val="FEF4C7"/>
          </a:solidFill>
        </p:spPr>
        <p:txBody>
          <a:bodyPr rtlCol="0" anchor="ctr"/>
          <a:lstStyle/>
          <a:p>
            <a:pPr algn="ctr"/>
            <a:endParaRPr lang="zh-CN" altLang="en-US"/>
          </a:p>
        </p:txBody>
      </p:sp>
      <p:sp>
        <p:nvSpPr>
          <p:cNvPr id="2" name="Shape 0"/>
          <p:cNvSpPr/>
          <p:nvPr/>
        </p:nvSpPr>
        <p:spPr>
          <a:xfrm>
            <a:off x="-848" y="801843"/>
            <a:ext cx="6858000" cy="4059877"/>
          </a:xfrm>
          <a:custGeom>
            <a:avLst/>
            <a:gdLst/>
            <a:ahLst/>
            <a:cxnLst/>
            <a:rect l="l" t="t" r="r" b="b"/>
            <a:pathLst>
              <a:path w="12192000" h="7172325">
                <a:moveTo>
                  <a:pt x="0" y="0"/>
                </a:moveTo>
                <a:lnTo>
                  <a:pt x="12192000" y="0"/>
                </a:lnTo>
                <a:lnTo>
                  <a:pt x="12192000" y="7172325"/>
                </a:lnTo>
                <a:lnTo>
                  <a:pt x="0" y="7172325"/>
                </a:lnTo>
                <a:lnTo>
                  <a:pt x="0" y="0"/>
                </a:lnTo>
                <a:close/>
              </a:path>
            </a:pathLst>
          </a:custGeom>
          <a:solidFill>
            <a:srgbClr val="FFFFFF"/>
          </a:solidFill>
        </p:spPr>
      </p:sp>
      <p:sp>
        <p:nvSpPr>
          <p:cNvPr id="3" name="Text 1"/>
          <p:cNvSpPr/>
          <p:nvPr/>
        </p:nvSpPr>
        <p:spPr>
          <a:xfrm>
            <a:off x="635" y="998737"/>
            <a:ext cx="6848692" cy="156720"/>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Product Information</a:t>
            </a:r>
          </a:p>
        </p:txBody>
      </p:sp>
      <p:sp>
        <p:nvSpPr>
          <p:cNvPr id="4" name="Text 2"/>
          <p:cNvSpPr/>
          <p:nvPr/>
        </p:nvSpPr>
        <p:spPr>
          <a:xfrm>
            <a:off x="635" y="1180665"/>
            <a:ext cx="6848691" cy="246459"/>
          </a:xfrm>
          <a:prstGeom prst="rect">
            <a:avLst/>
          </a:prstGeom>
          <a:noFill/>
        </p:spPr>
        <p:txBody>
          <a:bodyPr wrap="square" lIns="0" tIns="0" rIns="0" bIns="53578" rtlCol="0" anchor="ctr"/>
          <a:lstStyle/>
          <a:p>
            <a:pPr algn="ctr">
              <a:lnSpc>
                <a:spcPct val="130000"/>
              </a:lnSpc>
            </a:pPr>
            <a:r>
              <a:rPr lang="en-US" sz="1200" b="1" dirty="0">
                <a:solidFill>
                  <a:srgbClr val="1E3A5F"/>
                </a:solidFill>
                <a:latin typeface="MiSans" pitchFamily="34" charset="-122"/>
                <a:ea typeface="MiSans" pitchFamily="34" charset="-122"/>
                <a:cs typeface="MiSans" pitchFamily="34" charset="-120"/>
              </a:rPr>
              <a:t>产品核心信息</a:t>
            </a:r>
          </a:p>
        </p:txBody>
      </p:sp>
      <p:sp>
        <p:nvSpPr>
          <p:cNvPr id="5" name="Shape 3"/>
          <p:cNvSpPr/>
          <p:nvPr/>
        </p:nvSpPr>
        <p:spPr>
          <a:xfrm>
            <a:off x="225039" y="1505051"/>
            <a:ext cx="2078831" cy="942975"/>
          </a:xfrm>
          <a:custGeom>
            <a:avLst/>
            <a:gdLst/>
            <a:ahLst/>
            <a:cxnLst/>
            <a:rect l="l" t="t" r="r" b="b"/>
            <a:pathLst>
              <a:path w="3695700" h="1676400">
                <a:moveTo>
                  <a:pt x="114297" y="0"/>
                </a:moveTo>
                <a:lnTo>
                  <a:pt x="3581403" y="0"/>
                </a:lnTo>
                <a:cubicBezTo>
                  <a:pt x="3644528" y="0"/>
                  <a:pt x="3695700" y="51172"/>
                  <a:pt x="3695700" y="114297"/>
                </a:cubicBezTo>
                <a:lnTo>
                  <a:pt x="3695700" y="1562103"/>
                </a:lnTo>
                <a:cubicBezTo>
                  <a:pt x="3695700" y="1625228"/>
                  <a:pt x="3644528" y="1676400"/>
                  <a:pt x="3581403" y="1676400"/>
                </a:cubicBezTo>
                <a:lnTo>
                  <a:pt x="114297" y="1676400"/>
                </a:lnTo>
                <a:cubicBezTo>
                  <a:pt x="51172" y="1676400"/>
                  <a:pt x="0" y="1625228"/>
                  <a:pt x="0" y="1562103"/>
                </a:cubicBezTo>
                <a:lnTo>
                  <a:pt x="0" y="114297"/>
                </a:lnTo>
                <a:cubicBezTo>
                  <a:pt x="0" y="51172"/>
                  <a:pt x="51172" y="0"/>
                  <a:pt x="114297" y="0"/>
                </a:cubicBezTo>
                <a:close/>
              </a:path>
            </a:pathLst>
          </a:custGeom>
          <a:solidFill>
            <a:srgbClr val="FFFFFF"/>
          </a:solidFill>
          <a:ln w="12700">
            <a:solidFill>
              <a:schemeClr val="bg1">
                <a:lumMod val="85000"/>
              </a:schemeClr>
            </a:solidFill>
            <a:prstDash val="solid"/>
          </a:ln>
        </p:spPr>
      </p:sp>
      <p:sp>
        <p:nvSpPr>
          <p:cNvPr id="6" name="Shape 4"/>
          <p:cNvSpPr/>
          <p:nvPr/>
        </p:nvSpPr>
        <p:spPr>
          <a:xfrm>
            <a:off x="325983" y="1614885"/>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C9A227">
              <a:alpha val="10196"/>
            </a:srgbClr>
          </a:solidFill>
        </p:spPr>
      </p:sp>
      <p:sp>
        <p:nvSpPr>
          <p:cNvPr id="7" name="Text 5"/>
          <p:cNvSpPr/>
          <p:nvPr/>
        </p:nvSpPr>
        <p:spPr>
          <a:xfrm>
            <a:off x="299194" y="1614885"/>
            <a:ext cx="267891" cy="214313"/>
          </a:xfrm>
          <a:prstGeom prst="rect">
            <a:avLst/>
          </a:prstGeom>
          <a:noFill/>
        </p:spPr>
        <p:txBody>
          <a:bodyPr wrap="square" lIns="0" tIns="0" rIns="0" bIns="0" rtlCol="0" anchor="ctr"/>
          <a:lstStyle/>
          <a:p>
            <a:pPr algn="ctr">
              <a:lnSpc>
                <a:spcPct val="120000"/>
              </a:lnSpc>
            </a:pPr>
            <a:r>
              <a:rPr lang="en-US" sz="845" dirty="0">
                <a:solidFill>
                  <a:srgbClr val="1F2937"/>
                </a:solidFill>
                <a:latin typeface="微软雅黑" panose="020B0503020204020204" pitchFamily="34" charset="-122"/>
                <a:ea typeface="微软雅黑" panose="020B0503020204020204" pitchFamily="34" charset="-122"/>
                <a:cs typeface="MiSans" pitchFamily="34" charset="-120"/>
              </a:rPr>
              <a:t>📋</a:t>
            </a:r>
            <a:endParaRPr lang="en-US" sz="900" dirty="0">
              <a:latin typeface="微软雅黑" panose="020B0503020204020204" pitchFamily="34" charset="-122"/>
              <a:ea typeface="微软雅黑" panose="020B0503020204020204" pitchFamily="34" charset="-122"/>
            </a:endParaRPr>
          </a:p>
        </p:txBody>
      </p:sp>
      <p:sp>
        <p:nvSpPr>
          <p:cNvPr id="8" name="Text 6"/>
          <p:cNvSpPr/>
          <p:nvPr/>
        </p:nvSpPr>
        <p:spPr>
          <a:xfrm>
            <a:off x="604520" y="1657985"/>
            <a:ext cx="603250" cy="128270"/>
          </a:xfrm>
          <a:prstGeom prst="rect">
            <a:avLst/>
          </a:prstGeom>
          <a:noFill/>
        </p:spPr>
        <p:txBody>
          <a:bodyPr wrap="square" lIns="0" tIns="0" rIns="0" bIns="0" rtlCol="0" anchor="ctr"/>
          <a:lstStyle/>
          <a:p>
            <a:pPr>
              <a:lnSpc>
                <a:spcPct val="130000"/>
              </a:lnSpc>
            </a:pPr>
            <a:r>
              <a:rPr lang="en-US" sz="900" b="1" dirty="0">
                <a:solidFill>
                  <a:srgbClr val="1F2937"/>
                </a:solidFill>
                <a:latin typeface="微软雅黑" panose="020B0503020204020204" pitchFamily="34" charset="-122"/>
                <a:ea typeface="微软雅黑" panose="020B0503020204020204" pitchFamily="34" charset="-122"/>
                <a:cs typeface="MiSans" pitchFamily="34" charset="-120"/>
              </a:rPr>
              <a:t>产品名称</a:t>
            </a:r>
            <a:endParaRPr lang="en-US" sz="900" dirty="0">
              <a:latin typeface="微软雅黑" panose="020B0503020204020204" pitchFamily="34" charset="-122"/>
              <a:ea typeface="微软雅黑" panose="020B0503020204020204" pitchFamily="34" charset="-122"/>
            </a:endParaRPr>
          </a:p>
        </p:txBody>
      </p:sp>
      <p:sp>
        <p:nvSpPr>
          <p:cNvPr id="9" name="Text 7"/>
          <p:cNvSpPr/>
          <p:nvPr/>
        </p:nvSpPr>
        <p:spPr>
          <a:xfrm>
            <a:off x="325979" y="1920281"/>
            <a:ext cx="1889048" cy="223689"/>
          </a:xfrm>
          <a:prstGeom prst="rect">
            <a:avLst/>
          </a:prstGeom>
          <a:noFill/>
        </p:spPr>
        <p:txBody>
          <a:bodyPr wrap="square" lIns="0" tIns="0" rIns="0" bIns="0" rtlCol="0" anchor="ctr"/>
          <a:lstStyle/>
          <a:p>
            <a:pPr>
              <a:lnSpc>
                <a:spcPct val="140000"/>
              </a:lnSpc>
            </a:pPr>
            <a:r>
              <a:rPr lang="en-US" sz="800" b="1" dirty="0">
                <a:solidFill>
                  <a:srgbClr val="1F2937"/>
                </a:solidFill>
                <a:latin typeface="微软雅黑" panose="020B0503020204020204" pitchFamily="34" charset="-122"/>
                <a:ea typeface="微软雅黑" panose="020B0503020204020204" pitchFamily="34" charset="-122"/>
                <a:cs typeface="MiSans" pitchFamily="34" charset="-120"/>
              </a:rPr>
              <a:t>外贸信托-睿泽稳鑫1号集合资金信托计划-第1期信托受益权</a:t>
            </a:r>
            <a:endParaRPr lang="en-US" sz="800" dirty="0">
              <a:latin typeface="微软雅黑" panose="020B0503020204020204" pitchFamily="34" charset="-122"/>
              <a:ea typeface="微软雅黑" panose="020B0503020204020204" pitchFamily="34" charset="-122"/>
            </a:endParaRPr>
          </a:p>
        </p:txBody>
      </p:sp>
      <p:sp>
        <p:nvSpPr>
          <p:cNvPr id="10" name="Text 8"/>
          <p:cNvSpPr/>
          <p:nvPr/>
        </p:nvSpPr>
        <p:spPr>
          <a:xfrm>
            <a:off x="325755" y="2164080"/>
            <a:ext cx="665480" cy="173355"/>
          </a:xfrm>
          <a:prstGeom prst="rect">
            <a:avLst/>
          </a:prstGeom>
          <a:noFill/>
        </p:spPr>
        <p:txBody>
          <a:bodyPr wrap="square" lIns="0" tIns="0" rIns="0" bIns="0" rtlCol="0" anchor="ctr"/>
          <a:lstStyle/>
          <a:p>
            <a:pPr>
              <a:lnSpc>
                <a:spcPct val="140000"/>
              </a:lnSpc>
            </a:pPr>
            <a:r>
              <a:rPr lang="en-US" sz="590" dirty="0">
                <a:solidFill>
                  <a:srgbClr val="6B7280"/>
                </a:solidFill>
                <a:latin typeface="微软雅黑" panose="020B0503020204020204" pitchFamily="34" charset="-122"/>
                <a:ea typeface="微软雅黑" panose="020B0503020204020204" pitchFamily="34" charset="-122"/>
                <a:cs typeface="MiSans" pitchFamily="34" charset="-120"/>
              </a:rPr>
              <a:t>(</a:t>
            </a: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JA8781</a:t>
            </a:r>
            <a:r>
              <a:rPr lang="en-US" sz="590" dirty="0">
                <a:solidFill>
                  <a:srgbClr val="6B7280"/>
                </a:solidFill>
                <a:latin typeface="微软雅黑" panose="020B0503020204020204" pitchFamily="34" charset="-122"/>
                <a:ea typeface="微软雅黑" panose="020B0503020204020204" pitchFamily="34" charset="-122"/>
                <a:cs typeface="MiSans" pitchFamily="34" charset="-120"/>
              </a:rPr>
              <a:t>)</a:t>
            </a:r>
            <a:endParaRPr lang="en-US" sz="900" dirty="0">
              <a:latin typeface="微软雅黑" panose="020B0503020204020204" pitchFamily="34" charset="-122"/>
              <a:ea typeface="微软雅黑" panose="020B0503020204020204" pitchFamily="34" charset="-122"/>
            </a:endParaRPr>
          </a:p>
        </p:txBody>
      </p:sp>
      <p:sp>
        <p:nvSpPr>
          <p:cNvPr id="11" name="Shape 9"/>
          <p:cNvSpPr/>
          <p:nvPr/>
        </p:nvSpPr>
        <p:spPr>
          <a:xfrm>
            <a:off x="2387821" y="1505051"/>
            <a:ext cx="2078831" cy="942975"/>
          </a:xfrm>
          <a:custGeom>
            <a:avLst/>
            <a:gdLst/>
            <a:ahLst/>
            <a:cxnLst/>
            <a:rect l="l" t="t" r="r" b="b"/>
            <a:pathLst>
              <a:path w="3695700" h="1676400">
                <a:moveTo>
                  <a:pt x="114297" y="0"/>
                </a:moveTo>
                <a:lnTo>
                  <a:pt x="3581403" y="0"/>
                </a:lnTo>
                <a:cubicBezTo>
                  <a:pt x="3644528" y="0"/>
                  <a:pt x="3695700" y="51172"/>
                  <a:pt x="3695700" y="114297"/>
                </a:cubicBezTo>
                <a:lnTo>
                  <a:pt x="3695700" y="1562103"/>
                </a:lnTo>
                <a:cubicBezTo>
                  <a:pt x="3695700" y="1625228"/>
                  <a:pt x="3644528" y="1676400"/>
                  <a:pt x="3581403" y="1676400"/>
                </a:cubicBezTo>
                <a:lnTo>
                  <a:pt x="114297" y="1676400"/>
                </a:lnTo>
                <a:cubicBezTo>
                  <a:pt x="51172" y="1676400"/>
                  <a:pt x="0" y="1625228"/>
                  <a:pt x="0" y="1562103"/>
                </a:cubicBezTo>
                <a:lnTo>
                  <a:pt x="0" y="114297"/>
                </a:lnTo>
                <a:cubicBezTo>
                  <a:pt x="0" y="51172"/>
                  <a:pt x="51172" y="0"/>
                  <a:pt x="114297" y="0"/>
                </a:cubicBezTo>
                <a:close/>
              </a:path>
            </a:pathLst>
          </a:custGeom>
          <a:solidFill>
            <a:srgbClr val="FFFFFF"/>
          </a:solidFill>
          <a:ln w="12700">
            <a:solidFill>
              <a:schemeClr val="bg1">
                <a:lumMod val="85000"/>
              </a:schemeClr>
            </a:solidFill>
            <a:prstDash val="solid"/>
          </a:ln>
        </p:spPr>
      </p:sp>
      <p:sp>
        <p:nvSpPr>
          <p:cNvPr id="12" name="Shape 10"/>
          <p:cNvSpPr/>
          <p:nvPr/>
        </p:nvSpPr>
        <p:spPr>
          <a:xfrm>
            <a:off x="2497655" y="1614885"/>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E3A5F">
              <a:alpha val="10196"/>
            </a:srgbClr>
          </a:solidFill>
        </p:spPr>
      </p:sp>
      <p:sp>
        <p:nvSpPr>
          <p:cNvPr id="13" name="Text 11"/>
          <p:cNvSpPr/>
          <p:nvPr/>
        </p:nvSpPr>
        <p:spPr>
          <a:xfrm>
            <a:off x="2470866" y="1614885"/>
            <a:ext cx="267891" cy="214313"/>
          </a:xfrm>
          <a:prstGeom prst="rect">
            <a:avLst/>
          </a:prstGeom>
          <a:noFill/>
        </p:spPr>
        <p:txBody>
          <a:bodyPr wrap="square" lIns="0" tIns="0" rIns="0" bIns="0" rtlCol="0" anchor="ctr"/>
          <a:lstStyle/>
          <a:p>
            <a:pPr algn="ctr">
              <a:lnSpc>
                <a:spcPct val="120000"/>
              </a:lnSpc>
            </a:pPr>
            <a:r>
              <a:rPr lang="en-US" sz="845" dirty="0">
                <a:solidFill>
                  <a:srgbClr val="1F2937"/>
                </a:solidFill>
                <a:latin typeface="微软雅黑" panose="020B0503020204020204" pitchFamily="34" charset="-122"/>
                <a:ea typeface="微软雅黑" panose="020B0503020204020204" pitchFamily="34" charset="-122"/>
                <a:cs typeface="MiSans" pitchFamily="34" charset="-120"/>
              </a:rPr>
              <a:t>🏢</a:t>
            </a:r>
            <a:endParaRPr lang="en-US" sz="900" dirty="0">
              <a:latin typeface="微软雅黑" panose="020B0503020204020204" pitchFamily="34" charset="-122"/>
              <a:ea typeface="微软雅黑" panose="020B0503020204020204" pitchFamily="34" charset="-122"/>
            </a:endParaRPr>
          </a:p>
        </p:txBody>
      </p:sp>
      <p:sp>
        <p:nvSpPr>
          <p:cNvPr id="14" name="Text 12"/>
          <p:cNvSpPr/>
          <p:nvPr/>
        </p:nvSpPr>
        <p:spPr>
          <a:xfrm>
            <a:off x="2776220" y="1657985"/>
            <a:ext cx="1181100" cy="128270"/>
          </a:xfrm>
          <a:prstGeom prst="rect">
            <a:avLst/>
          </a:prstGeom>
          <a:noFill/>
        </p:spPr>
        <p:txBody>
          <a:bodyPr wrap="square" lIns="0" tIns="0" rIns="0" bIns="0" rtlCol="0" anchor="ctr"/>
          <a:lstStyle/>
          <a:p>
            <a:pPr>
              <a:lnSpc>
                <a:spcPct val="130000"/>
              </a:lnSpc>
            </a:pPr>
            <a:r>
              <a:rPr lang="en-US" sz="900" b="1" dirty="0">
                <a:solidFill>
                  <a:srgbClr val="1F2937"/>
                </a:solidFill>
                <a:latin typeface="微软雅黑" panose="020B0503020204020204" pitchFamily="34" charset="-122"/>
                <a:ea typeface="微软雅黑" panose="020B0503020204020204" pitchFamily="34" charset="-122"/>
                <a:cs typeface="MiSans" pitchFamily="34" charset="-120"/>
              </a:rPr>
              <a:t>管理人/代销/保管</a:t>
            </a:r>
            <a:endParaRPr lang="en-US" sz="900" dirty="0">
              <a:latin typeface="微软雅黑" panose="020B0503020204020204" pitchFamily="34" charset="-122"/>
              <a:ea typeface="微软雅黑" panose="020B0503020204020204" pitchFamily="34" charset="-122"/>
            </a:endParaRPr>
          </a:p>
        </p:txBody>
      </p:sp>
      <p:sp>
        <p:nvSpPr>
          <p:cNvPr id="15" name="Text 13"/>
          <p:cNvSpPr/>
          <p:nvPr/>
        </p:nvSpPr>
        <p:spPr>
          <a:xfrm>
            <a:off x="2497650" y="1914923"/>
            <a:ext cx="1896666" cy="364331"/>
          </a:xfrm>
          <a:prstGeom prst="rect">
            <a:avLst/>
          </a:prstGeom>
          <a:noFill/>
        </p:spPr>
        <p:txBody>
          <a:bodyPr wrap="square" lIns="0" tIns="0" rIns="0" bIns="0" rtlCol="0" anchor="ctr"/>
          <a:lstStyle/>
          <a:p>
            <a:pPr>
              <a:lnSpc>
                <a:spcPct val="140000"/>
              </a:lnSpc>
            </a:pPr>
            <a:r>
              <a:rPr lang="en-US" sz="800" b="1" dirty="0">
                <a:solidFill>
                  <a:srgbClr val="1F2937"/>
                </a:solidFill>
                <a:latin typeface="微软雅黑" panose="020B0503020204020204" pitchFamily="34" charset="-122"/>
                <a:ea typeface="微软雅黑" panose="020B0503020204020204" pitchFamily="34" charset="-122"/>
                <a:cs typeface="MiSans" pitchFamily="34" charset="-120"/>
              </a:rPr>
              <a:t>管理人：</a:t>
            </a: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中国对外经济贸易信托有限公司</a:t>
            </a:r>
            <a:endParaRPr lang="en-US" sz="800" dirty="0">
              <a:latin typeface="微软雅黑" panose="020B0503020204020204" pitchFamily="34" charset="-122"/>
              <a:ea typeface="微软雅黑" panose="020B0503020204020204" pitchFamily="34" charset="-122"/>
            </a:endParaRPr>
          </a:p>
          <a:p>
            <a:pPr>
              <a:lnSpc>
                <a:spcPct val="140000"/>
              </a:lnSpc>
            </a:pPr>
            <a:r>
              <a:rPr lang="en-US" sz="800" b="1" dirty="0">
                <a:solidFill>
                  <a:srgbClr val="1F2937"/>
                </a:solidFill>
                <a:latin typeface="微软雅黑" panose="020B0503020204020204" pitchFamily="34" charset="-122"/>
                <a:ea typeface="微软雅黑" panose="020B0503020204020204" pitchFamily="34" charset="-122"/>
                <a:cs typeface="MiSans" pitchFamily="34" charset="-120"/>
              </a:rPr>
              <a:t>代销机构：</a:t>
            </a: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北京银行股份有限公司</a:t>
            </a:r>
            <a:endParaRPr lang="en-US" sz="800" dirty="0">
              <a:latin typeface="微软雅黑" panose="020B0503020204020204" pitchFamily="34" charset="-122"/>
              <a:ea typeface="微软雅黑" panose="020B0503020204020204" pitchFamily="34" charset="-122"/>
            </a:endParaRPr>
          </a:p>
          <a:p>
            <a:pPr>
              <a:lnSpc>
                <a:spcPct val="140000"/>
              </a:lnSpc>
            </a:pPr>
            <a:r>
              <a:rPr lang="en-US" sz="800" b="1" dirty="0">
                <a:solidFill>
                  <a:srgbClr val="1F2937"/>
                </a:solidFill>
                <a:latin typeface="微软雅黑" panose="020B0503020204020204" pitchFamily="34" charset="-122"/>
                <a:ea typeface="微软雅黑" panose="020B0503020204020204" pitchFamily="34" charset="-122"/>
                <a:cs typeface="MiSans" pitchFamily="34" charset="-120"/>
              </a:rPr>
              <a:t>保管人：</a:t>
            </a: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北京银行股份有限公司</a:t>
            </a:r>
            <a:endParaRPr lang="en-US" sz="800" dirty="0">
              <a:latin typeface="微软雅黑" panose="020B0503020204020204" pitchFamily="34" charset="-122"/>
              <a:ea typeface="微软雅黑" panose="020B0503020204020204" pitchFamily="34" charset="-122"/>
            </a:endParaRPr>
          </a:p>
        </p:txBody>
      </p:sp>
      <p:sp>
        <p:nvSpPr>
          <p:cNvPr id="16" name="Shape 14"/>
          <p:cNvSpPr/>
          <p:nvPr/>
        </p:nvSpPr>
        <p:spPr>
          <a:xfrm>
            <a:off x="4559493" y="1505051"/>
            <a:ext cx="2078831" cy="942975"/>
          </a:xfrm>
          <a:custGeom>
            <a:avLst/>
            <a:gdLst/>
            <a:ahLst/>
            <a:cxnLst/>
            <a:rect l="l" t="t" r="r" b="b"/>
            <a:pathLst>
              <a:path w="3695700" h="1676400">
                <a:moveTo>
                  <a:pt x="114297" y="0"/>
                </a:moveTo>
                <a:lnTo>
                  <a:pt x="3581403" y="0"/>
                </a:lnTo>
                <a:cubicBezTo>
                  <a:pt x="3644528" y="0"/>
                  <a:pt x="3695700" y="51172"/>
                  <a:pt x="3695700" y="114297"/>
                </a:cubicBezTo>
                <a:lnTo>
                  <a:pt x="3695700" y="1562103"/>
                </a:lnTo>
                <a:cubicBezTo>
                  <a:pt x="3695700" y="1625228"/>
                  <a:pt x="3644528" y="1676400"/>
                  <a:pt x="3581403" y="1676400"/>
                </a:cubicBezTo>
                <a:lnTo>
                  <a:pt x="114297" y="1676400"/>
                </a:lnTo>
                <a:cubicBezTo>
                  <a:pt x="51172" y="1676400"/>
                  <a:pt x="0" y="1625228"/>
                  <a:pt x="0" y="1562103"/>
                </a:cubicBezTo>
                <a:lnTo>
                  <a:pt x="0" y="114297"/>
                </a:lnTo>
                <a:cubicBezTo>
                  <a:pt x="0" y="51172"/>
                  <a:pt x="51172" y="0"/>
                  <a:pt x="114297" y="0"/>
                </a:cubicBezTo>
                <a:close/>
              </a:path>
            </a:pathLst>
          </a:custGeom>
          <a:solidFill>
            <a:srgbClr val="FFFFFF"/>
          </a:solidFill>
          <a:ln w="12700">
            <a:solidFill>
              <a:schemeClr val="bg1">
                <a:lumMod val="85000"/>
              </a:schemeClr>
            </a:solidFill>
            <a:prstDash val="solid"/>
          </a:ln>
        </p:spPr>
      </p:sp>
      <p:sp>
        <p:nvSpPr>
          <p:cNvPr id="17" name="Shape 15"/>
          <p:cNvSpPr/>
          <p:nvPr/>
        </p:nvSpPr>
        <p:spPr>
          <a:xfrm>
            <a:off x="4669328" y="1614885"/>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59669">
              <a:alpha val="10196"/>
            </a:srgbClr>
          </a:solidFill>
        </p:spPr>
      </p:sp>
      <p:sp>
        <p:nvSpPr>
          <p:cNvPr id="317" name="Text 16"/>
          <p:cNvSpPr/>
          <p:nvPr/>
        </p:nvSpPr>
        <p:spPr>
          <a:xfrm>
            <a:off x="4642539" y="1595946"/>
            <a:ext cx="267891" cy="252191"/>
          </a:xfrm>
          <a:custGeom>
            <a:avLst/>
            <a:gdLst>
              <a:gd name="connsiteX0" fmla="*/ 0 w 605663"/>
              <a:gd name="connsiteY0" fmla="*/ 335045 h 570169"/>
              <a:gd name="connsiteX1" fmla="*/ 605663 w 605663"/>
              <a:gd name="connsiteY1" fmla="*/ 335045 h 570169"/>
              <a:gd name="connsiteX2" fmla="*/ 605663 w 605663"/>
              <a:gd name="connsiteY2" fmla="*/ 520818 h 570169"/>
              <a:gd name="connsiteX3" fmla="*/ 556240 w 605663"/>
              <a:gd name="connsiteY3" fmla="*/ 570169 h 570169"/>
              <a:gd name="connsiteX4" fmla="*/ 49423 w 605663"/>
              <a:gd name="connsiteY4" fmla="*/ 570169 h 570169"/>
              <a:gd name="connsiteX5" fmla="*/ 0 w 605663"/>
              <a:gd name="connsiteY5" fmla="*/ 520818 h 570169"/>
              <a:gd name="connsiteX6" fmla="*/ 265214 w 605663"/>
              <a:gd name="connsiteY6" fmla="*/ 25774 h 570169"/>
              <a:gd name="connsiteX7" fmla="*/ 241604 w 605663"/>
              <a:gd name="connsiteY7" fmla="*/ 49348 h 570169"/>
              <a:gd name="connsiteX8" fmla="*/ 241604 w 605663"/>
              <a:gd name="connsiteY8" fmla="*/ 77322 h 570169"/>
              <a:gd name="connsiteX9" fmla="*/ 364059 w 605663"/>
              <a:gd name="connsiteY9" fmla="*/ 77322 h 570169"/>
              <a:gd name="connsiteX10" fmla="*/ 364059 w 605663"/>
              <a:gd name="connsiteY10" fmla="*/ 49348 h 570169"/>
              <a:gd name="connsiteX11" fmla="*/ 340449 w 605663"/>
              <a:gd name="connsiteY11" fmla="*/ 25774 h 570169"/>
              <a:gd name="connsiteX12" fmla="*/ 265214 w 605663"/>
              <a:gd name="connsiteY12" fmla="*/ 0 h 570169"/>
              <a:gd name="connsiteX13" fmla="*/ 340449 w 605663"/>
              <a:gd name="connsiteY13" fmla="*/ 0 h 570169"/>
              <a:gd name="connsiteX14" fmla="*/ 389872 w 605663"/>
              <a:gd name="connsiteY14" fmla="*/ 49348 h 570169"/>
              <a:gd name="connsiteX15" fmla="*/ 389872 w 605663"/>
              <a:gd name="connsiteY15" fmla="*/ 77322 h 570169"/>
              <a:gd name="connsiteX16" fmla="*/ 556240 w 605663"/>
              <a:gd name="connsiteY16" fmla="*/ 77322 h 570169"/>
              <a:gd name="connsiteX17" fmla="*/ 605663 w 605663"/>
              <a:gd name="connsiteY17" fmla="*/ 126827 h 570169"/>
              <a:gd name="connsiteX18" fmla="*/ 605663 w 605663"/>
              <a:gd name="connsiteY18" fmla="*/ 309288 h 570169"/>
              <a:gd name="connsiteX19" fmla="*/ 0 w 605663"/>
              <a:gd name="connsiteY19" fmla="*/ 309288 h 570169"/>
              <a:gd name="connsiteX20" fmla="*/ 0 w 605663"/>
              <a:gd name="connsiteY20" fmla="*/ 126827 h 570169"/>
              <a:gd name="connsiteX21" fmla="*/ 49423 w 605663"/>
              <a:gd name="connsiteY21" fmla="*/ 77322 h 570169"/>
              <a:gd name="connsiteX22" fmla="*/ 215791 w 605663"/>
              <a:gd name="connsiteY22" fmla="*/ 77322 h 570169"/>
              <a:gd name="connsiteX23" fmla="*/ 215791 w 605663"/>
              <a:gd name="connsiteY23" fmla="*/ 49348 h 570169"/>
              <a:gd name="connsiteX24" fmla="*/ 265214 w 605663"/>
              <a:gd name="connsiteY24" fmla="*/ 0 h 5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5663" h="570169">
                <a:moveTo>
                  <a:pt x="0" y="335045"/>
                </a:moveTo>
                <a:lnTo>
                  <a:pt x="605663" y="335045"/>
                </a:lnTo>
                <a:lnTo>
                  <a:pt x="605663" y="520818"/>
                </a:lnTo>
                <a:cubicBezTo>
                  <a:pt x="605663" y="548008"/>
                  <a:pt x="583470" y="570169"/>
                  <a:pt x="556240" y="570169"/>
                </a:cubicBezTo>
                <a:lnTo>
                  <a:pt x="49423" y="570169"/>
                </a:lnTo>
                <a:cubicBezTo>
                  <a:pt x="22193" y="570169"/>
                  <a:pt x="0" y="548008"/>
                  <a:pt x="0" y="520818"/>
                </a:cubicBezTo>
                <a:close/>
                <a:moveTo>
                  <a:pt x="265214" y="25774"/>
                </a:moveTo>
                <a:cubicBezTo>
                  <a:pt x="252150" y="25774"/>
                  <a:pt x="241604" y="36304"/>
                  <a:pt x="241604" y="49348"/>
                </a:cubicBezTo>
                <a:lnTo>
                  <a:pt x="241604" y="77322"/>
                </a:lnTo>
                <a:lnTo>
                  <a:pt x="364059" y="77322"/>
                </a:lnTo>
                <a:lnTo>
                  <a:pt x="364059" y="49348"/>
                </a:lnTo>
                <a:cubicBezTo>
                  <a:pt x="364059" y="36304"/>
                  <a:pt x="353513" y="25774"/>
                  <a:pt x="340449" y="25774"/>
                </a:cubicBezTo>
                <a:close/>
                <a:moveTo>
                  <a:pt x="265214" y="0"/>
                </a:moveTo>
                <a:lnTo>
                  <a:pt x="340449" y="0"/>
                </a:lnTo>
                <a:cubicBezTo>
                  <a:pt x="367679" y="0"/>
                  <a:pt x="389872" y="22159"/>
                  <a:pt x="389872" y="49348"/>
                </a:cubicBezTo>
                <a:lnTo>
                  <a:pt x="389872" y="77322"/>
                </a:lnTo>
                <a:lnTo>
                  <a:pt x="556240" y="77322"/>
                </a:lnTo>
                <a:cubicBezTo>
                  <a:pt x="583470" y="77322"/>
                  <a:pt x="605663" y="99481"/>
                  <a:pt x="605663" y="126827"/>
                </a:cubicBezTo>
                <a:lnTo>
                  <a:pt x="605663" y="309288"/>
                </a:lnTo>
                <a:lnTo>
                  <a:pt x="0" y="309288"/>
                </a:lnTo>
                <a:lnTo>
                  <a:pt x="0" y="126827"/>
                </a:lnTo>
                <a:cubicBezTo>
                  <a:pt x="0" y="99481"/>
                  <a:pt x="22193" y="77322"/>
                  <a:pt x="49423" y="77322"/>
                </a:cubicBezTo>
                <a:lnTo>
                  <a:pt x="215791" y="77322"/>
                </a:lnTo>
                <a:lnTo>
                  <a:pt x="215791" y="49348"/>
                </a:lnTo>
                <a:cubicBezTo>
                  <a:pt x="215791" y="22159"/>
                  <a:pt x="237984" y="0"/>
                  <a:pt x="265214" y="0"/>
                </a:cubicBezTo>
                <a:close/>
              </a:path>
            </a:pathLst>
          </a:custGeom>
          <a:noFill/>
        </p:spPr>
        <p:txBody>
          <a:bodyPr wrap="square" lIns="0" tIns="0" rIns="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pPr>
            <a:endParaRPr lang="en-US" sz="900" dirty="0">
              <a:solidFill>
                <a:srgbClr val="FF0000"/>
              </a:solidFill>
              <a:latin typeface="微软雅黑" panose="020B0503020204020204" pitchFamily="34" charset="-122"/>
              <a:ea typeface="微软雅黑" panose="020B0503020204020204" pitchFamily="34" charset="-122"/>
            </a:endParaRPr>
          </a:p>
        </p:txBody>
      </p:sp>
      <p:sp>
        <p:nvSpPr>
          <p:cNvPr id="19" name="Text 17"/>
          <p:cNvSpPr/>
          <p:nvPr/>
        </p:nvSpPr>
        <p:spPr>
          <a:xfrm>
            <a:off x="5203592" y="1641456"/>
            <a:ext cx="1207861" cy="192134"/>
          </a:xfrm>
          <a:prstGeom prst="rect">
            <a:avLst/>
          </a:prstGeom>
          <a:noFill/>
        </p:spPr>
        <p:txBody>
          <a:bodyPr wrap="square" lIns="0" tIns="0" rIns="0" bIns="0" rtlCol="0" anchor="ctr"/>
          <a:lstStyle/>
          <a:p>
            <a:pPr>
              <a:lnSpc>
                <a:spcPct val="130000"/>
              </a:lnSpc>
            </a:pPr>
            <a:r>
              <a:rPr lang="en-US" sz="900" b="1" dirty="0">
                <a:solidFill>
                  <a:srgbClr val="1F2937"/>
                </a:solidFill>
                <a:latin typeface="微软雅黑" panose="020B0503020204020204" pitchFamily="34" charset="-122"/>
                <a:ea typeface="微软雅黑" panose="020B0503020204020204" pitchFamily="34" charset="-122"/>
                <a:cs typeface="MiSans" pitchFamily="34" charset="-120"/>
              </a:rPr>
              <a:t>产品类型与风险</a:t>
            </a:r>
            <a:endParaRPr lang="en-US" sz="900" dirty="0">
              <a:latin typeface="微软雅黑" panose="020B0503020204020204" pitchFamily="34" charset="-122"/>
              <a:ea typeface="微软雅黑" panose="020B0503020204020204" pitchFamily="34" charset="-122"/>
            </a:endParaRPr>
          </a:p>
        </p:txBody>
      </p:sp>
      <p:sp>
        <p:nvSpPr>
          <p:cNvPr id="20" name="Text 18"/>
          <p:cNvSpPr/>
          <p:nvPr/>
        </p:nvSpPr>
        <p:spPr>
          <a:xfrm>
            <a:off x="4669323" y="1914923"/>
            <a:ext cx="1896666" cy="423267"/>
          </a:xfrm>
          <a:prstGeom prst="rect">
            <a:avLst/>
          </a:prstGeom>
          <a:noFill/>
        </p:spPr>
        <p:txBody>
          <a:bodyPr wrap="square" lIns="0" tIns="0" rIns="0" bIns="0" rtlCol="0" anchor="ctr"/>
          <a:lstStyle/>
          <a:p>
            <a:pPr algn="ctr">
              <a:lnSpc>
                <a:spcPct val="140000"/>
              </a:lnSpc>
            </a:pP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资产管理信托 · 固定收益类</a:t>
            </a:r>
            <a:endParaRPr lang="en-US" sz="800" dirty="0">
              <a:latin typeface="微软雅黑" panose="020B0503020204020204" pitchFamily="34" charset="-122"/>
              <a:ea typeface="微软雅黑" panose="020B0503020204020204" pitchFamily="34" charset="-122"/>
            </a:endParaRPr>
          </a:p>
          <a:p>
            <a:pPr algn="ctr">
              <a:lnSpc>
                <a:spcPct val="140000"/>
              </a:lnSpc>
            </a:pPr>
            <a:r>
              <a:rPr lang="en-US" sz="1400" b="1" dirty="0">
                <a:solidFill>
                  <a:srgbClr val="EA580C"/>
                </a:solidFill>
                <a:highlight>
                  <a:srgbClr val="EA580C">
                    <a:alpha val="10000"/>
                  </a:srgbClr>
                </a:highlight>
                <a:latin typeface="微软雅黑" panose="020B0503020204020204" pitchFamily="34" charset="-122"/>
                <a:ea typeface="微软雅黑" panose="020B0503020204020204" pitchFamily="34" charset="-122"/>
                <a:cs typeface="MiSans" pitchFamily="34" charset="-120"/>
              </a:rPr>
              <a:t>R3 中等风险</a:t>
            </a:r>
            <a:endParaRPr lang="en-US" sz="1400" dirty="0">
              <a:latin typeface="微软雅黑" panose="020B0503020204020204" pitchFamily="34" charset="-122"/>
              <a:ea typeface="微软雅黑" panose="020B0503020204020204" pitchFamily="34" charset="-122"/>
            </a:endParaRPr>
          </a:p>
          <a:p>
            <a:pPr algn="ctr">
              <a:lnSpc>
                <a:spcPct val="140000"/>
              </a:lnSpc>
            </a:pPr>
            <a:r>
              <a:rPr lang="en-US" sz="800" dirty="0">
                <a:solidFill>
                  <a:srgbClr val="6B7280"/>
                </a:solidFill>
                <a:latin typeface="微软雅黑" panose="020B0503020204020204" pitchFamily="34" charset="-122"/>
                <a:ea typeface="微软雅黑" panose="020B0503020204020204" pitchFamily="34" charset="-122"/>
                <a:cs typeface="MiSans" pitchFamily="34" charset="-120"/>
              </a:rPr>
              <a:t>适合中等及以上风险承受能力投资者</a:t>
            </a:r>
            <a:endParaRPr lang="en-US" sz="800" dirty="0">
              <a:latin typeface="微软雅黑" panose="020B0503020204020204" pitchFamily="34" charset="-122"/>
              <a:ea typeface="微软雅黑" panose="020B0503020204020204" pitchFamily="34" charset="-122"/>
            </a:endParaRPr>
          </a:p>
        </p:txBody>
      </p:sp>
      <p:sp>
        <p:nvSpPr>
          <p:cNvPr id="21" name="Shape 19"/>
          <p:cNvSpPr/>
          <p:nvPr/>
        </p:nvSpPr>
        <p:spPr>
          <a:xfrm>
            <a:off x="213470" y="2556516"/>
            <a:ext cx="1559123" cy="792956"/>
          </a:xfrm>
          <a:custGeom>
            <a:avLst/>
            <a:gdLst/>
            <a:ahLst/>
            <a:cxnLst/>
            <a:rect l="l" t="t" r="r" b="b"/>
            <a:pathLst>
              <a:path w="2771775" h="1409700">
                <a:moveTo>
                  <a:pt x="114298" y="0"/>
                </a:moveTo>
                <a:lnTo>
                  <a:pt x="2657477" y="0"/>
                </a:lnTo>
                <a:cubicBezTo>
                  <a:pt x="2720602" y="0"/>
                  <a:pt x="2771775" y="51173"/>
                  <a:pt x="2771775" y="114298"/>
                </a:cubicBezTo>
                <a:lnTo>
                  <a:pt x="2771775" y="1295402"/>
                </a:lnTo>
                <a:cubicBezTo>
                  <a:pt x="2771775" y="1358527"/>
                  <a:pt x="2720602" y="1409700"/>
                  <a:pt x="2657477" y="1409700"/>
                </a:cubicBezTo>
                <a:lnTo>
                  <a:pt x="114298" y="1409700"/>
                </a:lnTo>
                <a:cubicBezTo>
                  <a:pt x="51173" y="1409700"/>
                  <a:pt x="0" y="1358527"/>
                  <a:pt x="0" y="1295402"/>
                </a:cubicBezTo>
                <a:lnTo>
                  <a:pt x="0" y="114298"/>
                </a:lnTo>
                <a:cubicBezTo>
                  <a:pt x="0" y="51173"/>
                  <a:pt x="51173" y="0"/>
                  <a:pt x="114298" y="0"/>
                </a:cubicBezTo>
                <a:close/>
              </a:path>
            </a:pathLst>
          </a:custGeom>
          <a:solidFill>
            <a:srgbClr val="1E3A5F"/>
          </a:solidFill>
          <a:ln>
            <a:noFill/>
          </a:ln>
        </p:spPr>
      </p:sp>
      <p:sp>
        <p:nvSpPr>
          <p:cNvPr id="22" name="Text 20"/>
          <p:cNvSpPr/>
          <p:nvPr/>
        </p:nvSpPr>
        <p:spPr>
          <a:xfrm>
            <a:off x="293837" y="2616089"/>
            <a:ext cx="263693" cy="262483"/>
          </a:xfrm>
          <a:prstGeom prst="rect">
            <a:avLst/>
          </a:prstGeom>
          <a:noFill/>
        </p:spPr>
        <p:txBody>
          <a:bodyPr wrap="square" lIns="0" tIns="0" rIns="0" bIns="0" rtlCol="0" anchor="ctr"/>
          <a:lstStyle/>
          <a:p>
            <a:pPr algn="ctr">
              <a:lnSpc>
                <a:spcPct val="120000"/>
              </a:lnSpc>
            </a:pPr>
            <a:r>
              <a:rPr lang="en-US" sz="1000" dirty="0">
                <a:solidFill>
                  <a:srgbClr val="FFFFFF"/>
                </a:solidFill>
                <a:latin typeface="微软雅黑" panose="020B0503020204020204" pitchFamily="34" charset="-122"/>
                <a:ea typeface="微软雅黑" panose="020B0503020204020204" pitchFamily="34" charset="-122"/>
                <a:cs typeface="MiSans" pitchFamily="34" charset="-120"/>
              </a:rPr>
              <a:t>💰</a:t>
            </a:r>
          </a:p>
        </p:txBody>
      </p:sp>
      <p:sp>
        <p:nvSpPr>
          <p:cNvPr id="23" name="Text 21"/>
          <p:cNvSpPr/>
          <p:nvPr/>
        </p:nvSpPr>
        <p:spPr>
          <a:xfrm>
            <a:off x="208315" y="2610092"/>
            <a:ext cx="1548203" cy="251824"/>
          </a:xfrm>
          <a:prstGeom prst="rect">
            <a:avLst/>
          </a:prstGeom>
          <a:noFill/>
        </p:spPr>
        <p:txBody>
          <a:bodyPr wrap="square" lIns="0" tIns="0" rIns="0" bIns="0" rtlCol="0" anchor="ctr"/>
          <a:lstStyle/>
          <a:p>
            <a:pPr algn="ctr">
              <a:lnSpc>
                <a:spcPct val="110000"/>
              </a:lnSpc>
            </a:pPr>
            <a:r>
              <a:rPr lang="en-US" sz="900" dirty="0">
                <a:solidFill>
                  <a:srgbClr val="FFFFFF"/>
                </a:solidFill>
                <a:latin typeface="微软雅黑" panose="020B0503020204020204" pitchFamily="34" charset="-122"/>
                <a:ea typeface="微软雅黑" panose="020B0503020204020204" pitchFamily="34" charset="-122"/>
                <a:cs typeface="MiSans" pitchFamily="34" charset="-120"/>
              </a:rPr>
              <a:t>认购起点</a:t>
            </a:r>
          </a:p>
        </p:txBody>
      </p:sp>
      <p:sp>
        <p:nvSpPr>
          <p:cNvPr id="24" name="Text 22"/>
          <p:cNvSpPr/>
          <p:nvPr/>
        </p:nvSpPr>
        <p:spPr>
          <a:xfrm>
            <a:off x="288479" y="2897417"/>
            <a:ext cx="1409105" cy="171450"/>
          </a:xfrm>
          <a:prstGeom prst="rect">
            <a:avLst/>
          </a:prstGeom>
          <a:noFill/>
        </p:spPr>
        <p:txBody>
          <a:bodyPr wrap="square" lIns="0" tIns="0" rIns="0" bIns="0" rtlCol="0" anchor="ctr"/>
          <a:lstStyle/>
          <a:p>
            <a:pPr algn="ctr">
              <a:lnSpc>
                <a:spcPct val="110000"/>
              </a:lnSpc>
            </a:pPr>
            <a:r>
              <a:rPr lang="en-US" sz="1600" b="1" dirty="0">
                <a:solidFill>
                  <a:srgbClr val="C9A227"/>
                </a:solidFill>
                <a:latin typeface="微软雅黑" panose="020B0503020204020204" pitchFamily="34" charset="-122"/>
                <a:ea typeface="微软雅黑" panose="020B0503020204020204" pitchFamily="34" charset="-122"/>
                <a:cs typeface="MiSans" pitchFamily="34" charset="-120"/>
              </a:rPr>
              <a:t>50万</a:t>
            </a:r>
          </a:p>
        </p:txBody>
      </p:sp>
      <p:sp>
        <p:nvSpPr>
          <p:cNvPr id="25" name="Text 23"/>
          <p:cNvSpPr/>
          <p:nvPr/>
        </p:nvSpPr>
        <p:spPr>
          <a:xfrm>
            <a:off x="304548" y="3156596"/>
            <a:ext cx="1376958" cy="85725"/>
          </a:xfrm>
          <a:prstGeom prst="rect">
            <a:avLst/>
          </a:prstGeom>
          <a:noFill/>
        </p:spPr>
        <p:txBody>
          <a:bodyPr wrap="square" lIns="0" tIns="0" rIns="0" bIns="0" rtlCol="0" anchor="ctr"/>
          <a:lstStyle/>
          <a:p>
            <a:pPr algn="ctr">
              <a:lnSpc>
                <a:spcPct val="110000"/>
              </a:lnSpc>
            </a:pPr>
            <a:r>
              <a:rPr lang="en-US" sz="900" dirty="0">
                <a:solidFill>
                  <a:srgbClr val="FFFFFF"/>
                </a:solidFill>
                <a:latin typeface="微软雅黑" panose="020B0503020204020204" pitchFamily="34" charset="-122"/>
                <a:ea typeface="微软雅黑" panose="020B0503020204020204" pitchFamily="34" charset="-122"/>
                <a:cs typeface="MiSans" pitchFamily="34" charset="-120"/>
              </a:rPr>
              <a:t>以1万元整数倍增加</a:t>
            </a:r>
          </a:p>
        </p:txBody>
      </p:sp>
      <p:sp>
        <p:nvSpPr>
          <p:cNvPr id="26" name="Shape 24"/>
          <p:cNvSpPr/>
          <p:nvPr/>
        </p:nvSpPr>
        <p:spPr>
          <a:xfrm>
            <a:off x="1839561" y="2559195"/>
            <a:ext cx="1553766" cy="787598"/>
          </a:xfrm>
          <a:custGeom>
            <a:avLst/>
            <a:gdLst/>
            <a:ahLst/>
            <a:cxnLst/>
            <a:rect l="l" t="t" r="r" b="b"/>
            <a:pathLst>
              <a:path w="2762250" h="1400175">
                <a:moveTo>
                  <a:pt x="114296" y="0"/>
                </a:moveTo>
                <a:lnTo>
                  <a:pt x="2647954" y="0"/>
                </a:lnTo>
                <a:cubicBezTo>
                  <a:pt x="2711036" y="0"/>
                  <a:pt x="2762250" y="51214"/>
                  <a:pt x="2762250" y="114296"/>
                </a:cubicBezTo>
                <a:lnTo>
                  <a:pt x="2762250" y="1285879"/>
                </a:lnTo>
                <a:cubicBezTo>
                  <a:pt x="2762250" y="1348961"/>
                  <a:pt x="2711036" y="1400175"/>
                  <a:pt x="2647954"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FFFFFF"/>
          </a:solidFill>
          <a:ln w="12700">
            <a:solidFill>
              <a:schemeClr val="bg1">
                <a:lumMod val="85000"/>
              </a:schemeClr>
            </a:solidFill>
            <a:prstDash val="solid"/>
          </a:ln>
        </p:spPr>
      </p:sp>
      <p:sp>
        <p:nvSpPr>
          <p:cNvPr id="27" name="Text 25"/>
          <p:cNvSpPr/>
          <p:nvPr/>
        </p:nvSpPr>
        <p:spPr>
          <a:xfrm>
            <a:off x="1922612" y="2669036"/>
            <a:ext cx="369689" cy="85692"/>
          </a:xfrm>
          <a:prstGeom prst="rect">
            <a:avLst/>
          </a:prstGeom>
          <a:noFill/>
        </p:spPr>
        <p:txBody>
          <a:bodyPr wrap="square" lIns="0" tIns="0" rIns="0" bIns="0" rtlCol="0" anchor="ctr"/>
          <a:lstStyle/>
          <a:p>
            <a:pPr algn="ctr">
              <a:lnSpc>
                <a:spcPct val="120000"/>
              </a:lnSpc>
            </a:pPr>
            <a:r>
              <a:rPr lang="en-US" sz="1000" dirty="0">
                <a:solidFill>
                  <a:srgbClr val="1F2937"/>
                </a:solidFill>
                <a:latin typeface="微软雅黑" panose="020B0503020204020204" pitchFamily="34" charset="-122"/>
                <a:ea typeface="微软雅黑" panose="020B0503020204020204" pitchFamily="34" charset="-122"/>
                <a:cs typeface="MiSans" pitchFamily="34" charset="-120"/>
              </a:rPr>
              <a:t>📅</a:t>
            </a:r>
          </a:p>
        </p:txBody>
      </p:sp>
      <p:sp>
        <p:nvSpPr>
          <p:cNvPr id="28" name="Text 26"/>
          <p:cNvSpPr/>
          <p:nvPr/>
        </p:nvSpPr>
        <p:spPr>
          <a:xfrm>
            <a:off x="2263109" y="2621058"/>
            <a:ext cx="769554" cy="179415"/>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募集期</a:t>
            </a:r>
          </a:p>
        </p:txBody>
      </p:sp>
      <p:sp>
        <p:nvSpPr>
          <p:cNvPr id="29" name="Text 27"/>
          <p:cNvSpPr/>
          <p:nvPr/>
        </p:nvSpPr>
        <p:spPr>
          <a:xfrm>
            <a:off x="1922612" y="2921543"/>
            <a:ext cx="1387673" cy="150019"/>
          </a:xfrm>
          <a:prstGeom prst="rect">
            <a:avLst/>
          </a:prstGeom>
          <a:noFill/>
        </p:spPr>
        <p:txBody>
          <a:bodyPr wrap="square" lIns="0" tIns="0" rIns="0" bIns="0" rtlCol="0" anchor="ctr"/>
          <a:lstStyle/>
          <a:p>
            <a:pPr algn="ctr">
              <a:lnSpc>
                <a:spcPct val="120000"/>
              </a:lnSpc>
            </a:pPr>
            <a:r>
              <a:rPr lang="en-US" sz="1600" b="1" dirty="0">
                <a:solidFill>
                  <a:srgbClr val="1E3A5F"/>
                </a:solidFill>
                <a:latin typeface="微软雅黑" panose="020B0503020204020204" pitchFamily="34" charset="-122"/>
                <a:ea typeface="微软雅黑" panose="020B0503020204020204" pitchFamily="34" charset="-122"/>
                <a:cs typeface="MiSans" pitchFamily="34" charset="-120"/>
              </a:rPr>
              <a:t>2.4-2.9</a:t>
            </a:r>
          </a:p>
        </p:txBody>
      </p:sp>
      <p:sp>
        <p:nvSpPr>
          <p:cNvPr id="30" name="Text 28"/>
          <p:cNvSpPr/>
          <p:nvPr/>
        </p:nvSpPr>
        <p:spPr>
          <a:xfrm>
            <a:off x="1944043" y="3206913"/>
            <a:ext cx="1366242" cy="85725"/>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2026年</a:t>
            </a:r>
          </a:p>
        </p:txBody>
      </p:sp>
      <p:sp>
        <p:nvSpPr>
          <p:cNvPr id="31" name="Shape 29"/>
          <p:cNvSpPr/>
          <p:nvPr/>
        </p:nvSpPr>
        <p:spPr>
          <a:xfrm>
            <a:off x="3462978" y="2559195"/>
            <a:ext cx="1553766" cy="787598"/>
          </a:xfrm>
          <a:custGeom>
            <a:avLst/>
            <a:gdLst/>
            <a:ahLst/>
            <a:cxnLst/>
            <a:rect l="l" t="t" r="r" b="b"/>
            <a:pathLst>
              <a:path w="2762250" h="1400175">
                <a:moveTo>
                  <a:pt x="114296" y="0"/>
                </a:moveTo>
                <a:lnTo>
                  <a:pt x="2647954" y="0"/>
                </a:lnTo>
                <a:cubicBezTo>
                  <a:pt x="2711036" y="0"/>
                  <a:pt x="2762250" y="51214"/>
                  <a:pt x="2762250" y="114296"/>
                </a:cubicBezTo>
                <a:lnTo>
                  <a:pt x="2762250" y="1285879"/>
                </a:lnTo>
                <a:cubicBezTo>
                  <a:pt x="2762250" y="1348961"/>
                  <a:pt x="2711036" y="1400175"/>
                  <a:pt x="2647954"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FFFFFF"/>
          </a:solidFill>
          <a:ln w="12700">
            <a:solidFill>
              <a:schemeClr val="bg1">
                <a:lumMod val="85000"/>
              </a:schemeClr>
            </a:solidFill>
            <a:prstDash val="solid"/>
          </a:ln>
        </p:spPr>
      </p:sp>
      <p:sp>
        <p:nvSpPr>
          <p:cNvPr id="32" name="Text 30"/>
          <p:cNvSpPr/>
          <p:nvPr/>
        </p:nvSpPr>
        <p:spPr>
          <a:xfrm>
            <a:off x="3546029" y="2669036"/>
            <a:ext cx="308421" cy="131438"/>
          </a:xfrm>
          <a:prstGeom prst="rect">
            <a:avLst/>
          </a:prstGeom>
          <a:noFill/>
        </p:spPr>
        <p:txBody>
          <a:bodyPr wrap="square" lIns="0" tIns="0" rIns="0" bIns="0" rtlCol="0" anchor="ctr"/>
          <a:lstStyle/>
          <a:p>
            <a:pPr algn="ctr">
              <a:lnSpc>
                <a:spcPct val="120000"/>
              </a:lnSpc>
            </a:pPr>
            <a:r>
              <a:rPr lang="en-US" sz="1000" dirty="0">
                <a:solidFill>
                  <a:srgbClr val="1F2937"/>
                </a:solidFill>
                <a:latin typeface="微软雅黑" panose="020B0503020204020204" pitchFamily="34" charset="-122"/>
                <a:ea typeface="微软雅黑" panose="020B0503020204020204" pitchFamily="34" charset="-122"/>
                <a:cs typeface="MiSans" pitchFamily="34" charset="-120"/>
              </a:rPr>
              <a:t>🚀</a:t>
            </a:r>
          </a:p>
        </p:txBody>
      </p:sp>
      <p:sp>
        <p:nvSpPr>
          <p:cNvPr id="33" name="Text 31"/>
          <p:cNvSpPr/>
          <p:nvPr/>
        </p:nvSpPr>
        <p:spPr>
          <a:xfrm>
            <a:off x="3484409" y="2621058"/>
            <a:ext cx="1576347" cy="190898"/>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成立日</a:t>
            </a:r>
          </a:p>
        </p:txBody>
      </p:sp>
      <p:sp>
        <p:nvSpPr>
          <p:cNvPr id="34" name="Text 32"/>
          <p:cNvSpPr/>
          <p:nvPr/>
        </p:nvSpPr>
        <p:spPr>
          <a:xfrm>
            <a:off x="3462979" y="2850915"/>
            <a:ext cx="1567159" cy="281938"/>
          </a:xfrm>
          <a:prstGeom prst="rect">
            <a:avLst/>
          </a:prstGeom>
          <a:noFill/>
        </p:spPr>
        <p:txBody>
          <a:bodyPr wrap="square" lIns="0" tIns="0" rIns="0" bIns="0" rtlCol="0" anchor="ctr"/>
          <a:lstStyle/>
          <a:p>
            <a:pPr algn="ctr">
              <a:lnSpc>
                <a:spcPct val="120000"/>
              </a:lnSpc>
            </a:pPr>
            <a:r>
              <a:rPr lang="en-US" sz="1600" b="1" dirty="0">
                <a:solidFill>
                  <a:srgbClr val="059669"/>
                </a:solidFill>
                <a:latin typeface="微软雅黑" panose="020B0503020204020204" pitchFamily="34" charset="-122"/>
                <a:ea typeface="微软雅黑" panose="020B0503020204020204" pitchFamily="34" charset="-122"/>
                <a:cs typeface="MiSans" pitchFamily="34" charset="-120"/>
              </a:rPr>
              <a:t>2.11</a:t>
            </a:r>
          </a:p>
        </p:txBody>
      </p:sp>
      <p:sp>
        <p:nvSpPr>
          <p:cNvPr id="35" name="Text 33"/>
          <p:cNvSpPr/>
          <p:nvPr/>
        </p:nvSpPr>
        <p:spPr>
          <a:xfrm>
            <a:off x="3462979" y="3144334"/>
            <a:ext cx="1529654" cy="173305"/>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2026年</a:t>
            </a:r>
          </a:p>
        </p:txBody>
      </p:sp>
      <p:sp>
        <p:nvSpPr>
          <p:cNvPr id="36" name="Shape 34"/>
          <p:cNvSpPr/>
          <p:nvPr/>
        </p:nvSpPr>
        <p:spPr>
          <a:xfrm>
            <a:off x="5086395" y="2559195"/>
            <a:ext cx="1553766" cy="787598"/>
          </a:xfrm>
          <a:custGeom>
            <a:avLst/>
            <a:gdLst/>
            <a:ahLst/>
            <a:cxnLst/>
            <a:rect l="l" t="t" r="r" b="b"/>
            <a:pathLst>
              <a:path w="2762250" h="1400175">
                <a:moveTo>
                  <a:pt x="114296" y="0"/>
                </a:moveTo>
                <a:lnTo>
                  <a:pt x="2647954" y="0"/>
                </a:lnTo>
                <a:cubicBezTo>
                  <a:pt x="2711036" y="0"/>
                  <a:pt x="2762250" y="51214"/>
                  <a:pt x="2762250" y="114296"/>
                </a:cubicBezTo>
                <a:lnTo>
                  <a:pt x="2762250" y="1285879"/>
                </a:lnTo>
                <a:cubicBezTo>
                  <a:pt x="2762250" y="1348961"/>
                  <a:pt x="2711036" y="1400175"/>
                  <a:pt x="2647954"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FFFFFF"/>
          </a:solidFill>
          <a:ln w="12700">
            <a:solidFill>
              <a:schemeClr val="bg1">
                <a:lumMod val="85000"/>
              </a:schemeClr>
            </a:solidFill>
            <a:prstDash val="solid"/>
          </a:ln>
        </p:spPr>
      </p:sp>
      <p:sp>
        <p:nvSpPr>
          <p:cNvPr id="37" name="Text 35"/>
          <p:cNvSpPr/>
          <p:nvPr/>
        </p:nvSpPr>
        <p:spPr>
          <a:xfrm>
            <a:off x="5169448" y="2669035"/>
            <a:ext cx="369688" cy="170885"/>
          </a:xfrm>
          <a:prstGeom prst="rect">
            <a:avLst/>
          </a:prstGeom>
          <a:noFill/>
        </p:spPr>
        <p:txBody>
          <a:bodyPr wrap="square" lIns="0" tIns="0" rIns="0" bIns="0" rtlCol="0" anchor="ctr"/>
          <a:lstStyle/>
          <a:p>
            <a:pPr algn="ctr">
              <a:lnSpc>
                <a:spcPct val="120000"/>
              </a:lnSpc>
            </a:pPr>
            <a:r>
              <a:rPr lang="en-US" sz="1000" dirty="0">
                <a:solidFill>
                  <a:srgbClr val="1F2937"/>
                </a:solidFill>
                <a:latin typeface="微软雅黑" panose="020B0503020204020204" pitchFamily="34" charset="-122"/>
                <a:ea typeface="微软雅黑" panose="020B0503020204020204" pitchFamily="34" charset="-122"/>
                <a:cs typeface="MiSans" pitchFamily="34" charset="-120"/>
              </a:rPr>
              <a:t>🔄</a:t>
            </a:r>
          </a:p>
        </p:txBody>
      </p:sp>
      <p:sp>
        <p:nvSpPr>
          <p:cNvPr id="38" name="Text 36"/>
          <p:cNvSpPr/>
          <p:nvPr/>
        </p:nvSpPr>
        <p:spPr>
          <a:xfrm>
            <a:off x="5099790" y="2631748"/>
            <a:ext cx="1530960" cy="236860"/>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赎回开放日</a:t>
            </a:r>
          </a:p>
        </p:txBody>
      </p:sp>
      <p:sp>
        <p:nvSpPr>
          <p:cNvPr id="39" name="Text 37"/>
          <p:cNvSpPr/>
          <p:nvPr/>
        </p:nvSpPr>
        <p:spPr>
          <a:xfrm>
            <a:off x="5169447" y="2867873"/>
            <a:ext cx="1387673" cy="251220"/>
          </a:xfrm>
          <a:prstGeom prst="rect">
            <a:avLst/>
          </a:prstGeom>
          <a:noFill/>
        </p:spPr>
        <p:txBody>
          <a:bodyPr wrap="square" lIns="0" tIns="0" rIns="0" bIns="0" rtlCol="0" anchor="ctr"/>
          <a:lstStyle/>
          <a:p>
            <a:pPr algn="ctr">
              <a:lnSpc>
                <a:spcPct val="120000"/>
              </a:lnSpc>
            </a:pPr>
            <a:r>
              <a:rPr lang="en-US" sz="1600" b="1" dirty="0">
                <a:solidFill>
                  <a:srgbClr val="EA580C"/>
                </a:solidFill>
                <a:latin typeface="微软雅黑" panose="020B0503020204020204" pitchFamily="34" charset="-122"/>
                <a:ea typeface="微软雅黑" panose="020B0503020204020204" pitchFamily="34" charset="-122"/>
                <a:cs typeface="MiSans" pitchFamily="34" charset="-120"/>
              </a:rPr>
              <a:t>8.11</a:t>
            </a:r>
          </a:p>
        </p:txBody>
      </p:sp>
      <p:sp>
        <p:nvSpPr>
          <p:cNvPr id="40" name="Text 38"/>
          <p:cNvSpPr/>
          <p:nvPr/>
        </p:nvSpPr>
        <p:spPr>
          <a:xfrm>
            <a:off x="5180157" y="3140523"/>
            <a:ext cx="1366242" cy="194714"/>
          </a:xfrm>
          <a:prstGeom prst="rect">
            <a:avLst/>
          </a:prstGeom>
          <a:noFill/>
        </p:spPr>
        <p:txBody>
          <a:bodyPr wrap="square" lIns="0" tIns="0" rIns="0" bIns="0" rtlCol="0" anchor="ctr"/>
          <a:lstStyle/>
          <a:p>
            <a:pPr algn="ctr">
              <a:lnSpc>
                <a:spcPct val="110000"/>
              </a:lnSpc>
            </a:pPr>
            <a:r>
              <a:rPr lang="en-US" sz="900" dirty="0">
                <a:solidFill>
                  <a:srgbClr val="6B7280"/>
                </a:solidFill>
                <a:latin typeface="微软雅黑" panose="020B0503020204020204" pitchFamily="34" charset="-122"/>
                <a:ea typeface="微软雅黑" panose="020B0503020204020204" pitchFamily="34" charset="-122"/>
                <a:cs typeface="MiSans" pitchFamily="34" charset="-120"/>
              </a:rPr>
              <a:t>2026年 · </a:t>
            </a:r>
            <a:r>
              <a:rPr lang="en-US" sz="900" dirty="0">
                <a:solidFill>
                  <a:srgbClr val="FF0000"/>
                </a:solidFill>
                <a:latin typeface="微软雅黑" panose="020B0503020204020204" pitchFamily="34" charset="-122"/>
                <a:ea typeface="微软雅黑" panose="020B0503020204020204" pitchFamily="34" charset="-122"/>
                <a:cs typeface="MiSans" pitchFamily="34" charset="-120"/>
              </a:rPr>
              <a:t>默认赎回</a:t>
            </a:r>
          </a:p>
        </p:txBody>
      </p:sp>
      <p:sp>
        <p:nvSpPr>
          <p:cNvPr id="41" name="Shape 39"/>
          <p:cNvSpPr/>
          <p:nvPr/>
        </p:nvSpPr>
        <p:spPr>
          <a:xfrm>
            <a:off x="246464" y="3458664"/>
            <a:ext cx="3166467" cy="1226939"/>
          </a:xfrm>
          <a:custGeom>
            <a:avLst/>
            <a:gdLst/>
            <a:ahLst/>
            <a:cxnLst/>
            <a:rect l="l" t="t" r="r" b="b"/>
            <a:pathLst>
              <a:path w="5629275" h="2181225">
                <a:moveTo>
                  <a:pt x="114296" y="0"/>
                </a:moveTo>
                <a:lnTo>
                  <a:pt x="5514979" y="0"/>
                </a:lnTo>
                <a:cubicBezTo>
                  <a:pt x="5578103" y="0"/>
                  <a:pt x="5629275" y="51172"/>
                  <a:pt x="5629275" y="114296"/>
                </a:cubicBezTo>
                <a:lnTo>
                  <a:pt x="5629275" y="2066929"/>
                </a:lnTo>
                <a:cubicBezTo>
                  <a:pt x="5629275" y="2130053"/>
                  <a:pt x="5578103" y="2181225"/>
                  <a:pt x="5514979" y="2181225"/>
                </a:cubicBezTo>
                <a:lnTo>
                  <a:pt x="114296" y="2181225"/>
                </a:lnTo>
                <a:cubicBezTo>
                  <a:pt x="51172" y="2181225"/>
                  <a:pt x="0" y="2130053"/>
                  <a:pt x="0" y="2066929"/>
                </a:cubicBezTo>
                <a:lnTo>
                  <a:pt x="0" y="114296"/>
                </a:lnTo>
                <a:cubicBezTo>
                  <a:pt x="0" y="51214"/>
                  <a:pt x="51214" y="0"/>
                  <a:pt x="114296" y="0"/>
                </a:cubicBezTo>
                <a:close/>
              </a:path>
            </a:pathLst>
          </a:custGeom>
          <a:solidFill>
            <a:srgbClr val="FFFFFF"/>
          </a:solidFill>
          <a:ln w="12700">
            <a:solidFill>
              <a:schemeClr val="bg1">
                <a:lumMod val="85000"/>
              </a:schemeClr>
            </a:solidFill>
            <a:prstDash val="solid"/>
          </a:ln>
        </p:spPr>
      </p:sp>
      <p:sp>
        <p:nvSpPr>
          <p:cNvPr id="42" name="Shape 40"/>
          <p:cNvSpPr/>
          <p:nvPr/>
        </p:nvSpPr>
        <p:spPr>
          <a:xfrm>
            <a:off x="325984" y="3786134"/>
            <a:ext cx="2946797" cy="5358"/>
          </a:xfrm>
          <a:custGeom>
            <a:avLst/>
            <a:gdLst/>
            <a:ahLst/>
            <a:cxnLst/>
            <a:rect l="l" t="t" r="r" b="b"/>
            <a:pathLst>
              <a:path w="5238750" h="9525">
                <a:moveTo>
                  <a:pt x="0" y="0"/>
                </a:moveTo>
                <a:lnTo>
                  <a:pt x="5238750" y="0"/>
                </a:lnTo>
                <a:lnTo>
                  <a:pt x="5238750" y="9525"/>
                </a:lnTo>
                <a:lnTo>
                  <a:pt x="0" y="9525"/>
                </a:lnTo>
                <a:lnTo>
                  <a:pt x="0" y="0"/>
                </a:lnTo>
                <a:close/>
              </a:path>
            </a:pathLst>
          </a:custGeom>
          <a:solidFill>
            <a:schemeClr val="bg1">
              <a:lumMod val="85000"/>
            </a:schemeClr>
          </a:solidFill>
        </p:spPr>
      </p:sp>
      <p:sp>
        <p:nvSpPr>
          <p:cNvPr id="43" name="Text 41"/>
          <p:cNvSpPr/>
          <p:nvPr/>
        </p:nvSpPr>
        <p:spPr>
          <a:xfrm>
            <a:off x="325979" y="3569148"/>
            <a:ext cx="171450" cy="150019"/>
          </a:xfrm>
          <a:prstGeom prst="rect">
            <a:avLst/>
          </a:prstGeom>
          <a:noFill/>
        </p:spPr>
        <p:txBody>
          <a:bodyPr wrap="square" lIns="0" tIns="0" rIns="0" bIns="0" rtlCol="0" anchor="ctr"/>
          <a:lstStyle/>
          <a:p>
            <a:pPr>
              <a:lnSpc>
                <a:spcPct val="130000"/>
              </a:lnSpc>
            </a:pPr>
            <a:r>
              <a:rPr lang="en-US" sz="1060" dirty="0">
                <a:solidFill>
                  <a:srgbClr val="1F2937"/>
                </a:solidFill>
                <a:latin typeface="微软雅黑" panose="020B0503020204020204" pitchFamily="34" charset="-122"/>
                <a:ea typeface="微软雅黑" panose="020B0503020204020204" pitchFamily="34" charset="-122"/>
                <a:cs typeface="MiSans" pitchFamily="34" charset="-120"/>
              </a:rPr>
              <a:t>📊</a:t>
            </a:r>
          </a:p>
        </p:txBody>
      </p:sp>
      <p:sp>
        <p:nvSpPr>
          <p:cNvPr id="44" name="Text 42"/>
          <p:cNvSpPr/>
          <p:nvPr/>
        </p:nvSpPr>
        <p:spPr>
          <a:xfrm>
            <a:off x="494665" y="3590290"/>
            <a:ext cx="1029335" cy="107315"/>
          </a:xfrm>
          <a:prstGeom prst="rect">
            <a:avLst/>
          </a:prstGeom>
          <a:noFill/>
        </p:spPr>
        <p:txBody>
          <a:bodyPr wrap="square" lIns="0" tIns="0" rIns="0" bIns="0" rtlCol="0" anchor="ctr"/>
          <a:lstStyle/>
          <a:p>
            <a:pPr>
              <a:lnSpc>
                <a:spcPct val="120000"/>
              </a:lnSpc>
            </a:pPr>
            <a:r>
              <a:rPr lang="en-US" sz="890" b="1" dirty="0">
                <a:solidFill>
                  <a:srgbClr val="1F2937"/>
                </a:solidFill>
                <a:latin typeface="微软雅黑" panose="020B0503020204020204" pitchFamily="34" charset="-122"/>
                <a:ea typeface="微软雅黑" panose="020B0503020204020204" pitchFamily="34" charset="-122"/>
                <a:cs typeface="MiSans" pitchFamily="34" charset="-120"/>
              </a:rPr>
              <a:t>固定费用</a:t>
            </a:r>
          </a:p>
        </p:txBody>
      </p:sp>
      <p:sp>
        <p:nvSpPr>
          <p:cNvPr id="46" name="Text 44"/>
          <p:cNvSpPr/>
          <p:nvPr/>
        </p:nvSpPr>
        <p:spPr>
          <a:xfrm>
            <a:off x="325755" y="3917315"/>
            <a:ext cx="1393190" cy="85725"/>
          </a:xfrm>
          <a:prstGeom prst="rect">
            <a:avLst/>
          </a:prstGeom>
          <a:noFill/>
        </p:spPr>
        <p:txBody>
          <a:bodyPr wrap="square" lIns="0" tIns="0" rIns="0" bIns="0" rtlCol="0" anchor="ctr"/>
          <a:lstStyle/>
          <a:p>
            <a:pPr>
              <a:lnSpc>
                <a:spcPct val="110000"/>
              </a:lnSpc>
            </a:pPr>
            <a:r>
              <a:rPr lang="en-US" sz="810" dirty="0">
                <a:latin typeface="微软雅黑" panose="020B0503020204020204" pitchFamily="34" charset="-122"/>
                <a:ea typeface="微软雅黑" panose="020B0503020204020204" pitchFamily="34" charset="-122"/>
                <a:cs typeface="MiSans" pitchFamily="34" charset="-120"/>
              </a:rPr>
              <a:t>认购/申购/赎回费</a:t>
            </a:r>
          </a:p>
        </p:txBody>
      </p:sp>
      <p:sp>
        <p:nvSpPr>
          <p:cNvPr id="47" name="Text 45"/>
          <p:cNvSpPr/>
          <p:nvPr/>
        </p:nvSpPr>
        <p:spPr>
          <a:xfrm>
            <a:off x="3122930" y="3917315"/>
            <a:ext cx="174625" cy="107315"/>
          </a:xfrm>
          <a:prstGeom prst="rect">
            <a:avLst/>
          </a:prstGeom>
          <a:noFill/>
        </p:spPr>
        <p:txBody>
          <a:bodyPr wrap="square" lIns="0" tIns="0" rIns="0" bIns="0" rtlCol="0" anchor="ctr"/>
          <a:lstStyle/>
          <a:p>
            <a:pPr>
              <a:lnSpc>
                <a:spcPct val="110000"/>
              </a:lnSpc>
            </a:pPr>
            <a:r>
              <a:rPr lang="en-US" sz="810" b="1" dirty="0">
                <a:solidFill>
                  <a:srgbClr val="059669"/>
                </a:solidFill>
                <a:latin typeface="微软雅黑" panose="020B0503020204020204" pitchFamily="34" charset="-122"/>
                <a:ea typeface="微软雅黑" panose="020B0503020204020204" pitchFamily="34" charset="-122"/>
                <a:cs typeface="MiSans" pitchFamily="34" charset="-120"/>
              </a:rPr>
              <a:t>无</a:t>
            </a:r>
          </a:p>
        </p:txBody>
      </p:sp>
      <p:sp>
        <p:nvSpPr>
          <p:cNvPr id="49" name="Text 47"/>
          <p:cNvSpPr/>
          <p:nvPr/>
        </p:nvSpPr>
        <p:spPr>
          <a:xfrm>
            <a:off x="325755" y="4094480"/>
            <a:ext cx="1061085" cy="99060"/>
          </a:xfrm>
          <a:prstGeom prst="rect">
            <a:avLst/>
          </a:prstGeom>
          <a:noFill/>
        </p:spPr>
        <p:txBody>
          <a:bodyPr wrap="square" lIns="0" tIns="0" rIns="0" bIns="0" rtlCol="0" anchor="ctr"/>
          <a:lstStyle/>
          <a:p>
            <a:pPr>
              <a:lnSpc>
                <a:spcPct val="110000"/>
              </a:lnSpc>
            </a:pPr>
            <a:r>
              <a:rPr lang="en-US" sz="810" dirty="0">
                <a:latin typeface="微软雅黑" panose="020B0503020204020204" pitchFamily="34" charset="-122"/>
                <a:ea typeface="微软雅黑" panose="020B0503020204020204" pitchFamily="34" charset="-122"/>
                <a:cs typeface="MiSans" pitchFamily="34" charset="-120"/>
              </a:rPr>
              <a:t>固定信托报酬</a:t>
            </a:r>
          </a:p>
        </p:txBody>
      </p:sp>
      <p:sp>
        <p:nvSpPr>
          <p:cNvPr id="50" name="Text 48"/>
          <p:cNvSpPr/>
          <p:nvPr/>
        </p:nvSpPr>
        <p:spPr>
          <a:xfrm>
            <a:off x="2802255" y="4067810"/>
            <a:ext cx="508030" cy="125730"/>
          </a:xfrm>
          <a:prstGeom prst="rect">
            <a:avLst/>
          </a:prstGeom>
          <a:noFill/>
        </p:spPr>
        <p:txBody>
          <a:bodyPr wrap="square" lIns="0" tIns="0" rIns="0" bIns="0" rtlCol="0" anchor="ctr"/>
          <a:lstStyle/>
          <a:p>
            <a:pPr>
              <a:lnSpc>
                <a:spcPct val="110000"/>
              </a:lnSpc>
            </a:pPr>
            <a:r>
              <a:rPr lang="en-US" sz="810" b="1" dirty="0">
                <a:solidFill>
                  <a:srgbClr val="1F2937"/>
                </a:solidFill>
                <a:latin typeface="微软雅黑" panose="020B0503020204020204" pitchFamily="34" charset="-122"/>
                <a:ea typeface="微软雅黑" panose="020B0503020204020204" pitchFamily="34" charset="-122"/>
                <a:cs typeface="MiSans" pitchFamily="34" charset="-120"/>
              </a:rPr>
              <a:t>0.15%/年</a:t>
            </a:r>
          </a:p>
        </p:txBody>
      </p:sp>
      <p:sp>
        <p:nvSpPr>
          <p:cNvPr id="52" name="Text 50"/>
          <p:cNvSpPr/>
          <p:nvPr/>
        </p:nvSpPr>
        <p:spPr>
          <a:xfrm>
            <a:off x="325755" y="4293235"/>
            <a:ext cx="1043940" cy="77470"/>
          </a:xfrm>
          <a:prstGeom prst="rect">
            <a:avLst/>
          </a:prstGeom>
          <a:noFill/>
        </p:spPr>
        <p:txBody>
          <a:bodyPr wrap="square" lIns="0" tIns="0" rIns="0" bIns="0" rtlCol="0" anchor="ctr"/>
          <a:lstStyle/>
          <a:p>
            <a:pPr>
              <a:lnSpc>
                <a:spcPct val="110000"/>
              </a:lnSpc>
            </a:pPr>
            <a:r>
              <a:rPr lang="en-US" sz="810" dirty="0">
                <a:latin typeface="微软雅黑" panose="020B0503020204020204" pitchFamily="34" charset="-122"/>
                <a:ea typeface="微软雅黑" panose="020B0503020204020204" pitchFamily="34" charset="-122"/>
                <a:cs typeface="MiSans" pitchFamily="34" charset="-120"/>
              </a:rPr>
              <a:t>固定代销销售费</a:t>
            </a:r>
          </a:p>
        </p:txBody>
      </p:sp>
      <p:sp>
        <p:nvSpPr>
          <p:cNvPr id="53" name="Text 51"/>
          <p:cNvSpPr/>
          <p:nvPr/>
        </p:nvSpPr>
        <p:spPr>
          <a:xfrm>
            <a:off x="2801620" y="4293235"/>
            <a:ext cx="504190" cy="85725"/>
          </a:xfrm>
          <a:prstGeom prst="rect">
            <a:avLst/>
          </a:prstGeom>
          <a:noFill/>
        </p:spPr>
        <p:txBody>
          <a:bodyPr wrap="square" lIns="0" tIns="0" rIns="0" bIns="0" rtlCol="0" anchor="ctr"/>
          <a:lstStyle/>
          <a:p>
            <a:pPr>
              <a:lnSpc>
                <a:spcPct val="110000"/>
              </a:lnSpc>
            </a:pPr>
            <a:r>
              <a:rPr lang="en-US" sz="810" b="1" dirty="0">
                <a:solidFill>
                  <a:srgbClr val="1F2937"/>
                </a:solidFill>
                <a:latin typeface="微软雅黑" panose="020B0503020204020204" pitchFamily="34" charset="-122"/>
                <a:ea typeface="微软雅黑" panose="020B0503020204020204" pitchFamily="34" charset="-122"/>
                <a:cs typeface="MiSans" pitchFamily="34" charset="-120"/>
              </a:rPr>
              <a:t>0.30%/年</a:t>
            </a:r>
          </a:p>
        </p:txBody>
      </p:sp>
      <p:sp>
        <p:nvSpPr>
          <p:cNvPr id="54" name="Text 52"/>
          <p:cNvSpPr/>
          <p:nvPr/>
        </p:nvSpPr>
        <p:spPr>
          <a:xfrm>
            <a:off x="325755" y="4474210"/>
            <a:ext cx="1409065" cy="76200"/>
          </a:xfrm>
          <a:prstGeom prst="rect">
            <a:avLst/>
          </a:prstGeom>
          <a:noFill/>
        </p:spPr>
        <p:txBody>
          <a:bodyPr wrap="square" lIns="0" tIns="0" rIns="0" bIns="0" rtlCol="0" anchor="ctr"/>
          <a:lstStyle/>
          <a:p>
            <a:pPr>
              <a:lnSpc>
                <a:spcPct val="110000"/>
              </a:lnSpc>
            </a:pPr>
            <a:r>
              <a:rPr lang="en-US" sz="810" dirty="0">
                <a:latin typeface="微软雅黑" panose="020B0503020204020204" pitchFamily="34" charset="-122"/>
                <a:ea typeface="微软雅黑" panose="020B0503020204020204" pitchFamily="34" charset="-122"/>
                <a:cs typeface="MiSans" pitchFamily="34" charset="-120"/>
              </a:rPr>
              <a:t>保管费+登记服务费</a:t>
            </a:r>
          </a:p>
        </p:txBody>
      </p:sp>
      <p:sp>
        <p:nvSpPr>
          <p:cNvPr id="55" name="Text 53"/>
          <p:cNvSpPr/>
          <p:nvPr/>
        </p:nvSpPr>
        <p:spPr>
          <a:xfrm>
            <a:off x="2800985" y="4460240"/>
            <a:ext cx="501650" cy="138601"/>
          </a:xfrm>
          <a:prstGeom prst="rect">
            <a:avLst/>
          </a:prstGeom>
          <a:noFill/>
        </p:spPr>
        <p:txBody>
          <a:bodyPr wrap="square" lIns="0" tIns="0" rIns="0" bIns="0" rtlCol="0" anchor="ctr"/>
          <a:lstStyle/>
          <a:p>
            <a:pPr>
              <a:lnSpc>
                <a:spcPct val="110000"/>
              </a:lnSpc>
            </a:pPr>
            <a:r>
              <a:rPr lang="en-US" sz="810" b="1" dirty="0">
                <a:solidFill>
                  <a:srgbClr val="1F2937"/>
                </a:solidFill>
                <a:latin typeface="微软雅黑" panose="020B0503020204020204" pitchFamily="34" charset="-122"/>
                <a:ea typeface="微软雅黑" panose="020B0503020204020204" pitchFamily="34" charset="-122"/>
                <a:cs typeface="MiSans" pitchFamily="34" charset="-120"/>
              </a:rPr>
              <a:t>0.02%/年</a:t>
            </a:r>
          </a:p>
        </p:txBody>
      </p:sp>
      <p:sp>
        <p:nvSpPr>
          <p:cNvPr id="56" name="Shape 54"/>
          <p:cNvSpPr/>
          <p:nvPr/>
        </p:nvSpPr>
        <p:spPr>
          <a:xfrm>
            <a:off x="3473699" y="3459313"/>
            <a:ext cx="3166467" cy="1226939"/>
          </a:xfrm>
          <a:custGeom>
            <a:avLst/>
            <a:gdLst/>
            <a:ahLst/>
            <a:cxnLst/>
            <a:rect l="l" t="t" r="r" b="b"/>
            <a:pathLst>
              <a:path w="5629275" h="2181225">
                <a:moveTo>
                  <a:pt x="114296" y="0"/>
                </a:moveTo>
                <a:lnTo>
                  <a:pt x="5514979" y="0"/>
                </a:lnTo>
                <a:cubicBezTo>
                  <a:pt x="5578103" y="0"/>
                  <a:pt x="5629275" y="51172"/>
                  <a:pt x="5629275" y="114296"/>
                </a:cubicBezTo>
                <a:lnTo>
                  <a:pt x="5629275" y="2066929"/>
                </a:lnTo>
                <a:cubicBezTo>
                  <a:pt x="5629275" y="2130053"/>
                  <a:pt x="5578103" y="2181225"/>
                  <a:pt x="5514979" y="2181225"/>
                </a:cubicBezTo>
                <a:lnTo>
                  <a:pt x="114296" y="2181225"/>
                </a:lnTo>
                <a:cubicBezTo>
                  <a:pt x="51172" y="2181225"/>
                  <a:pt x="0" y="2130053"/>
                  <a:pt x="0" y="2066929"/>
                </a:cubicBezTo>
                <a:lnTo>
                  <a:pt x="0" y="114296"/>
                </a:lnTo>
                <a:cubicBezTo>
                  <a:pt x="0" y="51214"/>
                  <a:pt x="51214" y="0"/>
                  <a:pt x="114296" y="0"/>
                </a:cubicBezTo>
                <a:close/>
              </a:path>
            </a:pathLst>
          </a:custGeom>
          <a:solidFill>
            <a:srgbClr val="FFFFFF"/>
          </a:solidFill>
          <a:ln w="12700">
            <a:solidFill>
              <a:schemeClr val="bg1">
                <a:lumMod val="85000"/>
              </a:schemeClr>
            </a:solidFill>
            <a:prstDash val="solid"/>
          </a:ln>
        </p:spPr>
      </p:sp>
      <p:sp>
        <p:nvSpPr>
          <p:cNvPr id="57" name="Shape 55"/>
          <p:cNvSpPr/>
          <p:nvPr/>
        </p:nvSpPr>
        <p:spPr>
          <a:xfrm>
            <a:off x="3583534" y="3786134"/>
            <a:ext cx="2946797" cy="5358"/>
          </a:xfrm>
          <a:custGeom>
            <a:avLst/>
            <a:gdLst/>
            <a:ahLst/>
            <a:cxnLst/>
            <a:rect l="l" t="t" r="r" b="b"/>
            <a:pathLst>
              <a:path w="5238750" h="9525">
                <a:moveTo>
                  <a:pt x="0" y="0"/>
                </a:moveTo>
                <a:lnTo>
                  <a:pt x="5238750" y="0"/>
                </a:lnTo>
                <a:lnTo>
                  <a:pt x="5238750" y="9525"/>
                </a:lnTo>
                <a:lnTo>
                  <a:pt x="0" y="9525"/>
                </a:lnTo>
                <a:lnTo>
                  <a:pt x="0" y="0"/>
                </a:lnTo>
                <a:close/>
              </a:path>
            </a:pathLst>
          </a:custGeom>
          <a:solidFill>
            <a:schemeClr val="bg1">
              <a:lumMod val="85000"/>
            </a:schemeClr>
          </a:solidFill>
        </p:spPr>
      </p:sp>
      <p:sp>
        <p:nvSpPr>
          <p:cNvPr id="58" name="Text 56"/>
          <p:cNvSpPr/>
          <p:nvPr/>
        </p:nvSpPr>
        <p:spPr>
          <a:xfrm>
            <a:off x="3583529" y="3569148"/>
            <a:ext cx="171450" cy="150019"/>
          </a:xfrm>
          <a:prstGeom prst="rect">
            <a:avLst/>
          </a:prstGeom>
          <a:noFill/>
        </p:spPr>
        <p:txBody>
          <a:bodyPr wrap="square" lIns="0" tIns="0" rIns="0" bIns="0" rtlCol="0" anchor="ctr"/>
          <a:lstStyle/>
          <a:p>
            <a:pPr>
              <a:lnSpc>
                <a:spcPct val="130000"/>
              </a:lnSpc>
            </a:pPr>
            <a:r>
              <a:rPr lang="en-US" sz="1060" dirty="0">
                <a:solidFill>
                  <a:srgbClr val="1F2937"/>
                </a:solidFill>
                <a:latin typeface="微软雅黑" panose="020B0503020204020204" pitchFamily="34" charset="-122"/>
                <a:ea typeface="微软雅黑" panose="020B0503020204020204" pitchFamily="34" charset="-122"/>
                <a:cs typeface="MiSans" pitchFamily="34" charset="-120"/>
              </a:rPr>
              <a:t>📈</a:t>
            </a:r>
          </a:p>
        </p:txBody>
      </p:sp>
      <p:sp>
        <p:nvSpPr>
          <p:cNvPr id="59" name="Text 57"/>
          <p:cNvSpPr/>
          <p:nvPr/>
        </p:nvSpPr>
        <p:spPr>
          <a:xfrm>
            <a:off x="3752215" y="3590290"/>
            <a:ext cx="602615" cy="107315"/>
          </a:xfrm>
          <a:prstGeom prst="rect">
            <a:avLst/>
          </a:prstGeom>
          <a:noFill/>
        </p:spPr>
        <p:txBody>
          <a:bodyPr wrap="square" lIns="0" tIns="0" rIns="0" bIns="0" rtlCol="0" anchor="ctr"/>
          <a:lstStyle/>
          <a:p>
            <a:pPr>
              <a:lnSpc>
                <a:spcPct val="120000"/>
              </a:lnSpc>
            </a:pPr>
            <a:r>
              <a:rPr lang="en-US" sz="890" b="1" dirty="0">
                <a:solidFill>
                  <a:srgbClr val="1F2937"/>
                </a:solidFill>
                <a:latin typeface="微软雅黑" panose="020B0503020204020204" pitchFamily="34" charset="-122"/>
                <a:ea typeface="微软雅黑" panose="020B0503020204020204" pitchFamily="34" charset="-122"/>
                <a:cs typeface="MiSans" pitchFamily="34" charset="-120"/>
              </a:rPr>
              <a:t>浮动管理费</a:t>
            </a:r>
          </a:p>
        </p:txBody>
      </p:sp>
      <p:sp>
        <p:nvSpPr>
          <p:cNvPr id="60" name="Text 58"/>
          <p:cNvSpPr/>
          <p:nvPr/>
        </p:nvSpPr>
        <p:spPr>
          <a:xfrm>
            <a:off x="3567455" y="3832677"/>
            <a:ext cx="2978944" cy="196054"/>
          </a:xfrm>
          <a:prstGeom prst="rect">
            <a:avLst/>
          </a:prstGeom>
          <a:noFill/>
        </p:spPr>
        <p:txBody>
          <a:bodyPr wrap="square" lIns="0" tIns="0" rIns="0" bIns="0" rtlCol="0" anchor="ctr"/>
          <a:lstStyle/>
          <a:p>
            <a:pPr algn="ctr">
              <a:lnSpc>
                <a:spcPct val="110000"/>
              </a:lnSpc>
            </a:pPr>
            <a:r>
              <a:rPr lang="en-US" sz="810" dirty="0">
                <a:solidFill>
                  <a:srgbClr val="6B7280"/>
                </a:solidFill>
                <a:latin typeface="微软雅黑" panose="020B0503020204020204" pitchFamily="34" charset="-122"/>
                <a:ea typeface="微软雅黑" panose="020B0503020204020204" pitchFamily="34" charset="-122"/>
                <a:cs typeface="MiSans" pitchFamily="34" charset="-120"/>
              </a:rPr>
              <a:t>逐笔计提，浮动管理费计提基准</a:t>
            </a:r>
          </a:p>
        </p:txBody>
      </p:sp>
      <p:sp>
        <p:nvSpPr>
          <p:cNvPr id="61" name="Text 59"/>
          <p:cNvSpPr/>
          <p:nvPr/>
        </p:nvSpPr>
        <p:spPr>
          <a:xfrm>
            <a:off x="3543346" y="4067424"/>
            <a:ext cx="3027164" cy="336349"/>
          </a:xfrm>
          <a:prstGeom prst="rect">
            <a:avLst/>
          </a:prstGeom>
          <a:noFill/>
        </p:spPr>
        <p:txBody>
          <a:bodyPr wrap="square" lIns="0" tIns="0" rIns="0" bIns="0" rtlCol="0" anchor="ctr"/>
          <a:lstStyle/>
          <a:p>
            <a:pPr algn="ctr">
              <a:lnSpc>
                <a:spcPct val="100000"/>
              </a:lnSpc>
            </a:pPr>
            <a:r>
              <a:rPr lang="en-US" b="1" dirty="0">
                <a:solidFill>
                  <a:srgbClr val="C9A227"/>
                </a:solidFill>
                <a:latin typeface="微软雅黑" panose="020B0503020204020204" pitchFamily="34" charset="-122"/>
                <a:ea typeface="微软雅黑" panose="020B0503020204020204" pitchFamily="34" charset="-122"/>
                <a:cs typeface="MiSans" pitchFamily="34" charset="-120"/>
              </a:rPr>
              <a:t>2.40%</a:t>
            </a:r>
          </a:p>
        </p:txBody>
      </p:sp>
      <p:sp>
        <p:nvSpPr>
          <p:cNvPr id="62" name="Text 60"/>
          <p:cNvSpPr/>
          <p:nvPr/>
        </p:nvSpPr>
        <p:spPr>
          <a:xfrm>
            <a:off x="3567455" y="4386982"/>
            <a:ext cx="2978944" cy="251293"/>
          </a:xfrm>
          <a:prstGeom prst="rect">
            <a:avLst/>
          </a:prstGeom>
          <a:noFill/>
        </p:spPr>
        <p:txBody>
          <a:bodyPr wrap="square" lIns="0" tIns="0" rIns="0" bIns="0" rtlCol="0" anchor="ctr"/>
          <a:lstStyle/>
          <a:p>
            <a:pPr algn="ctr">
              <a:lnSpc>
                <a:spcPct val="110000"/>
              </a:lnSpc>
            </a:pPr>
            <a:r>
              <a:rPr lang="en-US" sz="810" dirty="0">
                <a:solidFill>
                  <a:srgbClr val="6B7280"/>
                </a:solidFill>
                <a:latin typeface="微软雅黑" panose="020B0503020204020204" pitchFamily="34" charset="-122"/>
                <a:ea typeface="微软雅黑" panose="020B0503020204020204" pitchFamily="34" charset="-122"/>
                <a:cs typeface="MiSans" pitchFamily="34" charset="-120"/>
              </a:rPr>
              <a:t>以上部分收取 </a:t>
            </a:r>
            <a:r>
              <a:rPr lang="en-US" sz="810" b="1" dirty="0">
                <a:solidFill>
                  <a:srgbClr val="1E3A5F"/>
                </a:solidFill>
                <a:latin typeface="微软雅黑" panose="020B0503020204020204" pitchFamily="34" charset="-122"/>
                <a:ea typeface="微软雅黑" panose="020B0503020204020204" pitchFamily="34" charset="-122"/>
                <a:cs typeface="MiSans" pitchFamily="34" charset="-120"/>
              </a:rPr>
              <a:t>60%</a:t>
            </a:r>
            <a:r>
              <a:rPr lang="en-US" sz="810" dirty="0">
                <a:solidFill>
                  <a:srgbClr val="6B7280"/>
                </a:solidFill>
                <a:latin typeface="微软雅黑" panose="020B0503020204020204" pitchFamily="34" charset="-122"/>
                <a:ea typeface="微软雅黑" panose="020B0503020204020204" pitchFamily="34" charset="-122"/>
                <a:cs typeface="MiSans" pitchFamily="34" charset="-120"/>
              </a:rPr>
              <a:t>，在赎回/清算时提取</a:t>
            </a:r>
          </a:p>
        </p:txBody>
      </p:sp>
      <p:sp>
        <p:nvSpPr>
          <p:cNvPr id="63" name="Shape 61"/>
          <p:cNvSpPr/>
          <p:nvPr/>
        </p:nvSpPr>
        <p:spPr>
          <a:xfrm>
            <a:off x="-8675" y="4879416"/>
            <a:ext cx="6867309" cy="4168378"/>
          </a:xfrm>
          <a:custGeom>
            <a:avLst/>
            <a:gdLst/>
            <a:ahLst/>
            <a:cxnLst/>
            <a:rect l="l" t="t" r="r" b="b"/>
            <a:pathLst>
              <a:path w="12192000" h="7410450">
                <a:moveTo>
                  <a:pt x="0" y="0"/>
                </a:moveTo>
                <a:lnTo>
                  <a:pt x="12192000" y="0"/>
                </a:lnTo>
                <a:lnTo>
                  <a:pt x="12192000" y="7410450"/>
                </a:lnTo>
                <a:lnTo>
                  <a:pt x="0" y="7410450"/>
                </a:lnTo>
                <a:lnTo>
                  <a:pt x="0" y="0"/>
                </a:lnTo>
                <a:close/>
              </a:path>
            </a:pathLst>
          </a:custGeom>
          <a:solidFill>
            <a:schemeClr val="accent3">
              <a:lumMod val="20000"/>
              <a:lumOff val="80000"/>
            </a:schemeClr>
          </a:solidFill>
          <a:ln>
            <a:noFill/>
          </a:ln>
        </p:spPr>
      </p:sp>
      <p:sp>
        <p:nvSpPr>
          <p:cNvPr id="64" name="Text 62"/>
          <p:cNvSpPr/>
          <p:nvPr/>
        </p:nvSpPr>
        <p:spPr>
          <a:xfrm>
            <a:off x="213464" y="5013730"/>
            <a:ext cx="6461522" cy="96441"/>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Performance &amp; Honors</a:t>
            </a:r>
          </a:p>
        </p:txBody>
      </p:sp>
      <p:sp>
        <p:nvSpPr>
          <p:cNvPr id="65" name="Text 63"/>
          <p:cNvSpPr/>
          <p:nvPr/>
        </p:nvSpPr>
        <p:spPr>
          <a:xfrm>
            <a:off x="213469" y="5142317"/>
            <a:ext cx="6493669" cy="246459"/>
          </a:xfrm>
          <a:prstGeom prst="rect">
            <a:avLst/>
          </a:prstGeom>
          <a:noFill/>
        </p:spPr>
        <p:txBody>
          <a:bodyPr wrap="square" lIns="0" tIns="0" rIns="0" bIns="53578" rtlCol="0" anchor="ctr"/>
          <a:lstStyle/>
          <a:p>
            <a:pPr algn="ctr">
              <a:lnSpc>
                <a:spcPct val="130000"/>
              </a:lnSpc>
            </a:pPr>
            <a:r>
              <a:rPr lang="en-US" sz="1200" b="1" dirty="0" err="1">
                <a:solidFill>
                  <a:srgbClr val="1E3A5F"/>
                </a:solidFill>
                <a:latin typeface="MiSans" pitchFamily="34" charset="-122"/>
                <a:ea typeface="MiSans" pitchFamily="34" charset="-122"/>
                <a:cs typeface="MiSans" pitchFamily="34" charset="-120"/>
              </a:rPr>
              <a:t>业绩表现与荣誉</a:t>
            </a:r>
          </a:p>
        </p:txBody>
      </p:sp>
      <p:sp>
        <p:nvSpPr>
          <p:cNvPr id="66" name="Shape 64"/>
          <p:cNvSpPr/>
          <p:nvPr/>
        </p:nvSpPr>
        <p:spPr>
          <a:xfrm>
            <a:off x="213470" y="5418304"/>
            <a:ext cx="2084189" cy="1103709"/>
          </a:xfrm>
          <a:custGeom>
            <a:avLst/>
            <a:gdLst/>
            <a:ahLst/>
            <a:cxnLst/>
            <a:rect l="l" t="t" r="r" b="b"/>
            <a:pathLst>
              <a:path w="3705225" h="1962150">
                <a:moveTo>
                  <a:pt x="114295" y="0"/>
                </a:moveTo>
                <a:lnTo>
                  <a:pt x="3590930" y="0"/>
                </a:lnTo>
                <a:cubicBezTo>
                  <a:pt x="3654053" y="0"/>
                  <a:pt x="3705225" y="51172"/>
                  <a:pt x="3705225" y="114295"/>
                </a:cubicBezTo>
                <a:lnTo>
                  <a:pt x="3705225" y="1847855"/>
                </a:lnTo>
                <a:cubicBezTo>
                  <a:pt x="3705225" y="1910978"/>
                  <a:pt x="3654053" y="1962150"/>
                  <a:pt x="3590930" y="1962150"/>
                </a:cubicBezTo>
                <a:lnTo>
                  <a:pt x="114295" y="1962150"/>
                </a:lnTo>
                <a:cubicBezTo>
                  <a:pt x="51172" y="1962150"/>
                  <a:pt x="0" y="1910978"/>
                  <a:pt x="0" y="1847855"/>
                </a:cubicBezTo>
                <a:lnTo>
                  <a:pt x="0" y="114295"/>
                </a:lnTo>
                <a:cubicBezTo>
                  <a:pt x="0" y="51172"/>
                  <a:pt x="51172" y="0"/>
                  <a:pt x="114295" y="0"/>
                </a:cubicBezTo>
                <a:close/>
              </a:path>
            </a:pathLst>
          </a:custGeom>
          <a:solidFill>
            <a:srgbClr val="1E3A5F"/>
          </a:solidFill>
        </p:spPr>
      </p:sp>
      <p:sp>
        <p:nvSpPr>
          <p:cNvPr id="68" name="Text 66"/>
          <p:cNvSpPr/>
          <p:nvPr/>
        </p:nvSpPr>
        <p:spPr>
          <a:xfrm>
            <a:off x="342057" y="5546887"/>
            <a:ext cx="1864519" cy="107156"/>
          </a:xfrm>
          <a:prstGeom prst="rect">
            <a:avLst/>
          </a:prstGeom>
          <a:noFill/>
        </p:spPr>
        <p:txBody>
          <a:bodyPr wrap="square" lIns="0" tIns="0" rIns="0" bIns="0" rtlCol="0" anchor="ctr"/>
          <a:lstStyle/>
          <a:p>
            <a:pPr>
              <a:lnSpc>
                <a:spcPct val="120000"/>
              </a:lnSpc>
            </a:pPr>
            <a:r>
              <a:rPr lang="en-US" sz="690" dirty="0">
                <a:solidFill>
                  <a:srgbClr val="FFFFFF">
                    <a:alpha val="90000"/>
                  </a:srgbClr>
                </a:solidFill>
                <a:latin typeface="MiSans" pitchFamily="34" charset="-122"/>
                <a:ea typeface="MiSans" pitchFamily="34" charset="-122"/>
                <a:cs typeface="MiSans" pitchFamily="34" charset="-120"/>
              </a:rPr>
              <a:t>成立以来年化收益</a:t>
            </a:r>
          </a:p>
        </p:txBody>
      </p:sp>
      <p:sp>
        <p:nvSpPr>
          <p:cNvPr id="69" name="Text 67"/>
          <p:cNvSpPr/>
          <p:nvPr/>
        </p:nvSpPr>
        <p:spPr>
          <a:xfrm>
            <a:off x="334017" y="5771841"/>
            <a:ext cx="1835050" cy="262533"/>
          </a:xfrm>
          <a:prstGeom prst="rect">
            <a:avLst/>
          </a:prstGeom>
          <a:noFill/>
        </p:spPr>
        <p:txBody>
          <a:bodyPr wrap="square" lIns="0" tIns="0" rIns="0" bIns="0" rtlCol="0" anchor="ctr"/>
          <a:lstStyle/>
          <a:p>
            <a:pPr>
              <a:lnSpc>
                <a:spcPct val="80000"/>
              </a:lnSpc>
            </a:pPr>
            <a:r>
              <a:rPr lang="en-US" sz="2000" b="1" dirty="0">
                <a:solidFill>
                  <a:srgbClr val="C9A227"/>
                </a:solidFill>
                <a:latin typeface="MiSans" pitchFamily="34" charset="-122"/>
                <a:ea typeface="MiSans" pitchFamily="34" charset="-122"/>
                <a:cs typeface="MiSans" pitchFamily="34" charset="-120"/>
              </a:rPr>
              <a:t>5.28</a:t>
            </a:r>
            <a:r>
              <a:rPr lang="en-US" sz="950" b="1" dirty="0">
                <a:solidFill>
                  <a:srgbClr val="C9A227"/>
                </a:solidFill>
                <a:latin typeface="MiSans" pitchFamily="34" charset="-122"/>
                <a:ea typeface="MiSans" pitchFamily="34" charset="-122"/>
                <a:cs typeface="MiSans" pitchFamily="34" charset="-120"/>
              </a:rPr>
              <a:t>%</a:t>
            </a:r>
          </a:p>
        </p:txBody>
      </p:sp>
      <p:sp>
        <p:nvSpPr>
          <p:cNvPr id="70" name="Shape 68"/>
          <p:cNvSpPr/>
          <p:nvPr/>
        </p:nvSpPr>
        <p:spPr>
          <a:xfrm>
            <a:off x="342052" y="6047842"/>
            <a:ext cx="1827014" cy="5358"/>
          </a:xfrm>
          <a:custGeom>
            <a:avLst/>
            <a:gdLst/>
            <a:ahLst/>
            <a:cxnLst/>
            <a:rect l="l" t="t" r="r" b="b"/>
            <a:pathLst>
              <a:path w="3248025" h="9525">
                <a:moveTo>
                  <a:pt x="0" y="0"/>
                </a:moveTo>
                <a:lnTo>
                  <a:pt x="3248025" y="0"/>
                </a:lnTo>
                <a:lnTo>
                  <a:pt x="3248025" y="9525"/>
                </a:lnTo>
                <a:lnTo>
                  <a:pt x="0" y="9525"/>
                </a:lnTo>
                <a:lnTo>
                  <a:pt x="0" y="0"/>
                </a:lnTo>
                <a:close/>
              </a:path>
            </a:pathLst>
          </a:custGeom>
          <a:solidFill>
            <a:srgbClr val="FFFFFF"/>
          </a:solidFill>
        </p:spPr>
      </p:sp>
      <p:sp>
        <p:nvSpPr>
          <p:cNvPr id="71" name="Text 69"/>
          <p:cNvSpPr/>
          <p:nvPr/>
        </p:nvSpPr>
        <p:spPr>
          <a:xfrm>
            <a:off x="325984" y="6136251"/>
            <a:ext cx="600075" cy="85725"/>
          </a:xfrm>
          <a:prstGeom prst="rect">
            <a:avLst/>
          </a:prstGeom>
          <a:noFill/>
        </p:spPr>
        <p:txBody>
          <a:bodyPr wrap="square" lIns="0" tIns="0" rIns="0" bIns="0" rtlCol="0" anchor="ctr"/>
          <a:lstStyle/>
          <a:p>
            <a:pPr algn="ctr">
              <a:lnSpc>
                <a:spcPct val="110000"/>
              </a:lnSpc>
            </a:pPr>
            <a:r>
              <a:rPr lang="en-US" sz="610" dirty="0">
                <a:solidFill>
                  <a:srgbClr val="FFFFFF">
                    <a:alpha val="70000"/>
                  </a:srgbClr>
                </a:solidFill>
                <a:latin typeface="MiSans" pitchFamily="34" charset="-122"/>
                <a:ea typeface="MiSans" pitchFamily="34" charset="-122"/>
                <a:cs typeface="MiSans" pitchFamily="34" charset="-120"/>
              </a:rPr>
              <a:t>单位净值</a:t>
            </a:r>
          </a:p>
        </p:txBody>
      </p:sp>
      <p:sp>
        <p:nvSpPr>
          <p:cNvPr id="72" name="Text 70"/>
          <p:cNvSpPr/>
          <p:nvPr/>
        </p:nvSpPr>
        <p:spPr>
          <a:xfrm>
            <a:off x="317943" y="6243407"/>
            <a:ext cx="616148" cy="150019"/>
          </a:xfrm>
          <a:prstGeom prst="rect">
            <a:avLst/>
          </a:prstGeom>
          <a:noFill/>
        </p:spPr>
        <p:txBody>
          <a:bodyPr wrap="square" lIns="0" tIns="0" rIns="0" bIns="0" rtlCol="0" anchor="ctr"/>
          <a:lstStyle/>
          <a:p>
            <a:pPr algn="ctr">
              <a:lnSpc>
                <a:spcPct val="130000"/>
              </a:lnSpc>
            </a:pPr>
            <a:r>
              <a:rPr lang="en-US" sz="860" b="1" dirty="0">
                <a:solidFill>
                  <a:srgbClr val="C9A227"/>
                </a:solidFill>
                <a:latin typeface="MiSans" pitchFamily="34" charset="-122"/>
                <a:ea typeface="MiSans" pitchFamily="34" charset="-122"/>
                <a:cs typeface="MiSans" pitchFamily="34" charset="-120"/>
              </a:rPr>
              <a:t>1.1782</a:t>
            </a:r>
          </a:p>
        </p:txBody>
      </p:sp>
      <p:sp>
        <p:nvSpPr>
          <p:cNvPr id="73" name="Text 71"/>
          <p:cNvSpPr/>
          <p:nvPr/>
        </p:nvSpPr>
        <p:spPr>
          <a:xfrm>
            <a:off x="956950" y="6136251"/>
            <a:ext cx="600075" cy="85725"/>
          </a:xfrm>
          <a:prstGeom prst="rect">
            <a:avLst/>
          </a:prstGeom>
          <a:noFill/>
        </p:spPr>
        <p:txBody>
          <a:bodyPr wrap="square" lIns="0" tIns="0" rIns="0" bIns="0" rtlCol="0" anchor="ctr"/>
          <a:lstStyle/>
          <a:p>
            <a:pPr algn="ctr">
              <a:lnSpc>
                <a:spcPct val="110000"/>
              </a:lnSpc>
            </a:pPr>
            <a:r>
              <a:rPr lang="en-US" sz="610" dirty="0">
                <a:solidFill>
                  <a:srgbClr val="FFFFFF">
                    <a:alpha val="70000"/>
                  </a:srgbClr>
                </a:solidFill>
                <a:latin typeface="MiSans" pitchFamily="34" charset="-122"/>
                <a:ea typeface="MiSans" pitchFamily="34" charset="-122"/>
                <a:cs typeface="MiSans" pitchFamily="34" charset="-120"/>
              </a:rPr>
              <a:t>成立日期</a:t>
            </a:r>
          </a:p>
        </p:txBody>
      </p:sp>
      <p:sp>
        <p:nvSpPr>
          <p:cNvPr id="74" name="Text 72"/>
          <p:cNvSpPr/>
          <p:nvPr/>
        </p:nvSpPr>
        <p:spPr>
          <a:xfrm>
            <a:off x="948908" y="6243407"/>
            <a:ext cx="616148" cy="150019"/>
          </a:xfrm>
          <a:prstGeom prst="rect">
            <a:avLst/>
          </a:prstGeom>
          <a:noFill/>
        </p:spPr>
        <p:txBody>
          <a:bodyPr wrap="square" lIns="0" tIns="0" rIns="0" bIns="0" rtlCol="0" anchor="ctr"/>
          <a:lstStyle/>
          <a:p>
            <a:pPr algn="ctr">
              <a:lnSpc>
                <a:spcPct val="130000"/>
              </a:lnSpc>
            </a:pPr>
            <a:r>
              <a:rPr lang="en-US" sz="860" b="1" dirty="0">
                <a:solidFill>
                  <a:srgbClr val="FFFFFF"/>
                </a:solidFill>
                <a:latin typeface="MiSans" pitchFamily="34" charset="-122"/>
                <a:ea typeface="MiSans" pitchFamily="34" charset="-122"/>
                <a:cs typeface="MiSans" pitchFamily="34" charset="-120"/>
              </a:rPr>
              <a:t>2022.8.9</a:t>
            </a:r>
          </a:p>
        </p:txBody>
      </p:sp>
      <p:sp>
        <p:nvSpPr>
          <p:cNvPr id="75" name="Text 73"/>
          <p:cNvSpPr/>
          <p:nvPr/>
        </p:nvSpPr>
        <p:spPr>
          <a:xfrm>
            <a:off x="1588000" y="6136251"/>
            <a:ext cx="600075" cy="85725"/>
          </a:xfrm>
          <a:prstGeom prst="rect">
            <a:avLst/>
          </a:prstGeom>
          <a:noFill/>
        </p:spPr>
        <p:txBody>
          <a:bodyPr wrap="square" lIns="0" tIns="0" rIns="0" bIns="0" rtlCol="0" anchor="ctr"/>
          <a:lstStyle/>
          <a:p>
            <a:pPr algn="ctr">
              <a:lnSpc>
                <a:spcPct val="110000"/>
              </a:lnSpc>
            </a:pPr>
            <a:r>
              <a:rPr lang="en-US" sz="610" dirty="0">
                <a:solidFill>
                  <a:srgbClr val="FFFFFF">
                    <a:alpha val="70000"/>
                  </a:srgbClr>
                </a:solidFill>
                <a:latin typeface="MiSans" pitchFamily="34" charset="-122"/>
                <a:ea typeface="MiSans" pitchFamily="34" charset="-122"/>
                <a:cs typeface="MiSans" pitchFamily="34" charset="-120"/>
              </a:rPr>
              <a:t>运作天数</a:t>
            </a:r>
          </a:p>
        </p:txBody>
      </p:sp>
      <p:sp>
        <p:nvSpPr>
          <p:cNvPr id="76" name="Text 74"/>
          <p:cNvSpPr/>
          <p:nvPr/>
        </p:nvSpPr>
        <p:spPr>
          <a:xfrm>
            <a:off x="1579958" y="6243407"/>
            <a:ext cx="616148" cy="150019"/>
          </a:xfrm>
          <a:prstGeom prst="rect">
            <a:avLst/>
          </a:prstGeom>
          <a:noFill/>
        </p:spPr>
        <p:txBody>
          <a:bodyPr wrap="square" lIns="0" tIns="0" rIns="0" bIns="0" rtlCol="0" anchor="ctr"/>
          <a:lstStyle/>
          <a:p>
            <a:pPr algn="ctr">
              <a:lnSpc>
                <a:spcPct val="130000"/>
              </a:lnSpc>
            </a:pPr>
            <a:r>
              <a:rPr lang="en-US" sz="860" b="1" dirty="0">
                <a:solidFill>
                  <a:srgbClr val="FFFFFF"/>
                </a:solidFill>
                <a:latin typeface="MiSans" pitchFamily="34" charset="-122"/>
                <a:ea typeface="MiSans" pitchFamily="34" charset="-122"/>
                <a:cs typeface="MiSans" pitchFamily="34" charset="-120"/>
              </a:rPr>
              <a:t>1,254天</a:t>
            </a:r>
          </a:p>
        </p:txBody>
      </p:sp>
      <p:sp>
        <p:nvSpPr>
          <p:cNvPr id="77" name="Shape 75"/>
          <p:cNvSpPr/>
          <p:nvPr/>
        </p:nvSpPr>
        <p:spPr>
          <a:xfrm>
            <a:off x="2387821" y="5418438"/>
            <a:ext cx="2078831" cy="1098352"/>
          </a:xfrm>
          <a:custGeom>
            <a:avLst/>
            <a:gdLst/>
            <a:ahLst/>
            <a:cxnLst/>
            <a:rect l="l" t="t" r="r" b="b"/>
            <a:pathLst>
              <a:path w="3695700" h="1952625">
                <a:moveTo>
                  <a:pt x="114307" y="0"/>
                </a:moveTo>
                <a:lnTo>
                  <a:pt x="3581393" y="0"/>
                </a:lnTo>
                <a:cubicBezTo>
                  <a:pt x="3644523" y="0"/>
                  <a:pt x="3695700" y="51177"/>
                  <a:pt x="3695700" y="114307"/>
                </a:cubicBezTo>
                <a:lnTo>
                  <a:pt x="3695700" y="1838318"/>
                </a:lnTo>
                <a:cubicBezTo>
                  <a:pt x="3695700" y="1901448"/>
                  <a:pt x="3644523" y="1952625"/>
                  <a:pt x="3581393" y="1952625"/>
                </a:cubicBezTo>
                <a:lnTo>
                  <a:pt x="114307" y="1952625"/>
                </a:lnTo>
                <a:cubicBezTo>
                  <a:pt x="51177" y="1952625"/>
                  <a:pt x="0" y="1901448"/>
                  <a:pt x="0" y="1838318"/>
                </a:cubicBezTo>
                <a:lnTo>
                  <a:pt x="0" y="114307"/>
                </a:lnTo>
                <a:cubicBezTo>
                  <a:pt x="0" y="51219"/>
                  <a:pt x="51219" y="0"/>
                  <a:pt x="114307" y="0"/>
                </a:cubicBezTo>
                <a:close/>
              </a:path>
            </a:pathLst>
          </a:custGeom>
          <a:solidFill>
            <a:srgbClr val="FFFFFF"/>
          </a:solidFill>
          <a:ln w="12700">
            <a:solidFill>
              <a:schemeClr val="bg1">
                <a:lumMod val="95000"/>
              </a:schemeClr>
            </a:solidFill>
            <a:prstDash val="solid"/>
          </a:ln>
        </p:spPr>
      </p:sp>
      <p:sp>
        <p:nvSpPr>
          <p:cNvPr id="78" name="Shape 76"/>
          <p:cNvSpPr/>
          <p:nvPr/>
        </p:nvSpPr>
        <p:spPr>
          <a:xfrm>
            <a:off x="3299486" y="5584397"/>
            <a:ext cx="257175" cy="257175"/>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9A227">
              <a:alpha val="10196"/>
            </a:srgbClr>
          </a:solidFill>
        </p:spPr>
      </p:sp>
      <p:sp>
        <p:nvSpPr>
          <p:cNvPr id="79" name="Text 77"/>
          <p:cNvSpPr/>
          <p:nvPr/>
        </p:nvSpPr>
        <p:spPr>
          <a:xfrm>
            <a:off x="3267339" y="5584397"/>
            <a:ext cx="321469" cy="257175"/>
          </a:xfrm>
          <a:prstGeom prst="rect">
            <a:avLst/>
          </a:prstGeom>
          <a:noFill/>
        </p:spPr>
        <p:txBody>
          <a:bodyPr wrap="square" lIns="0" tIns="0" rIns="0" bIns="0" rtlCol="0" anchor="ctr"/>
          <a:lstStyle/>
          <a:p>
            <a:pPr algn="ctr">
              <a:lnSpc>
                <a:spcPct val="110000"/>
              </a:lnSpc>
            </a:pPr>
            <a:r>
              <a:rPr lang="en-US" sz="1400" dirty="0">
                <a:solidFill>
                  <a:srgbClr val="1F2937"/>
                </a:solidFill>
                <a:latin typeface="MiSans" pitchFamily="34" charset="-122"/>
                <a:ea typeface="MiSans" pitchFamily="34" charset="-122"/>
                <a:cs typeface="MiSans" pitchFamily="34" charset="-120"/>
              </a:rPr>
              <a:t>🏆</a:t>
            </a:r>
          </a:p>
        </p:txBody>
      </p:sp>
      <p:sp>
        <p:nvSpPr>
          <p:cNvPr id="80" name="Text 78"/>
          <p:cNvSpPr/>
          <p:nvPr/>
        </p:nvSpPr>
        <p:spPr>
          <a:xfrm>
            <a:off x="3278049" y="5905860"/>
            <a:ext cx="300038" cy="128588"/>
          </a:xfrm>
          <a:prstGeom prst="rect">
            <a:avLst/>
          </a:prstGeom>
          <a:noFill/>
        </p:spPr>
        <p:txBody>
          <a:bodyPr wrap="square" lIns="0" tIns="0" rIns="0" bIns="0" rtlCol="0" anchor="ctr"/>
          <a:lstStyle/>
          <a:p>
            <a:pPr algn="ctr">
              <a:lnSpc>
                <a:spcPct val="130000"/>
              </a:lnSpc>
            </a:pPr>
            <a:r>
              <a:rPr lang="en-US" sz="780" b="1" dirty="0">
                <a:solidFill>
                  <a:srgbClr val="1E3A5F"/>
                </a:solidFill>
                <a:latin typeface="MiSans" pitchFamily="34" charset="-122"/>
                <a:ea typeface="MiSans" pitchFamily="34" charset="-122"/>
                <a:cs typeface="MiSans" pitchFamily="34" charset="-120"/>
              </a:rPr>
              <a:t>金牛奖</a:t>
            </a:r>
          </a:p>
        </p:txBody>
      </p:sp>
      <p:sp>
        <p:nvSpPr>
          <p:cNvPr id="81" name="Text 79"/>
          <p:cNvSpPr/>
          <p:nvPr/>
        </p:nvSpPr>
        <p:spPr>
          <a:xfrm>
            <a:off x="3006725" y="6055995"/>
            <a:ext cx="847725" cy="171450"/>
          </a:xfrm>
          <a:prstGeom prst="rect">
            <a:avLst/>
          </a:prstGeom>
          <a:noFill/>
        </p:spPr>
        <p:txBody>
          <a:bodyPr wrap="square" lIns="0" tIns="0" rIns="0" bIns="0" rtlCol="0" anchor="ctr"/>
          <a:lstStyle/>
          <a:p>
            <a:pPr algn="ctr">
              <a:lnSpc>
                <a:spcPct val="110000"/>
              </a:lnSpc>
            </a:pPr>
            <a:r>
              <a:rPr lang="en-US" sz="710" dirty="0">
                <a:solidFill>
                  <a:srgbClr val="6B7280"/>
                </a:solidFill>
                <a:latin typeface="MiSans" pitchFamily="34" charset="-122"/>
                <a:ea typeface="MiSans" pitchFamily="34" charset="-122"/>
                <a:cs typeface="MiSans" pitchFamily="34" charset="-120"/>
              </a:rPr>
              <a:t>第三届 &amp; 第四届</a:t>
            </a:r>
            <a:endParaRPr lang="en-US" sz="1200" dirty="0"/>
          </a:p>
          <a:p>
            <a:pPr algn="ctr">
              <a:lnSpc>
                <a:spcPct val="110000"/>
              </a:lnSpc>
            </a:pPr>
            <a:r>
              <a:rPr lang="en-US" sz="710" dirty="0">
                <a:solidFill>
                  <a:srgbClr val="6B7280"/>
                </a:solidFill>
                <a:latin typeface="MiSans" pitchFamily="34" charset="-122"/>
                <a:ea typeface="MiSans" pitchFamily="34" charset="-122"/>
                <a:cs typeface="MiSans" pitchFamily="34" charset="-120"/>
              </a:rPr>
              <a:t>2023年 - 2024年</a:t>
            </a:r>
          </a:p>
        </p:txBody>
      </p:sp>
      <p:sp>
        <p:nvSpPr>
          <p:cNvPr id="82" name="Text 80"/>
          <p:cNvSpPr/>
          <p:nvPr/>
        </p:nvSpPr>
        <p:spPr>
          <a:xfrm>
            <a:off x="3002280" y="6269990"/>
            <a:ext cx="803275" cy="105410"/>
          </a:xfrm>
          <a:prstGeom prst="rect">
            <a:avLst/>
          </a:prstGeom>
          <a:noFill/>
        </p:spPr>
        <p:txBody>
          <a:bodyPr wrap="square" lIns="0" tIns="0" rIns="0" bIns="0" rtlCol="0" anchor="ctr"/>
          <a:lstStyle/>
          <a:p>
            <a:pPr algn="ctr">
              <a:lnSpc>
                <a:spcPct val="110000"/>
              </a:lnSpc>
            </a:pPr>
            <a:r>
              <a:rPr lang="en-US" sz="710" b="1" dirty="0">
                <a:solidFill>
                  <a:srgbClr val="C9A227"/>
                </a:solidFill>
                <a:latin typeface="MiSans" pitchFamily="34" charset="-122"/>
                <a:ea typeface="MiSans" pitchFamily="34" charset="-122"/>
                <a:cs typeface="MiSans" pitchFamily="34" charset="-120"/>
              </a:rPr>
              <a:t>连续2年获奖</a:t>
            </a:r>
          </a:p>
        </p:txBody>
      </p:sp>
      <p:sp>
        <p:nvSpPr>
          <p:cNvPr id="83" name="Shape 81"/>
          <p:cNvSpPr/>
          <p:nvPr/>
        </p:nvSpPr>
        <p:spPr>
          <a:xfrm>
            <a:off x="4559493" y="5420978"/>
            <a:ext cx="2078831" cy="1098352"/>
          </a:xfrm>
          <a:custGeom>
            <a:avLst/>
            <a:gdLst/>
            <a:ahLst/>
            <a:cxnLst/>
            <a:rect l="l" t="t" r="r" b="b"/>
            <a:pathLst>
              <a:path w="3695700" h="1952625">
                <a:moveTo>
                  <a:pt x="114307" y="0"/>
                </a:moveTo>
                <a:lnTo>
                  <a:pt x="3581393" y="0"/>
                </a:lnTo>
                <a:cubicBezTo>
                  <a:pt x="3644523" y="0"/>
                  <a:pt x="3695700" y="51177"/>
                  <a:pt x="3695700" y="114307"/>
                </a:cubicBezTo>
                <a:lnTo>
                  <a:pt x="3695700" y="1838318"/>
                </a:lnTo>
                <a:cubicBezTo>
                  <a:pt x="3695700" y="1901448"/>
                  <a:pt x="3644523" y="1952625"/>
                  <a:pt x="3581393" y="1952625"/>
                </a:cubicBezTo>
                <a:lnTo>
                  <a:pt x="114307" y="1952625"/>
                </a:lnTo>
                <a:cubicBezTo>
                  <a:pt x="51177" y="1952625"/>
                  <a:pt x="0" y="1901448"/>
                  <a:pt x="0" y="1838318"/>
                </a:cubicBezTo>
                <a:lnTo>
                  <a:pt x="0" y="114307"/>
                </a:lnTo>
                <a:cubicBezTo>
                  <a:pt x="0" y="51219"/>
                  <a:pt x="51219" y="0"/>
                  <a:pt x="114307" y="0"/>
                </a:cubicBezTo>
                <a:close/>
              </a:path>
            </a:pathLst>
          </a:custGeom>
          <a:solidFill>
            <a:srgbClr val="059669">
              <a:alpha val="5098"/>
            </a:srgbClr>
          </a:solidFill>
          <a:ln w="12700">
            <a:solidFill>
              <a:schemeClr val="accent6">
                <a:lumMod val="75000"/>
              </a:schemeClr>
            </a:solidFill>
            <a:prstDash val="solid"/>
          </a:ln>
        </p:spPr>
      </p:sp>
      <p:sp>
        <p:nvSpPr>
          <p:cNvPr id="84" name="Shape 82"/>
          <p:cNvSpPr/>
          <p:nvPr/>
        </p:nvSpPr>
        <p:spPr>
          <a:xfrm>
            <a:off x="5471241" y="5595112"/>
            <a:ext cx="257175" cy="257175"/>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59669">
              <a:alpha val="10196"/>
            </a:srgbClr>
          </a:solidFill>
        </p:spPr>
      </p:sp>
      <p:sp>
        <p:nvSpPr>
          <p:cNvPr id="85" name="Text 83"/>
          <p:cNvSpPr/>
          <p:nvPr/>
        </p:nvSpPr>
        <p:spPr>
          <a:xfrm>
            <a:off x="5439094" y="5595112"/>
            <a:ext cx="321469" cy="257175"/>
          </a:xfrm>
          <a:prstGeom prst="rect">
            <a:avLst/>
          </a:prstGeom>
          <a:noFill/>
        </p:spPr>
        <p:txBody>
          <a:bodyPr wrap="square" lIns="0" tIns="0" rIns="0" bIns="0" rtlCol="0" anchor="ctr"/>
          <a:lstStyle/>
          <a:p>
            <a:pPr algn="ctr">
              <a:lnSpc>
                <a:spcPct val="110000"/>
              </a:lnSpc>
            </a:pPr>
            <a:r>
              <a:rPr lang="en-US" sz="1400" dirty="0">
                <a:solidFill>
                  <a:srgbClr val="1F2937"/>
                </a:solidFill>
                <a:latin typeface="MiSans" pitchFamily="34" charset="-122"/>
                <a:ea typeface="MiSans" pitchFamily="34" charset="-122"/>
                <a:cs typeface="MiSans" pitchFamily="34" charset="-120"/>
              </a:rPr>
              <a:t>🌍</a:t>
            </a:r>
          </a:p>
        </p:txBody>
      </p:sp>
      <p:sp>
        <p:nvSpPr>
          <p:cNvPr id="86" name="Text 84"/>
          <p:cNvSpPr/>
          <p:nvPr/>
        </p:nvSpPr>
        <p:spPr>
          <a:xfrm>
            <a:off x="5160010" y="5916295"/>
            <a:ext cx="892175" cy="128905"/>
          </a:xfrm>
          <a:prstGeom prst="rect">
            <a:avLst/>
          </a:prstGeom>
          <a:noFill/>
        </p:spPr>
        <p:txBody>
          <a:bodyPr wrap="square" lIns="0" tIns="0" rIns="0" bIns="0" rtlCol="0" anchor="ctr"/>
          <a:lstStyle/>
          <a:p>
            <a:pPr algn="ctr">
              <a:lnSpc>
                <a:spcPct val="130000"/>
              </a:lnSpc>
            </a:pPr>
            <a:r>
              <a:rPr lang="en-US" sz="880" b="1" dirty="0">
                <a:solidFill>
                  <a:srgbClr val="1E3A5F"/>
                </a:solidFill>
                <a:latin typeface="MiSans" pitchFamily="34" charset="-122"/>
                <a:ea typeface="MiSans" pitchFamily="34" charset="-122"/>
                <a:cs typeface="MiSans" pitchFamily="34" charset="-120"/>
              </a:rPr>
              <a:t>海外债产品业绩</a:t>
            </a:r>
          </a:p>
        </p:txBody>
      </p:sp>
      <p:sp>
        <p:nvSpPr>
          <p:cNvPr id="87" name="Text 85"/>
          <p:cNvSpPr/>
          <p:nvPr/>
        </p:nvSpPr>
        <p:spPr>
          <a:xfrm>
            <a:off x="5264785" y="6066790"/>
            <a:ext cx="655955" cy="171450"/>
          </a:xfrm>
          <a:prstGeom prst="rect">
            <a:avLst/>
          </a:prstGeom>
          <a:noFill/>
        </p:spPr>
        <p:txBody>
          <a:bodyPr wrap="square" lIns="0" tIns="0" rIns="0" bIns="0" rtlCol="0" anchor="ctr"/>
          <a:lstStyle/>
          <a:p>
            <a:pPr algn="ctr">
              <a:lnSpc>
                <a:spcPct val="110000"/>
              </a:lnSpc>
            </a:pPr>
            <a:r>
              <a:rPr lang="en-US" sz="1200" b="1" dirty="0">
                <a:solidFill>
                  <a:srgbClr val="059669"/>
                </a:solidFill>
                <a:latin typeface="MiSans" pitchFamily="34" charset="-122"/>
                <a:ea typeface="MiSans" pitchFamily="34" charset="-122"/>
                <a:cs typeface="MiSans" pitchFamily="34" charset="-120"/>
              </a:rPr>
              <a:t>4.96%</a:t>
            </a:r>
          </a:p>
        </p:txBody>
      </p:sp>
      <p:sp>
        <p:nvSpPr>
          <p:cNvPr id="88" name="Text 86"/>
          <p:cNvSpPr/>
          <p:nvPr/>
        </p:nvSpPr>
        <p:spPr>
          <a:xfrm>
            <a:off x="5180330" y="6259195"/>
            <a:ext cx="871855" cy="111125"/>
          </a:xfrm>
          <a:prstGeom prst="rect">
            <a:avLst/>
          </a:prstGeom>
          <a:noFill/>
        </p:spPr>
        <p:txBody>
          <a:bodyPr wrap="square" lIns="0" tIns="0" rIns="0" bIns="0" rtlCol="0" anchor="ctr"/>
          <a:lstStyle/>
          <a:p>
            <a:pPr algn="ctr">
              <a:lnSpc>
                <a:spcPct val="110000"/>
              </a:lnSpc>
            </a:pPr>
            <a:r>
              <a:rPr lang="en-US" sz="610" dirty="0">
                <a:solidFill>
                  <a:srgbClr val="6B7280"/>
                </a:solidFill>
                <a:latin typeface="MiSans" pitchFamily="34" charset="-122"/>
                <a:ea typeface="MiSans" pitchFamily="34" charset="-122"/>
                <a:cs typeface="MiSans" pitchFamily="34" charset="-120"/>
              </a:rPr>
              <a:t>稳鑫A期成立以来年化</a:t>
            </a:r>
          </a:p>
        </p:txBody>
      </p:sp>
      <p:sp>
        <p:nvSpPr>
          <p:cNvPr id="89" name="Text 87"/>
          <p:cNvSpPr/>
          <p:nvPr/>
        </p:nvSpPr>
        <p:spPr>
          <a:xfrm>
            <a:off x="188837" y="6565876"/>
            <a:ext cx="2026190" cy="123861"/>
          </a:xfrm>
          <a:prstGeom prst="rect">
            <a:avLst/>
          </a:prstGeom>
          <a:noFill/>
        </p:spPr>
        <p:txBody>
          <a:bodyPr wrap="square" lIns="0" tIns="0" rIns="0" bIns="0" rtlCol="0" anchor="ctr"/>
          <a:lstStyle/>
          <a:p>
            <a:pPr>
              <a:lnSpc>
                <a:spcPct val="110000"/>
              </a:lnSpc>
            </a:pPr>
            <a:r>
              <a:rPr lang="en-US" sz="505" dirty="0">
                <a:solidFill>
                  <a:srgbClr val="6B7280"/>
                </a:solidFill>
                <a:latin typeface="MiSans" pitchFamily="34" charset="-122"/>
                <a:ea typeface="MiSans" pitchFamily="34" charset="-122"/>
                <a:cs typeface="MiSans" pitchFamily="34" charset="-120"/>
              </a:rPr>
              <a:t>数据截至2026年1月14</a:t>
            </a:r>
            <a:r>
              <a:rPr lang="en-US" sz="505" dirty="0" smtClean="0">
                <a:solidFill>
                  <a:srgbClr val="6B7280"/>
                </a:solidFill>
                <a:latin typeface="MiSans" pitchFamily="34" charset="-122"/>
                <a:ea typeface="MiSans" pitchFamily="34" charset="-122"/>
                <a:cs typeface="MiSans" pitchFamily="34" charset="-120"/>
              </a:rPr>
              <a:t>日</a:t>
            </a:r>
            <a:r>
              <a:rPr lang="zh-CN" altLang="en-US" sz="505" dirty="0" smtClean="0">
                <a:solidFill>
                  <a:srgbClr val="6B7280"/>
                </a:solidFill>
                <a:latin typeface="MiSans" pitchFamily="34" charset="-122"/>
                <a:ea typeface="MiSans" pitchFamily="34" charset="-122"/>
                <a:cs typeface="MiSans" pitchFamily="34" charset="-120"/>
              </a:rPr>
              <a:t>，</a:t>
            </a:r>
            <a:r>
              <a:rPr lang="en-US" sz="505" dirty="0" smtClean="0">
                <a:solidFill>
                  <a:srgbClr val="6B7280"/>
                </a:solidFill>
                <a:latin typeface="MiSans" pitchFamily="34" charset="-122"/>
                <a:ea typeface="MiSans" pitchFamily="34" charset="-122"/>
                <a:cs typeface="MiSans" pitchFamily="34" charset="-120"/>
              </a:rPr>
              <a:t>外贸信托</a:t>
            </a:r>
            <a:r>
              <a:rPr lang="en-US" sz="505" dirty="0">
                <a:solidFill>
                  <a:srgbClr val="6B7280"/>
                </a:solidFill>
                <a:latin typeface="MiSans" pitchFamily="34" charset="-122"/>
                <a:ea typeface="MiSans" pitchFamily="34" charset="-122"/>
                <a:cs typeface="MiSans" pitchFamily="34" charset="-120"/>
              </a:rPr>
              <a:t>-</a:t>
            </a:r>
            <a:r>
              <a:rPr lang="en-US" sz="505" dirty="0" err="1" smtClean="0">
                <a:solidFill>
                  <a:srgbClr val="6B7280"/>
                </a:solidFill>
                <a:latin typeface="MiSans" pitchFamily="34" charset="-122"/>
                <a:ea typeface="MiSans" pitchFamily="34" charset="-122"/>
                <a:cs typeface="MiSans" pitchFamily="34" charset="-120"/>
              </a:rPr>
              <a:t>稳鑫集合资金信托计划</a:t>
            </a:r>
            <a:endParaRPr lang="en-US" sz="900" dirty="0"/>
          </a:p>
        </p:txBody>
      </p:sp>
      <p:sp>
        <p:nvSpPr>
          <p:cNvPr id="90" name="Shape 88"/>
          <p:cNvSpPr/>
          <p:nvPr/>
        </p:nvSpPr>
        <p:spPr>
          <a:xfrm>
            <a:off x="208316" y="6704176"/>
            <a:ext cx="6424017" cy="2189340"/>
          </a:xfrm>
          <a:custGeom>
            <a:avLst/>
            <a:gdLst/>
            <a:ahLst/>
            <a:cxnLst/>
            <a:rect l="l" t="t" r="r" b="b"/>
            <a:pathLst>
              <a:path w="11420475" h="3438525">
                <a:moveTo>
                  <a:pt x="114297" y="0"/>
                </a:moveTo>
                <a:lnTo>
                  <a:pt x="11306178" y="0"/>
                </a:lnTo>
                <a:cubicBezTo>
                  <a:pt x="11369303" y="0"/>
                  <a:pt x="11420475" y="51172"/>
                  <a:pt x="11420475" y="114297"/>
                </a:cubicBezTo>
                <a:lnTo>
                  <a:pt x="11420475" y="3324228"/>
                </a:lnTo>
                <a:cubicBezTo>
                  <a:pt x="11420475" y="3387353"/>
                  <a:pt x="11369303" y="3438525"/>
                  <a:pt x="11306178" y="3438525"/>
                </a:cubicBezTo>
                <a:lnTo>
                  <a:pt x="114297" y="3438525"/>
                </a:lnTo>
                <a:cubicBezTo>
                  <a:pt x="51172" y="3438525"/>
                  <a:pt x="0" y="3387353"/>
                  <a:pt x="0" y="3324228"/>
                </a:cubicBezTo>
                <a:lnTo>
                  <a:pt x="0" y="114297"/>
                </a:lnTo>
                <a:cubicBezTo>
                  <a:pt x="0" y="51172"/>
                  <a:pt x="51172" y="0"/>
                  <a:pt x="114297" y="0"/>
                </a:cubicBezTo>
                <a:close/>
              </a:path>
            </a:pathLst>
          </a:custGeom>
          <a:solidFill>
            <a:srgbClr val="FFFFFF"/>
          </a:solidFill>
          <a:ln w="12700">
            <a:noFill/>
            <a:prstDash val="solid"/>
          </a:ln>
          <a:effectLst>
            <a:outerShdw blurRad="50800" dist="38100" dir="2700000" algn="tl" rotWithShape="0">
              <a:prstClr val="black">
                <a:alpha val="40000"/>
              </a:prstClr>
            </a:outerShdw>
          </a:effectLst>
        </p:spPr>
      </p:sp>
      <p:sp>
        <p:nvSpPr>
          <p:cNvPr id="91" name="Text 89"/>
          <p:cNvSpPr/>
          <p:nvPr/>
        </p:nvSpPr>
        <p:spPr>
          <a:xfrm>
            <a:off x="2319144" y="6694984"/>
            <a:ext cx="2282318" cy="296286"/>
          </a:xfrm>
          <a:prstGeom prst="rect">
            <a:avLst/>
          </a:prstGeom>
          <a:noFill/>
        </p:spPr>
        <p:txBody>
          <a:bodyPr wrap="square" lIns="0" tIns="0" rIns="0" bIns="0" rtlCol="0" anchor="ctr"/>
          <a:lstStyle/>
          <a:p>
            <a:pPr algn="ctr">
              <a:lnSpc>
                <a:spcPct val="130000"/>
              </a:lnSpc>
            </a:pPr>
            <a:r>
              <a:rPr lang="en-US" sz="1000" b="1" dirty="0" err="1" smtClean="0">
                <a:solidFill>
                  <a:srgbClr val="1E3A5F"/>
                </a:solidFill>
                <a:latin typeface="MiSans" pitchFamily="34" charset="-122"/>
                <a:ea typeface="MiSans" pitchFamily="34" charset="-122"/>
                <a:cs typeface="MiSans" pitchFamily="34" charset="-120"/>
              </a:rPr>
              <a:t>稳鑫系列</a:t>
            </a:r>
            <a:r>
              <a:rPr lang="zh-CN" altLang="en-US" sz="1000" b="1" dirty="0" smtClean="0">
                <a:solidFill>
                  <a:srgbClr val="1E3A5F"/>
                </a:solidFill>
                <a:latin typeface="MiSans" pitchFamily="34" charset="-122"/>
                <a:ea typeface="MiSans" pitchFamily="34" charset="-122"/>
                <a:cs typeface="MiSans" pitchFamily="34" charset="-120"/>
              </a:rPr>
              <a:t>代表</a:t>
            </a:r>
            <a:r>
              <a:rPr lang="en-US" sz="1000" b="1" dirty="0" err="1" smtClean="0">
                <a:solidFill>
                  <a:srgbClr val="1E3A5F"/>
                </a:solidFill>
                <a:latin typeface="MiSans" pitchFamily="34" charset="-122"/>
                <a:ea typeface="MiSans" pitchFamily="34" charset="-122"/>
                <a:cs typeface="MiSans" pitchFamily="34" charset="-120"/>
              </a:rPr>
              <a:t>产品净值走势</a:t>
            </a:r>
            <a:endParaRPr lang="en-US" sz="1000" b="1" dirty="0">
              <a:solidFill>
                <a:srgbClr val="1E3A5F"/>
              </a:solidFill>
              <a:latin typeface="MiSans" pitchFamily="34" charset="-122"/>
              <a:ea typeface="MiSans" pitchFamily="34" charset="-122"/>
              <a:cs typeface="MiSans" pitchFamily="34" charset="-120"/>
            </a:endParaRPr>
          </a:p>
        </p:txBody>
      </p:sp>
      <p:sp>
        <p:nvSpPr>
          <p:cNvPr id="115" name="Shape 112"/>
          <p:cNvSpPr/>
          <p:nvPr/>
        </p:nvSpPr>
        <p:spPr>
          <a:xfrm>
            <a:off x="-8674" y="9042539"/>
            <a:ext cx="6857999" cy="3359348"/>
          </a:xfrm>
          <a:custGeom>
            <a:avLst/>
            <a:gdLst/>
            <a:ahLst/>
            <a:cxnLst/>
            <a:rect l="l" t="t" r="r" b="b"/>
            <a:pathLst>
              <a:path w="12192000" h="5972175">
                <a:moveTo>
                  <a:pt x="0" y="0"/>
                </a:moveTo>
                <a:lnTo>
                  <a:pt x="12192000" y="0"/>
                </a:lnTo>
                <a:lnTo>
                  <a:pt x="12192000" y="5972175"/>
                </a:lnTo>
                <a:lnTo>
                  <a:pt x="0" y="5972175"/>
                </a:lnTo>
                <a:lnTo>
                  <a:pt x="0" y="0"/>
                </a:lnTo>
                <a:close/>
              </a:path>
            </a:pathLst>
          </a:custGeom>
          <a:solidFill>
            <a:srgbClr val="F8FAFC"/>
          </a:solidFill>
          <a:ln>
            <a:noFill/>
          </a:ln>
        </p:spPr>
      </p:sp>
      <p:sp>
        <p:nvSpPr>
          <p:cNvPr id="116" name="Text 113"/>
          <p:cNvSpPr/>
          <p:nvPr/>
        </p:nvSpPr>
        <p:spPr>
          <a:xfrm>
            <a:off x="213464" y="9150358"/>
            <a:ext cx="6461522" cy="96441"/>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Portfolio Strategy</a:t>
            </a:r>
          </a:p>
        </p:txBody>
      </p:sp>
      <p:sp>
        <p:nvSpPr>
          <p:cNvPr id="117" name="Text 114"/>
          <p:cNvSpPr/>
          <p:nvPr/>
        </p:nvSpPr>
        <p:spPr>
          <a:xfrm>
            <a:off x="213469" y="9278946"/>
            <a:ext cx="6493669" cy="246459"/>
          </a:xfrm>
          <a:prstGeom prst="rect">
            <a:avLst/>
          </a:prstGeom>
          <a:noFill/>
        </p:spPr>
        <p:txBody>
          <a:bodyPr wrap="square" lIns="0" tIns="0" rIns="0" bIns="53578" rtlCol="0" anchor="ctr"/>
          <a:lstStyle/>
          <a:p>
            <a:pPr algn="ctr">
              <a:lnSpc>
                <a:spcPct val="130000"/>
              </a:lnSpc>
            </a:pPr>
            <a:r>
              <a:rPr lang="en-US" sz="1200" b="1" dirty="0">
                <a:solidFill>
                  <a:srgbClr val="1E3A5F"/>
                </a:solidFill>
                <a:latin typeface="MiSans" pitchFamily="34" charset="-122"/>
                <a:ea typeface="MiSans" pitchFamily="34" charset="-122"/>
                <a:cs typeface="MiSans" pitchFamily="34" charset="-120"/>
              </a:rPr>
              <a:t>组合策略框架</a:t>
            </a:r>
          </a:p>
        </p:txBody>
      </p:sp>
      <p:sp>
        <p:nvSpPr>
          <p:cNvPr id="118" name="Shape 115"/>
          <p:cNvSpPr/>
          <p:nvPr/>
        </p:nvSpPr>
        <p:spPr>
          <a:xfrm>
            <a:off x="213470" y="9487900"/>
            <a:ext cx="6429375" cy="798309"/>
          </a:xfrm>
          <a:custGeom>
            <a:avLst/>
            <a:gdLst/>
            <a:ahLst/>
            <a:cxnLst/>
            <a:rect l="l" t="t" r="r" b="b"/>
            <a:pathLst>
              <a:path w="11430000" h="1123950">
                <a:moveTo>
                  <a:pt x="114294" y="0"/>
                </a:moveTo>
                <a:lnTo>
                  <a:pt x="11315706" y="0"/>
                </a:lnTo>
                <a:cubicBezTo>
                  <a:pt x="11378829" y="0"/>
                  <a:pt x="11430000" y="51171"/>
                  <a:pt x="11430000" y="114294"/>
                </a:cubicBezTo>
                <a:lnTo>
                  <a:pt x="11430000" y="1009656"/>
                </a:lnTo>
                <a:cubicBezTo>
                  <a:pt x="11430000" y="1072779"/>
                  <a:pt x="11378829" y="1123950"/>
                  <a:pt x="11315706" y="1123950"/>
                </a:cubicBezTo>
                <a:lnTo>
                  <a:pt x="114294" y="1123950"/>
                </a:lnTo>
                <a:cubicBezTo>
                  <a:pt x="51171" y="1123950"/>
                  <a:pt x="0" y="1072779"/>
                  <a:pt x="0" y="1009656"/>
                </a:cubicBezTo>
                <a:lnTo>
                  <a:pt x="0" y="114294"/>
                </a:lnTo>
                <a:cubicBezTo>
                  <a:pt x="0" y="51171"/>
                  <a:pt x="51171" y="0"/>
                  <a:pt x="114294" y="0"/>
                </a:cubicBezTo>
                <a:close/>
              </a:path>
            </a:pathLst>
          </a:custGeom>
          <a:solidFill>
            <a:srgbClr val="1E3A5F"/>
          </a:solidFill>
        </p:spPr>
      </p:sp>
      <p:sp>
        <p:nvSpPr>
          <p:cNvPr id="119" name="Shape 116"/>
          <p:cNvSpPr/>
          <p:nvPr/>
        </p:nvSpPr>
        <p:spPr>
          <a:xfrm>
            <a:off x="320626" y="9700189"/>
            <a:ext cx="257175" cy="257175"/>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227">
              <a:alpha val="20000"/>
            </a:srgbClr>
          </a:solidFill>
        </p:spPr>
      </p:sp>
      <p:sp>
        <p:nvSpPr>
          <p:cNvPr id="120" name="Text 117"/>
          <p:cNvSpPr/>
          <p:nvPr/>
        </p:nvSpPr>
        <p:spPr>
          <a:xfrm>
            <a:off x="288479" y="9700189"/>
            <a:ext cx="321469" cy="257175"/>
          </a:xfrm>
          <a:prstGeom prst="rect">
            <a:avLst/>
          </a:prstGeom>
          <a:noFill/>
        </p:spPr>
        <p:txBody>
          <a:bodyPr wrap="square" lIns="0" tIns="0" rIns="0" bIns="0" rtlCol="0" anchor="ctr"/>
          <a:lstStyle/>
          <a:p>
            <a:pPr algn="ctr">
              <a:lnSpc>
                <a:spcPct val="110000"/>
              </a:lnSpc>
            </a:pPr>
            <a:r>
              <a:rPr lang="en-US" sz="1400" dirty="0">
                <a:solidFill>
                  <a:srgbClr val="FFFFFF"/>
                </a:solidFill>
                <a:latin typeface="MiSans" pitchFamily="34" charset="-122"/>
                <a:ea typeface="MiSans" pitchFamily="34" charset="-122"/>
                <a:cs typeface="MiSans" pitchFamily="34" charset="-120"/>
              </a:rPr>
              <a:t>🎯</a:t>
            </a:r>
          </a:p>
        </p:txBody>
      </p:sp>
      <p:sp>
        <p:nvSpPr>
          <p:cNvPr id="121" name="Text 118"/>
          <p:cNvSpPr/>
          <p:nvPr/>
        </p:nvSpPr>
        <p:spPr>
          <a:xfrm>
            <a:off x="663526" y="9700184"/>
            <a:ext cx="5915025" cy="128588"/>
          </a:xfrm>
          <a:prstGeom prst="rect">
            <a:avLst/>
          </a:prstGeom>
          <a:noFill/>
        </p:spPr>
        <p:txBody>
          <a:bodyPr wrap="square" lIns="0" tIns="0" rIns="0" bIns="0" rtlCol="0" anchor="ctr"/>
          <a:lstStyle/>
          <a:p>
            <a:pPr>
              <a:lnSpc>
                <a:spcPct val="130000"/>
              </a:lnSpc>
            </a:pPr>
            <a:r>
              <a:rPr lang="en-US" sz="1400" b="1" dirty="0">
                <a:solidFill>
                  <a:srgbClr val="FFFFFF"/>
                </a:solidFill>
                <a:latin typeface="MiSans" pitchFamily="34" charset="-122"/>
                <a:ea typeface="MiSans" pitchFamily="34" charset="-122"/>
                <a:cs typeface="MiSans" pitchFamily="34" charset="-120"/>
              </a:rPr>
              <a:t>核心策略定位</a:t>
            </a:r>
          </a:p>
        </p:txBody>
      </p:sp>
      <p:sp>
        <p:nvSpPr>
          <p:cNvPr id="122" name="Text 119"/>
          <p:cNvSpPr/>
          <p:nvPr/>
        </p:nvSpPr>
        <p:spPr>
          <a:xfrm>
            <a:off x="663526" y="9888817"/>
            <a:ext cx="5909667" cy="328664"/>
          </a:xfrm>
          <a:prstGeom prst="rect">
            <a:avLst/>
          </a:prstGeom>
          <a:noFill/>
        </p:spPr>
        <p:txBody>
          <a:bodyPr wrap="square" lIns="0" tIns="0" rIns="0" bIns="0" rtlCol="0" anchor="ctr"/>
          <a:lstStyle/>
          <a:p>
            <a:pPr>
              <a:lnSpc>
                <a:spcPct val="140000"/>
              </a:lnSpc>
            </a:pPr>
            <a:r>
              <a:rPr lang="en-US" sz="790" dirty="0">
                <a:solidFill>
                  <a:srgbClr val="FFFFFF">
                    <a:alpha val="90000"/>
                  </a:srgbClr>
                </a:solidFill>
                <a:latin typeface="MiSans" pitchFamily="34" charset="-122"/>
                <a:ea typeface="MiSans" pitchFamily="34" charset="-122"/>
                <a:cs typeface="MiSans" pitchFamily="34" charset="-120"/>
              </a:rPr>
              <a:t>产品主要配置信用债(80%-100%)，通过精选个券、集中度管理进行分散化投资，把控信用风险。以</a:t>
            </a:r>
            <a:r>
              <a:rPr lang="en-US" sz="790" b="1" dirty="0">
                <a:solidFill>
                  <a:srgbClr val="C9A227">
                    <a:alpha val="90000"/>
                  </a:srgbClr>
                </a:solidFill>
                <a:latin typeface="MiSans" pitchFamily="34" charset="-122"/>
                <a:ea typeface="MiSans" pitchFamily="34" charset="-122"/>
                <a:cs typeface="MiSans" pitchFamily="34" charset="-120"/>
              </a:rPr>
              <a:t>票息配置策略</a:t>
            </a:r>
            <a:r>
              <a:rPr lang="en-US" sz="790" dirty="0">
                <a:solidFill>
                  <a:srgbClr val="FFFFFF">
                    <a:alpha val="90000"/>
                  </a:srgbClr>
                </a:solidFill>
                <a:latin typeface="MiSans" pitchFamily="34" charset="-122"/>
                <a:ea typeface="MiSans" pitchFamily="34" charset="-122"/>
                <a:cs typeface="MiSans" pitchFamily="34" charset="-120"/>
              </a:rPr>
              <a:t>为主，同时结合多策略稳步提升产品收益，维持产品流动性的同时放大组合收益。</a:t>
            </a:r>
          </a:p>
        </p:txBody>
      </p:sp>
      <p:sp>
        <p:nvSpPr>
          <p:cNvPr id="123" name="Shape 120"/>
          <p:cNvSpPr/>
          <p:nvPr/>
        </p:nvSpPr>
        <p:spPr>
          <a:xfrm>
            <a:off x="216144" y="10402677"/>
            <a:ext cx="1553766" cy="1159967"/>
          </a:xfrm>
          <a:custGeom>
            <a:avLst/>
            <a:gdLst/>
            <a:ahLst/>
            <a:cxnLst/>
            <a:rect l="l" t="t" r="r" b="b"/>
            <a:pathLst>
              <a:path w="2762250" h="2062163">
                <a:moveTo>
                  <a:pt x="114306" y="0"/>
                </a:moveTo>
                <a:lnTo>
                  <a:pt x="2647944" y="0"/>
                </a:lnTo>
                <a:cubicBezTo>
                  <a:pt x="2711074" y="0"/>
                  <a:pt x="2762250" y="51176"/>
                  <a:pt x="2762250" y="114306"/>
                </a:cubicBezTo>
                <a:lnTo>
                  <a:pt x="2762250" y="1947857"/>
                </a:lnTo>
                <a:cubicBezTo>
                  <a:pt x="2762250" y="2010986"/>
                  <a:pt x="2711074" y="2062163"/>
                  <a:pt x="2647944" y="2062163"/>
                </a:cubicBezTo>
                <a:lnTo>
                  <a:pt x="114306" y="2062163"/>
                </a:lnTo>
                <a:cubicBezTo>
                  <a:pt x="51176" y="2062163"/>
                  <a:pt x="0" y="2010986"/>
                  <a:pt x="0" y="1947857"/>
                </a:cubicBezTo>
                <a:lnTo>
                  <a:pt x="0" y="114306"/>
                </a:lnTo>
                <a:cubicBezTo>
                  <a:pt x="0" y="51176"/>
                  <a:pt x="51176" y="0"/>
                  <a:pt x="114306" y="0"/>
                </a:cubicBezTo>
                <a:close/>
              </a:path>
            </a:pathLst>
          </a:custGeom>
          <a:solidFill>
            <a:srgbClr val="FFFFFF"/>
          </a:solidFill>
          <a:ln w="25400">
            <a:solidFill>
              <a:srgbClr val="C9A227"/>
            </a:solidFill>
            <a:prstDash val="solid"/>
          </a:ln>
        </p:spPr>
      </p:sp>
      <p:sp>
        <p:nvSpPr>
          <p:cNvPr id="124" name="Shape 121"/>
          <p:cNvSpPr/>
          <p:nvPr/>
        </p:nvSpPr>
        <p:spPr>
          <a:xfrm>
            <a:off x="304552" y="10499118"/>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C9A227">
              <a:alpha val="10196"/>
            </a:srgbClr>
          </a:solidFill>
        </p:spPr>
      </p:sp>
      <p:sp>
        <p:nvSpPr>
          <p:cNvPr id="125" name="Text 122"/>
          <p:cNvSpPr/>
          <p:nvPr/>
        </p:nvSpPr>
        <p:spPr>
          <a:xfrm>
            <a:off x="280443" y="10499118"/>
            <a:ext cx="262533" cy="214313"/>
          </a:xfrm>
          <a:prstGeom prst="rect">
            <a:avLst/>
          </a:prstGeom>
          <a:noFill/>
        </p:spPr>
        <p:txBody>
          <a:bodyPr wrap="square" lIns="0" tIns="0" rIns="0" bIns="0" rtlCol="0" anchor="ctr"/>
          <a:lstStyle/>
          <a:p>
            <a:pPr algn="ctr">
              <a:lnSpc>
                <a:spcPct val="130000"/>
              </a:lnSpc>
            </a:pPr>
            <a:r>
              <a:rPr lang="en-US" sz="760" dirty="0">
                <a:solidFill>
                  <a:srgbClr val="1F2937"/>
                </a:solidFill>
                <a:latin typeface="MiSans" pitchFamily="34" charset="-122"/>
                <a:ea typeface="MiSans" pitchFamily="34" charset="-122"/>
                <a:cs typeface="MiSans" pitchFamily="34" charset="-120"/>
              </a:rPr>
              <a:t>📊</a:t>
            </a:r>
            <a:endParaRPr lang="en-US" sz="900" dirty="0"/>
          </a:p>
        </p:txBody>
      </p:sp>
      <p:sp>
        <p:nvSpPr>
          <p:cNvPr id="126" name="Text 123"/>
          <p:cNvSpPr/>
          <p:nvPr/>
        </p:nvSpPr>
        <p:spPr>
          <a:xfrm>
            <a:off x="304552" y="10777719"/>
            <a:ext cx="1414463" cy="107156"/>
          </a:xfrm>
          <a:prstGeom prst="rect">
            <a:avLst/>
          </a:prstGeom>
          <a:noFill/>
        </p:spPr>
        <p:txBody>
          <a:bodyPr wrap="square" lIns="0" tIns="0" rIns="0" bIns="0" rtlCol="0" anchor="ctr"/>
          <a:lstStyle/>
          <a:p>
            <a:pPr>
              <a:lnSpc>
                <a:spcPct val="120000"/>
              </a:lnSpc>
            </a:pPr>
            <a:r>
              <a:rPr lang="en-US" sz="790" b="1" dirty="0">
                <a:solidFill>
                  <a:srgbClr val="1E3A5F"/>
                </a:solidFill>
                <a:latin typeface="MiSans" pitchFamily="34" charset="-122"/>
                <a:ea typeface="MiSans" pitchFamily="34" charset="-122"/>
                <a:cs typeface="MiSans" pitchFamily="34" charset="-120"/>
              </a:rPr>
              <a:t>票息配置策略</a:t>
            </a:r>
          </a:p>
        </p:txBody>
      </p:sp>
      <p:sp>
        <p:nvSpPr>
          <p:cNvPr id="127" name="Text 124"/>
          <p:cNvSpPr/>
          <p:nvPr/>
        </p:nvSpPr>
        <p:spPr>
          <a:xfrm>
            <a:off x="304552" y="10927743"/>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精选优质城投债("真城投")</a:t>
            </a:r>
          </a:p>
        </p:txBody>
      </p:sp>
      <p:sp>
        <p:nvSpPr>
          <p:cNvPr id="128" name="Text 125"/>
          <p:cNvSpPr/>
          <p:nvPr/>
        </p:nvSpPr>
        <p:spPr>
          <a:xfrm>
            <a:off x="304552" y="11022994"/>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国企央企产业债</a:t>
            </a:r>
          </a:p>
        </p:txBody>
      </p:sp>
      <p:sp>
        <p:nvSpPr>
          <p:cNvPr id="129" name="Text 126"/>
          <p:cNvSpPr/>
          <p:nvPr/>
        </p:nvSpPr>
        <p:spPr>
          <a:xfrm>
            <a:off x="304552" y="11118245"/>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以AA+以上评级为主</a:t>
            </a:r>
          </a:p>
        </p:txBody>
      </p:sp>
      <p:sp>
        <p:nvSpPr>
          <p:cNvPr id="130" name="Text 127"/>
          <p:cNvSpPr/>
          <p:nvPr/>
        </p:nvSpPr>
        <p:spPr>
          <a:xfrm>
            <a:off x="304552" y="11213496"/>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集中度管理分散投资</a:t>
            </a:r>
          </a:p>
        </p:txBody>
      </p:sp>
      <p:sp>
        <p:nvSpPr>
          <p:cNvPr id="131" name="Shape 128"/>
          <p:cNvSpPr/>
          <p:nvPr/>
        </p:nvSpPr>
        <p:spPr>
          <a:xfrm>
            <a:off x="304553" y="11334936"/>
            <a:ext cx="412216" cy="199791"/>
          </a:xfrm>
          <a:custGeom>
            <a:avLst/>
            <a:gdLst/>
            <a:ahLst/>
            <a:cxnLst/>
            <a:rect l="l" t="t" r="r" b="b"/>
            <a:pathLst>
              <a:path w="647700" h="247650">
                <a:moveTo>
                  <a:pt x="38101" y="0"/>
                </a:moveTo>
                <a:lnTo>
                  <a:pt x="609599" y="0"/>
                </a:lnTo>
                <a:cubicBezTo>
                  <a:pt x="630642" y="0"/>
                  <a:pt x="647700" y="17058"/>
                  <a:pt x="647700" y="38101"/>
                </a:cubicBezTo>
                <a:lnTo>
                  <a:pt x="647700" y="209549"/>
                </a:lnTo>
                <a:cubicBezTo>
                  <a:pt x="647700" y="230592"/>
                  <a:pt x="630642" y="247650"/>
                  <a:pt x="609599" y="247650"/>
                </a:cubicBezTo>
                <a:lnTo>
                  <a:pt x="38101" y="247650"/>
                </a:lnTo>
                <a:cubicBezTo>
                  <a:pt x="17058" y="247650"/>
                  <a:pt x="0" y="230592"/>
                  <a:pt x="0" y="209549"/>
                </a:cubicBezTo>
                <a:lnTo>
                  <a:pt x="0" y="38101"/>
                </a:lnTo>
                <a:cubicBezTo>
                  <a:pt x="0" y="17058"/>
                  <a:pt x="17058" y="0"/>
                  <a:pt x="38101" y="0"/>
                </a:cubicBezTo>
                <a:close/>
              </a:path>
            </a:pathLst>
          </a:custGeom>
          <a:solidFill>
            <a:srgbClr val="C9A227">
              <a:alpha val="10196"/>
            </a:srgbClr>
          </a:solidFill>
        </p:spPr>
      </p:sp>
      <p:sp>
        <p:nvSpPr>
          <p:cNvPr id="132" name="Text 129"/>
          <p:cNvSpPr/>
          <p:nvPr/>
        </p:nvSpPr>
        <p:spPr>
          <a:xfrm>
            <a:off x="304547" y="11322890"/>
            <a:ext cx="509292" cy="206478"/>
          </a:xfrm>
          <a:prstGeom prst="rect">
            <a:avLst/>
          </a:prstGeom>
          <a:noFill/>
        </p:spPr>
        <p:txBody>
          <a:bodyPr wrap="square" lIns="53578" tIns="21431" rIns="53578" bIns="21431" rtlCol="0" anchor="ctr"/>
          <a:lstStyle/>
          <a:p>
            <a:pPr>
              <a:lnSpc>
                <a:spcPct val="130000"/>
              </a:lnSpc>
            </a:pPr>
            <a:r>
              <a:rPr lang="en-US" sz="600" b="1" dirty="0">
                <a:solidFill>
                  <a:srgbClr val="C9A227"/>
                </a:solidFill>
                <a:latin typeface="MiSans" pitchFamily="34" charset="-122"/>
                <a:ea typeface="MiSans" pitchFamily="34" charset="-122"/>
                <a:cs typeface="MiSans" pitchFamily="34" charset="-120"/>
              </a:rPr>
              <a:t>核心策略</a:t>
            </a:r>
            <a:endParaRPr lang="en-US" sz="1000" dirty="0"/>
          </a:p>
        </p:txBody>
      </p:sp>
      <p:sp>
        <p:nvSpPr>
          <p:cNvPr id="133" name="Shape 130"/>
          <p:cNvSpPr/>
          <p:nvPr/>
        </p:nvSpPr>
        <p:spPr>
          <a:xfrm>
            <a:off x="1839561" y="10402677"/>
            <a:ext cx="1553766" cy="1159967"/>
          </a:xfrm>
          <a:custGeom>
            <a:avLst/>
            <a:gdLst/>
            <a:ahLst/>
            <a:cxnLst/>
            <a:rect l="l" t="t" r="r" b="b"/>
            <a:pathLst>
              <a:path w="2762250" h="2062163">
                <a:moveTo>
                  <a:pt x="114306" y="0"/>
                </a:moveTo>
                <a:lnTo>
                  <a:pt x="2647944" y="0"/>
                </a:lnTo>
                <a:cubicBezTo>
                  <a:pt x="2711074" y="0"/>
                  <a:pt x="2762250" y="51176"/>
                  <a:pt x="2762250" y="114306"/>
                </a:cubicBezTo>
                <a:lnTo>
                  <a:pt x="2762250" y="1947857"/>
                </a:lnTo>
                <a:cubicBezTo>
                  <a:pt x="2762250" y="2010986"/>
                  <a:pt x="2711074" y="2062163"/>
                  <a:pt x="2647944" y="2062163"/>
                </a:cubicBezTo>
                <a:lnTo>
                  <a:pt x="114306" y="2062163"/>
                </a:lnTo>
                <a:cubicBezTo>
                  <a:pt x="51176" y="2062163"/>
                  <a:pt x="0" y="2010986"/>
                  <a:pt x="0" y="1947857"/>
                </a:cubicBezTo>
                <a:lnTo>
                  <a:pt x="0" y="114306"/>
                </a:lnTo>
                <a:cubicBezTo>
                  <a:pt x="0" y="51176"/>
                  <a:pt x="51176" y="0"/>
                  <a:pt x="114306" y="0"/>
                </a:cubicBezTo>
                <a:close/>
              </a:path>
            </a:pathLst>
          </a:custGeom>
          <a:solidFill>
            <a:srgbClr val="FFFFFF"/>
          </a:solidFill>
          <a:ln w="25400">
            <a:solidFill>
              <a:srgbClr val="EA580C"/>
            </a:solidFill>
            <a:prstDash val="solid"/>
          </a:ln>
        </p:spPr>
      </p:sp>
      <p:sp>
        <p:nvSpPr>
          <p:cNvPr id="134" name="Shape 131"/>
          <p:cNvSpPr/>
          <p:nvPr/>
        </p:nvSpPr>
        <p:spPr>
          <a:xfrm>
            <a:off x="1927969" y="10499118"/>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EA580C">
              <a:alpha val="10196"/>
            </a:srgbClr>
          </a:solidFill>
        </p:spPr>
      </p:sp>
      <p:sp>
        <p:nvSpPr>
          <p:cNvPr id="135" name="Text 132"/>
          <p:cNvSpPr/>
          <p:nvPr/>
        </p:nvSpPr>
        <p:spPr>
          <a:xfrm>
            <a:off x="1903860" y="10499118"/>
            <a:ext cx="262533" cy="214313"/>
          </a:xfrm>
          <a:prstGeom prst="rect">
            <a:avLst/>
          </a:prstGeom>
          <a:noFill/>
        </p:spPr>
        <p:txBody>
          <a:bodyPr wrap="square" lIns="0" tIns="0" rIns="0" bIns="0" rtlCol="0" anchor="ctr"/>
          <a:lstStyle/>
          <a:p>
            <a:pPr algn="ctr">
              <a:lnSpc>
                <a:spcPct val="130000"/>
              </a:lnSpc>
            </a:pPr>
            <a:r>
              <a:rPr lang="en-US" sz="760" dirty="0">
                <a:solidFill>
                  <a:srgbClr val="1F2937"/>
                </a:solidFill>
                <a:latin typeface="MiSans" pitchFamily="34" charset="-122"/>
                <a:ea typeface="MiSans" pitchFamily="34" charset="-122"/>
                <a:cs typeface="MiSans" pitchFamily="34" charset="-120"/>
              </a:rPr>
              <a:t>🛡️</a:t>
            </a:r>
            <a:endParaRPr lang="en-US" sz="900" dirty="0"/>
          </a:p>
        </p:txBody>
      </p:sp>
      <p:sp>
        <p:nvSpPr>
          <p:cNvPr id="136" name="Text 133"/>
          <p:cNvSpPr/>
          <p:nvPr/>
        </p:nvSpPr>
        <p:spPr>
          <a:xfrm>
            <a:off x="1927969" y="10777719"/>
            <a:ext cx="1414463" cy="107156"/>
          </a:xfrm>
          <a:prstGeom prst="rect">
            <a:avLst/>
          </a:prstGeom>
          <a:noFill/>
        </p:spPr>
        <p:txBody>
          <a:bodyPr wrap="square" lIns="0" tIns="0" rIns="0" bIns="0" rtlCol="0" anchor="ctr"/>
          <a:lstStyle/>
          <a:p>
            <a:pPr>
              <a:lnSpc>
                <a:spcPct val="120000"/>
              </a:lnSpc>
            </a:pPr>
            <a:r>
              <a:rPr lang="en-US" sz="790" b="1" dirty="0">
                <a:solidFill>
                  <a:srgbClr val="1E3A5F"/>
                </a:solidFill>
                <a:latin typeface="MiSans" pitchFamily="34" charset="-122"/>
                <a:ea typeface="MiSans" pitchFamily="34" charset="-122"/>
                <a:cs typeface="MiSans" pitchFamily="34" charset="-120"/>
              </a:rPr>
              <a:t>担保债增强策略</a:t>
            </a:r>
          </a:p>
        </p:txBody>
      </p:sp>
      <p:sp>
        <p:nvSpPr>
          <p:cNvPr id="137" name="Text 134"/>
          <p:cNvSpPr/>
          <p:nvPr/>
        </p:nvSpPr>
        <p:spPr>
          <a:xfrm>
            <a:off x="1927970" y="10927743"/>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多维度筛选优质担保公司</a:t>
            </a:r>
          </a:p>
        </p:txBody>
      </p:sp>
      <p:sp>
        <p:nvSpPr>
          <p:cNvPr id="138" name="Text 135"/>
          <p:cNvSpPr/>
          <p:nvPr/>
        </p:nvSpPr>
        <p:spPr>
          <a:xfrm>
            <a:off x="1927970" y="11022994"/>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市场对担保债定价偏差</a:t>
            </a:r>
          </a:p>
        </p:txBody>
      </p:sp>
      <p:sp>
        <p:nvSpPr>
          <p:cNvPr id="139" name="Text 136"/>
          <p:cNvSpPr/>
          <p:nvPr/>
        </p:nvSpPr>
        <p:spPr>
          <a:xfrm>
            <a:off x="1927970" y="11118245"/>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极端情况下表现稳定</a:t>
            </a:r>
          </a:p>
        </p:txBody>
      </p:sp>
      <p:sp>
        <p:nvSpPr>
          <p:cNvPr id="140" name="Text 137"/>
          <p:cNvSpPr/>
          <p:nvPr/>
        </p:nvSpPr>
        <p:spPr>
          <a:xfrm>
            <a:off x="1927970" y="11213496"/>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风险承受能力评估</a:t>
            </a:r>
          </a:p>
        </p:txBody>
      </p:sp>
      <p:sp>
        <p:nvSpPr>
          <p:cNvPr id="141" name="Shape 138"/>
          <p:cNvSpPr/>
          <p:nvPr/>
        </p:nvSpPr>
        <p:spPr>
          <a:xfrm>
            <a:off x="1937535" y="11358452"/>
            <a:ext cx="364331" cy="139303"/>
          </a:xfrm>
          <a:custGeom>
            <a:avLst/>
            <a:gdLst/>
            <a:ahLst/>
            <a:cxnLst/>
            <a:rect l="l" t="t" r="r" b="b"/>
            <a:pathLst>
              <a:path w="647700" h="247650">
                <a:moveTo>
                  <a:pt x="38101" y="0"/>
                </a:moveTo>
                <a:lnTo>
                  <a:pt x="609599" y="0"/>
                </a:lnTo>
                <a:cubicBezTo>
                  <a:pt x="630642" y="0"/>
                  <a:pt x="647700" y="17058"/>
                  <a:pt x="647700" y="38101"/>
                </a:cubicBezTo>
                <a:lnTo>
                  <a:pt x="647700" y="209549"/>
                </a:lnTo>
                <a:cubicBezTo>
                  <a:pt x="647700" y="230592"/>
                  <a:pt x="630642" y="247650"/>
                  <a:pt x="609599" y="247650"/>
                </a:cubicBezTo>
                <a:lnTo>
                  <a:pt x="38101" y="247650"/>
                </a:lnTo>
                <a:cubicBezTo>
                  <a:pt x="17058" y="247650"/>
                  <a:pt x="0" y="230592"/>
                  <a:pt x="0" y="209549"/>
                </a:cubicBezTo>
                <a:lnTo>
                  <a:pt x="0" y="38101"/>
                </a:lnTo>
                <a:cubicBezTo>
                  <a:pt x="0" y="17058"/>
                  <a:pt x="17058" y="0"/>
                  <a:pt x="38101" y="0"/>
                </a:cubicBezTo>
                <a:close/>
              </a:path>
            </a:pathLst>
          </a:custGeom>
          <a:solidFill>
            <a:srgbClr val="EA580C">
              <a:alpha val="10196"/>
            </a:srgbClr>
          </a:solidFill>
        </p:spPr>
      </p:sp>
      <p:sp>
        <p:nvSpPr>
          <p:cNvPr id="142" name="Text 139"/>
          <p:cNvSpPr/>
          <p:nvPr/>
        </p:nvSpPr>
        <p:spPr>
          <a:xfrm>
            <a:off x="1927964" y="11334936"/>
            <a:ext cx="459857" cy="194481"/>
          </a:xfrm>
          <a:prstGeom prst="rect">
            <a:avLst/>
          </a:prstGeom>
          <a:noFill/>
        </p:spPr>
        <p:txBody>
          <a:bodyPr wrap="square" lIns="53578" tIns="21431" rIns="53578" bIns="21431" rtlCol="0" anchor="ctr"/>
          <a:lstStyle/>
          <a:p>
            <a:pPr>
              <a:lnSpc>
                <a:spcPct val="130000"/>
              </a:lnSpc>
            </a:pPr>
            <a:r>
              <a:rPr lang="en-US" sz="600" b="1" dirty="0">
                <a:solidFill>
                  <a:srgbClr val="EA580C"/>
                </a:solidFill>
                <a:latin typeface="MiSans" pitchFamily="34" charset="-122"/>
                <a:ea typeface="MiSans" pitchFamily="34" charset="-122"/>
                <a:cs typeface="MiSans" pitchFamily="34" charset="-120"/>
              </a:rPr>
              <a:t>严控风险</a:t>
            </a:r>
            <a:endParaRPr lang="en-US" sz="1000" dirty="0"/>
          </a:p>
        </p:txBody>
      </p:sp>
      <p:sp>
        <p:nvSpPr>
          <p:cNvPr id="143" name="Shape 140"/>
          <p:cNvSpPr/>
          <p:nvPr/>
        </p:nvSpPr>
        <p:spPr>
          <a:xfrm>
            <a:off x="3462978" y="10402677"/>
            <a:ext cx="1553766" cy="1159967"/>
          </a:xfrm>
          <a:custGeom>
            <a:avLst/>
            <a:gdLst/>
            <a:ahLst/>
            <a:cxnLst/>
            <a:rect l="l" t="t" r="r" b="b"/>
            <a:pathLst>
              <a:path w="2762250" h="2062163">
                <a:moveTo>
                  <a:pt x="114306" y="0"/>
                </a:moveTo>
                <a:lnTo>
                  <a:pt x="2647944" y="0"/>
                </a:lnTo>
                <a:cubicBezTo>
                  <a:pt x="2711074" y="0"/>
                  <a:pt x="2762250" y="51176"/>
                  <a:pt x="2762250" y="114306"/>
                </a:cubicBezTo>
                <a:lnTo>
                  <a:pt x="2762250" y="1947857"/>
                </a:lnTo>
                <a:cubicBezTo>
                  <a:pt x="2762250" y="2010986"/>
                  <a:pt x="2711074" y="2062163"/>
                  <a:pt x="2647944" y="2062163"/>
                </a:cubicBezTo>
                <a:lnTo>
                  <a:pt x="114306" y="2062163"/>
                </a:lnTo>
                <a:cubicBezTo>
                  <a:pt x="51176" y="2062163"/>
                  <a:pt x="0" y="2010986"/>
                  <a:pt x="0" y="1947857"/>
                </a:cubicBezTo>
                <a:lnTo>
                  <a:pt x="0" y="114306"/>
                </a:lnTo>
                <a:cubicBezTo>
                  <a:pt x="0" y="51176"/>
                  <a:pt x="51176" y="0"/>
                  <a:pt x="114306" y="0"/>
                </a:cubicBezTo>
                <a:close/>
              </a:path>
            </a:pathLst>
          </a:custGeom>
          <a:solidFill>
            <a:srgbClr val="FFFFFF"/>
          </a:solidFill>
          <a:ln w="25400">
            <a:solidFill>
              <a:srgbClr val="059669"/>
            </a:solidFill>
            <a:prstDash val="solid"/>
          </a:ln>
        </p:spPr>
      </p:sp>
      <p:sp>
        <p:nvSpPr>
          <p:cNvPr id="144" name="Shape 141"/>
          <p:cNvSpPr/>
          <p:nvPr/>
        </p:nvSpPr>
        <p:spPr>
          <a:xfrm>
            <a:off x="3551386" y="10499118"/>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59669">
              <a:alpha val="10196"/>
            </a:srgbClr>
          </a:solidFill>
        </p:spPr>
      </p:sp>
      <p:sp>
        <p:nvSpPr>
          <p:cNvPr id="145" name="Text 142"/>
          <p:cNvSpPr/>
          <p:nvPr/>
        </p:nvSpPr>
        <p:spPr>
          <a:xfrm>
            <a:off x="3527277" y="10499118"/>
            <a:ext cx="262533" cy="214313"/>
          </a:xfrm>
          <a:prstGeom prst="rect">
            <a:avLst/>
          </a:prstGeom>
          <a:noFill/>
        </p:spPr>
        <p:txBody>
          <a:bodyPr wrap="square" lIns="0" tIns="0" rIns="0" bIns="0" rtlCol="0" anchor="ctr"/>
          <a:lstStyle/>
          <a:p>
            <a:pPr algn="ctr">
              <a:lnSpc>
                <a:spcPct val="130000"/>
              </a:lnSpc>
            </a:pPr>
            <a:r>
              <a:rPr lang="en-US" sz="760" dirty="0">
                <a:solidFill>
                  <a:srgbClr val="1F2937"/>
                </a:solidFill>
                <a:latin typeface="MiSans" pitchFamily="34" charset="-122"/>
                <a:ea typeface="MiSans" pitchFamily="34" charset="-122"/>
                <a:cs typeface="MiSans" pitchFamily="34" charset="-120"/>
              </a:rPr>
              <a:t>⏱️</a:t>
            </a:r>
            <a:endParaRPr lang="en-US" sz="900" dirty="0"/>
          </a:p>
        </p:txBody>
      </p:sp>
      <p:sp>
        <p:nvSpPr>
          <p:cNvPr id="146" name="Text 143"/>
          <p:cNvSpPr/>
          <p:nvPr/>
        </p:nvSpPr>
        <p:spPr>
          <a:xfrm>
            <a:off x="3551386" y="10777719"/>
            <a:ext cx="1414463" cy="107156"/>
          </a:xfrm>
          <a:prstGeom prst="rect">
            <a:avLst/>
          </a:prstGeom>
          <a:noFill/>
        </p:spPr>
        <p:txBody>
          <a:bodyPr wrap="square" lIns="0" tIns="0" rIns="0" bIns="0" rtlCol="0" anchor="ctr"/>
          <a:lstStyle/>
          <a:p>
            <a:pPr>
              <a:lnSpc>
                <a:spcPct val="120000"/>
              </a:lnSpc>
            </a:pPr>
            <a:r>
              <a:rPr lang="en-US" sz="790" b="1" dirty="0">
                <a:solidFill>
                  <a:srgbClr val="1E3A5F"/>
                </a:solidFill>
                <a:latin typeface="MiSans" pitchFamily="34" charset="-122"/>
                <a:ea typeface="MiSans" pitchFamily="34" charset="-122"/>
                <a:cs typeface="MiSans" pitchFamily="34" charset="-120"/>
              </a:rPr>
              <a:t>久期策略</a:t>
            </a:r>
          </a:p>
        </p:txBody>
      </p:sp>
      <p:sp>
        <p:nvSpPr>
          <p:cNvPr id="147" name="Text 144"/>
          <p:cNvSpPr/>
          <p:nvPr/>
        </p:nvSpPr>
        <p:spPr>
          <a:xfrm>
            <a:off x="3551387" y="10927743"/>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基于宏观和货币政策判断</a:t>
            </a:r>
          </a:p>
        </p:txBody>
      </p:sp>
      <p:sp>
        <p:nvSpPr>
          <p:cNvPr id="148" name="Text 145"/>
          <p:cNvSpPr/>
          <p:nvPr/>
        </p:nvSpPr>
        <p:spPr>
          <a:xfrm>
            <a:off x="3551387" y="11022994"/>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收益率曲线形态分析</a:t>
            </a:r>
          </a:p>
        </p:txBody>
      </p:sp>
      <p:sp>
        <p:nvSpPr>
          <p:cNvPr id="149" name="Text 146"/>
          <p:cNvSpPr/>
          <p:nvPr/>
        </p:nvSpPr>
        <p:spPr>
          <a:xfrm>
            <a:off x="3551387" y="11118245"/>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市场利率走势预判</a:t>
            </a:r>
          </a:p>
        </p:txBody>
      </p:sp>
      <p:sp>
        <p:nvSpPr>
          <p:cNvPr id="150" name="Text 147"/>
          <p:cNvSpPr/>
          <p:nvPr/>
        </p:nvSpPr>
        <p:spPr>
          <a:xfrm>
            <a:off x="3551387" y="11213496"/>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确定最优组合久期</a:t>
            </a:r>
          </a:p>
        </p:txBody>
      </p:sp>
      <p:sp>
        <p:nvSpPr>
          <p:cNvPr id="151" name="Shape 148"/>
          <p:cNvSpPr/>
          <p:nvPr/>
        </p:nvSpPr>
        <p:spPr>
          <a:xfrm>
            <a:off x="3583996" y="11362499"/>
            <a:ext cx="364331" cy="139303"/>
          </a:xfrm>
          <a:custGeom>
            <a:avLst/>
            <a:gdLst/>
            <a:ahLst/>
            <a:cxnLst/>
            <a:rect l="l" t="t" r="r" b="b"/>
            <a:pathLst>
              <a:path w="647700" h="247650">
                <a:moveTo>
                  <a:pt x="38101" y="0"/>
                </a:moveTo>
                <a:lnTo>
                  <a:pt x="609599" y="0"/>
                </a:lnTo>
                <a:cubicBezTo>
                  <a:pt x="630642" y="0"/>
                  <a:pt x="647700" y="17058"/>
                  <a:pt x="647700" y="38101"/>
                </a:cubicBezTo>
                <a:lnTo>
                  <a:pt x="647700" y="209549"/>
                </a:lnTo>
                <a:cubicBezTo>
                  <a:pt x="647700" y="230592"/>
                  <a:pt x="630642" y="247650"/>
                  <a:pt x="609599" y="247650"/>
                </a:cubicBezTo>
                <a:lnTo>
                  <a:pt x="38101" y="247650"/>
                </a:lnTo>
                <a:cubicBezTo>
                  <a:pt x="17058" y="247650"/>
                  <a:pt x="0" y="230592"/>
                  <a:pt x="0" y="209549"/>
                </a:cubicBezTo>
                <a:lnTo>
                  <a:pt x="0" y="38101"/>
                </a:lnTo>
                <a:cubicBezTo>
                  <a:pt x="0" y="17058"/>
                  <a:pt x="17058" y="0"/>
                  <a:pt x="38101" y="0"/>
                </a:cubicBezTo>
                <a:close/>
              </a:path>
            </a:pathLst>
          </a:custGeom>
          <a:solidFill>
            <a:srgbClr val="059669">
              <a:alpha val="10196"/>
            </a:srgbClr>
          </a:solidFill>
        </p:spPr>
      </p:sp>
      <p:sp>
        <p:nvSpPr>
          <p:cNvPr id="152" name="Text 149"/>
          <p:cNvSpPr/>
          <p:nvPr/>
        </p:nvSpPr>
        <p:spPr>
          <a:xfrm>
            <a:off x="3564935" y="11333637"/>
            <a:ext cx="440806" cy="184752"/>
          </a:xfrm>
          <a:prstGeom prst="rect">
            <a:avLst/>
          </a:prstGeom>
          <a:noFill/>
        </p:spPr>
        <p:txBody>
          <a:bodyPr wrap="square" lIns="53578" tIns="21431" rIns="53578" bIns="21431" rtlCol="0" anchor="ctr"/>
          <a:lstStyle/>
          <a:p>
            <a:pPr>
              <a:lnSpc>
                <a:spcPct val="130000"/>
              </a:lnSpc>
            </a:pPr>
            <a:r>
              <a:rPr lang="en-US" sz="600" b="1" dirty="0">
                <a:solidFill>
                  <a:srgbClr val="059669"/>
                </a:solidFill>
                <a:latin typeface="MiSans" pitchFamily="34" charset="-122"/>
                <a:ea typeface="MiSans" pitchFamily="34" charset="-122"/>
                <a:cs typeface="MiSans" pitchFamily="34" charset="-120"/>
              </a:rPr>
              <a:t>久期收益</a:t>
            </a:r>
            <a:endParaRPr lang="en-US" sz="1000" dirty="0"/>
          </a:p>
        </p:txBody>
      </p:sp>
      <p:sp>
        <p:nvSpPr>
          <p:cNvPr id="153" name="Shape 150"/>
          <p:cNvSpPr/>
          <p:nvPr/>
        </p:nvSpPr>
        <p:spPr>
          <a:xfrm>
            <a:off x="5086395" y="10402677"/>
            <a:ext cx="1553766" cy="1159967"/>
          </a:xfrm>
          <a:custGeom>
            <a:avLst/>
            <a:gdLst/>
            <a:ahLst/>
            <a:cxnLst/>
            <a:rect l="l" t="t" r="r" b="b"/>
            <a:pathLst>
              <a:path w="2762250" h="2062163">
                <a:moveTo>
                  <a:pt x="114306" y="0"/>
                </a:moveTo>
                <a:lnTo>
                  <a:pt x="2647944" y="0"/>
                </a:lnTo>
                <a:cubicBezTo>
                  <a:pt x="2711074" y="0"/>
                  <a:pt x="2762250" y="51176"/>
                  <a:pt x="2762250" y="114306"/>
                </a:cubicBezTo>
                <a:lnTo>
                  <a:pt x="2762250" y="1947857"/>
                </a:lnTo>
                <a:cubicBezTo>
                  <a:pt x="2762250" y="2010986"/>
                  <a:pt x="2711074" y="2062163"/>
                  <a:pt x="2647944" y="2062163"/>
                </a:cubicBezTo>
                <a:lnTo>
                  <a:pt x="114306" y="2062163"/>
                </a:lnTo>
                <a:cubicBezTo>
                  <a:pt x="51176" y="2062163"/>
                  <a:pt x="0" y="2010986"/>
                  <a:pt x="0" y="1947857"/>
                </a:cubicBezTo>
                <a:lnTo>
                  <a:pt x="0" y="114306"/>
                </a:lnTo>
                <a:cubicBezTo>
                  <a:pt x="0" y="51176"/>
                  <a:pt x="51176" y="0"/>
                  <a:pt x="114306" y="0"/>
                </a:cubicBezTo>
                <a:close/>
              </a:path>
            </a:pathLst>
          </a:custGeom>
          <a:solidFill>
            <a:srgbClr val="FFFFFF"/>
          </a:solidFill>
          <a:ln w="25400">
            <a:solidFill>
              <a:srgbClr val="1E3A5F"/>
            </a:solidFill>
            <a:prstDash val="solid"/>
          </a:ln>
        </p:spPr>
      </p:sp>
      <p:sp>
        <p:nvSpPr>
          <p:cNvPr id="154" name="Shape 151"/>
          <p:cNvSpPr/>
          <p:nvPr/>
        </p:nvSpPr>
        <p:spPr>
          <a:xfrm>
            <a:off x="5174804" y="10499118"/>
            <a:ext cx="214313" cy="214313"/>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E3A5F">
              <a:alpha val="10196"/>
            </a:srgbClr>
          </a:solidFill>
        </p:spPr>
      </p:sp>
      <p:sp>
        <p:nvSpPr>
          <p:cNvPr id="155" name="Text 152"/>
          <p:cNvSpPr/>
          <p:nvPr/>
        </p:nvSpPr>
        <p:spPr>
          <a:xfrm>
            <a:off x="5150694" y="10499118"/>
            <a:ext cx="262533" cy="214313"/>
          </a:xfrm>
          <a:prstGeom prst="rect">
            <a:avLst/>
          </a:prstGeom>
          <a:noFill/>
        </p:spPr>
        <p:txBody>
          <a:bodyPr wrap="square" lIns="0" tIns="0" rIns="0" bIns="0" rtlCol="0" anchor="ctr"/>
          <a:lstStyle/>
          <a:p>
            <a:pPr algn="ctr">
              <a:lnSpc>
                <a:spcPct val="130000"/>
              </a:lnSpc>
            </a:pPr>
            <a:r>
              <a:rPr lang="en-US" sz="760" dirty="0">
                <a:solidFill>
                  <a:srgbClr val="1F2937"/>
                </a:solidFill>
                <a:latin typeface="MiSans" pitchFamily="34" charset="-122"/>
                <a:ea typeface="MiSans" pitchFamily="34" charset="-122"/>
                <a:cs typeface="MiSans" pitchFamily="34" charset="-120"/>
              </a:rPr>
              <a:t>⚡</a:t>
            </a:r>
            <a:endParaRPr lang="en-US" sz="900" dirty="0"/>
          </a:p>
        </p:txBody>
      </p:sp>
      <p:sp>
        <p:nvSpPr>
          <p:cNvPr id="156" name="Text 153"/>
          <p:cNvSpPr/>
          <p:nvPr/>
        </p:nvSpPr>
        <p:spPr>
          <a:xfrm>
            <a:off x="5174804" y="10777719"/>
            <a:ext cx="1414463" cy="107156"/>
          </a:xfrm>
          <a:prstGeom prst="rect">
            <a:avLst/>
          </a:prstGeom>
          <a:noFill/>
        </p:spPr>
        <p:txBody>
          <a:bodyPr wrap="square" lIns="0" tIns="0" rIns="0" bIns="0" rtlCol="0" anchor="ctr"/>
          <a:lstStyle/>
          <a:p>
            <a:pPr>
              <a:lnSpc>
                <a:spcPct val="120000"/>
              </a:lnSpc>
            </a:pPr>
            <a:r>
              <a:rPr lang="en-US" sz="790" b="1" dirty="0">
                <a:solidFill>
                  <a:srgbClr val="1E3A5F"/>
                </a:solidFill>
                <a:latin typeface="MiSans" pitchFamily="34" charset="-122"/>
                <a:ea typeface="MiSans" pitchFamily="34" charset="-122"/>
                <a:cs typeface="MiSans" pitchFamily="34" charset="-120"/>
              </a:rPr>
              <a:t>交易策略</a:t>
            </a:r>
          </a:p>
        </p:txBody>
      </p:sp>
      <p:sp>
        <p:nvSpPr>
          <p:cNvPr id="157" name="Text 154"/>
          <p:cNvSpPr/>
          <p:nvPr/>
        </p:nvSpPr>
        <p:spPr>
          <a:xfrm>
            <a:off x="5174804" y="10927743"/>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波段操作增厚收益</a:t>
            </a:r>
          </a:p>
        </p:txBody>
      </p:sp>
      <p:sp>
        <p:nvSpPr>
          <p:cNvPr id="158" name="Text 155"/>
          <p:cNvSpPr/>
          <p:nvPr/>
        </p:nvSpPr>
        <p:spPr>
          <a:xfrm>
            <a:off x="5174804" y="11028708"/>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择时能力提升回报</a:t>
            </a:r>
          </a:p>
        </p:txBody>
      </p:sp>
      <p:sp>
        <p:nvSpPr>
          <p:cNvPr id="159" name="Text 156"/>
          <p:cNvSpPr/>
          <p:nvPr/>
        </p:nvSpPr>
        <p:spPr>
          <a:xfrm>
            <a:off x="5174804" y="11129673"/>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利率震荡行情应对</a:t>
            </a:r>
          </a:p>
        </p:txBody>
      </p:sp>
      <p:sp>
        <p:nvSpPr>
          <p:cNvPr id="160" name="Text 157"/>
          <p:cNvSpPr/>
          <p:nvPr/>
        </p:nvSpPr>
        <p:spPr>
          <a:xfrm>
            <a:off x="5174804" y="11230638"/>
            <a:ext cx="1409105" cy="85725"/>
          </a:xfrm>
          <a:prstGeom prst="rect">
            <a:avLst/>
          </a:prstGeom>
          <a:noFill/>
        </p:spPr>
        <p:txBody>
          <a:bodyPr wrap="square" lIns="75009" tIns="0" rIns="0" bIns="0" rtlCol="0" anchor="ctr"/>
          <a:lstStyle/>
          <a:p>
            <a:pPr>
              <a:lnSpc>
                <a:spcPct val="110000"/>
              </a:lnSpc>
            </a:pPr>
            <a:r>
              <a:rPr lang="en-US" sz="710" dirty="0">
                <a:solidFill>
                  <a:srgbClr val="6B7280"/>
                </a:solidFill>
                <a:latin typeface="MiSans" pitchFamily="34" charset="-122"/>
                <a:ea typeface="MiSans" pitchFamily="34" charset="-122"/>
                <a:cs typeface="MiSans" pitchFamily="34" charset="-120"/>
              </a:rPr>
              <a:t>灵活调整仓位</a:t>
            </a:r>
          </a:p>
        </p:txBody>
      </p:sp>
      <p:sp>
        <p:nvSpPr>
          <p:cNvPr id="161" name="Shape 158"/>
          <p:cNvSpPr/>
          <p:nvPr/>
        </p:nvSpPr>
        <p:spPr>
          <a:xfrm>
            <a:off x="5193087" y="11353900"/>
            <a:ext cx="364331" cy="139303"/>
          </a:xfrm>
          <a:custGeom>
            <a:avLst/>
            <a:gdLst/>
            <a:ahLst/>
            <a:cxnLst/>
            <a:rect l="l" t="t" r="r" b="b"/>
            <a:pathLst>
              <a:path w="647700" h="247650">
                <a:moveTo>
                  <a:pt x="38101" y="0"/>
                </a:moveTo>
                <a:lnTo>
                  <a:pt x="609599" y="0"/>
                </a:lnTo>
                <a:cubicBezTo>
                  <a:pt x="630642" y="0"/>
                  <a:pt x="647700" y="17058"/>
                  <a:pt x="647700" y="38101"/>
                </a:cubicBezTo>
                <a:lnTo>
                  <a:pt x="647700" y="209549"/>
                </a:lnTo>
                <a:cubicBezTo>
                  <a:pt x="647700" y="230592"/>
                  <a:pt x="630642" y="247650"/>
                  <a:pt x="609599" y="247650"/>
                </a:cubicBezTo>
                <a:lnTo>
                  <a:pt x="38101" y="247650"/>
                </a:lnTo>
                <a:cubicBezTo>
                  <a:pt x="17058" y="247650"/>
                  <a:pt x="0" y="230592"/>
                  <a:pt x="0" y="209549"/>
                </a:cubicBezTo>
                <a:lnTo>
                  <a:pt x="0" y="38101"/>
                </a:lnTo>
                <a:cubicBezTo>
                  <a:pt x="0" y="17058"/>
                  <a:pt x="17058" y="0"/>
                  <a:pt x="38101" y="0"/>
                </a:cubicBezTo>
                <a:close/>
              </a:path>
            </a:pathLst>
          </a:custGeom>
          <a:solidFill>
            <a:srgbClr val="1E3A5F">
              <a:alpha val="10196"/>
            </a:srgbClr>
          </a:solidFill>
        </p:spPr>
      </p:sp>
      <p:sp>
        <p:nvSpPr>
          <p:cNvPr id="162" name="Text 159"/>
          <p:cNvSpPr/>
          <p:nvPr/>
        </p:nvSpPr>
        <p:spPr>
          <a:xfrm>
            <a:off x="5174798" y="11334936"/>
            <a:ext cx="471621" cy="194481"/>
          </a:xfrm>
          <a:prstGeom prst="rect">
            <a:avLst/>
          </a:prstGeom>
          <a:noFill/>
        </p:spPr>
        <p:txBody>
          <a:bodyPr wrap="square" lIns="53578" tIns="21431" rIns="53578" bIns="21431" rtlCol="0" anchor="ctr"/>
          <a:lstStyle/>
          <a:p>
            <a:pPr>
              <a:lnSpc>
                <a:spcPct val="130000"/>
              </a:lnSpc>
            </a:pPr>
            <a:r>
              <a:rPr lang="en-US" sz="600" b="1" dirty="0">
                <a:solidFill>
                  <a:srgbClr val="1E3A5F"/>
                </a:solidFill>
                <a:latin typeface="MiSans" pitchFamily="34" charset="-122"/>
                <a:ea typeface="MiSans" pitchFamily="34" charset="-122"/>
                <a:cs typeface="MiSans" pitchFamily="34" charset="-120"/>
              </a:rPr>
              <a:t>波段收益</a:t>
            </a:r>
            <a:endParaRPr lang="en-US" sz="1000" dirty="0"/>
          </a:p>
        </p:txBody>
      </p:sp>
      <p:sp>
        <p:nvSpPr>
          <p:cNvPr id="163" name="Shape 160"/>
          <p:cNvSpPr/>
          <p:nvPr/>
        </p:nvSpPr>
        <p:spPr>
          <a:xfrm>
            <a:off x="216149" y="11684202"/>
            <a:ext cx="6424017" cy="570140"/>
          </a:xfrm>
          <a:custGeom>
            <a:avLst/>
            <a:gdLst/>
            <a:ahLst/>
            <a:cxnLst/>
            <a:rect l="l" t="t" r="r" b="b"/>
            <a:pathLst>
              <a:path w="11420475" h="904875">
                <a:moveTo>
                  <a:pt x="114304" y="0"/>
                </a:moveTo>
                <a:lnTo>
                  <a:pt x="11306171" y="0"/>
                </a:lnTo>
                <a:cubicBezTo>
                  <a:pt x="11369299" y="0"/>
                  <a:pt x="11420475" y="51176"/>
                  <a:pt x="11420475" y="114304"/>
                </a:cubicBezTo>
                <a:lnTo>
                  <a:pt x="11420475" y="790571"/>
                </a:lnTo>
                <a:cubicBezTo>
                  <a:pt x="11420475" y="853699"/>
                  <a:pt x="11369299" y="904875"/>
                  <a:pt x="11306171" y="904875"/>
                </a:cubicBezTo>
                <a:lnTo>
                  <a:pt x="114304" y="904875"/>
                </a:lnTo>
                <a:cubicBezTo>
                  <a:pt x="51176" y="904875"/>
                  <a:pt x="0" y="853699"/>
                  <a:pt x="0" y="790571"/>
                </a:cubicBezTo>
                <a:lnTo>
                  <a:pt x="0" y="114304"/>
                </a:lnTo>
                <a:cubicBezTo>
                  <a:pt x="0" y="51218"/>
                  <a:pt x="51218" y="0"/>
                  <a:pt x="114304" y="0"/>
                </a:cubicBezTo>
                <a:close/>
              </a:path>
            </a:pathLst>
          </a:custGeom>
          <a:solidFill>
            <a:srgbClr val="C9A227">
              <a:alpha val="5098"/>
            </a:srgbClr>
          </a:solidFill>
          <a:ln w="12700">
            <a:solidFill>
              <a:srgbClr val="C9A227">
                <a:alpha val="20000"/>
              </a:srgbClr>
            </a:solidFill>
            <a:prstDash val="solid"/>
          </a:ln>
        </p:spPr>
      </p:sp>
      <p:sp>
        <p:nvSpPr>
          <p:cNvPr id="164" name="Text 161"/>
          <p:cNvSpPr/>
          <p:nvPr/>
        </p:nvSpPr>
        <p:spPr>
          <a:xfrm>
            <a:off x="304553" y="11852972"/>
            <a:ext cx="198239" cy="171450"/>
          </a:xfrm>
          <a:prstGeom prst="rect">
            <a:avLst/>
          </a:prstGeom>
          <a:noFill/>
        </p:spPr>
        <p:txBody>
          <a:bodyPr wrap="square" lIns="0" tIns="0" rIns="0" bIns="0" rtlCol="0" anchor="ctr"/>
          <a:lstStyle/>
          <a:p>
            <a:pPr>
              <a:lnSpc>
                <a:spcPct val="110000"/>
              </a:lnSpc>
            </a:pPr>
            <a:r>
              <a:rPr lang="en-US" sz="1200" dirty="0">
                <a:solidFill>
                  <a:srgbClr val="1F2937"/>
                </a:solidFill>
                <a:latin typeface="MiSans" pitchFamily="34" charset="-122"/>
                <a:ea typeface="MiSans" pitchFamily="34" charset="-122"/>
                <a:cs typeface="MiSans" pitchFamily="34" charset="-120"/>
              </a:rPr>
              <a:t>💡</a:t>
            </a:r>
          </a:p>
        </p:txBody>
      </p:sp>
      <p:sp>
        <p:nvSpPr>
          <p:cNvPr id="165" name="Text 162"/>
          <p:cNvSpPr/>
          <p:nvPr/>
        </p:nvSpPr>
        <p:spPr>
          <a:xfrm>
            <a:off x="557530" y="11830685"/>
            <a:ext cx="2622550" cy="107315"/>
          </a:xfrm>
          <a:prstGeom prst="rect">
            <a:avLst/>
          </a:prstGeom>
          <a:noFill/>
        </p:spPr>
        <p:txBody>
          <a:bodyPr wrap="square" lIns="0" tIns="0" rIns="0" bIns="0" rtlCol="0" anchor="ctr"/>
          <a:lstStyle/>
          <a:p>
            <a:pPr>
              <a:lnSpc>
                <a:spcPct val="120000"/>
              </a:lnSpc>
            </a:pPr>
            <a:r>
              <a:rPr lang="en-US" sz="1200" b="1" dirty="0">
                <a:solidFill>
                  <a:srgbClr val="1E3A5F"/>
                </a:solidFill>
                <a:latin typeface="MiSans" pitchFamily="34" charset="-122"/>
                <a:ea typeface="MiSans" pitchFamily="34" charset="-122"/>
                <a:cs typeface="MiSans" pitchFamily="34" charset="-120"/>
              </a:rPr>
              <a:t>策略协同效应</a:t>
            </a:r>
          </a:p>
        </p:txBody>
      </p:sp>
      <p:sp>
        <p:nvSpPr>
          <p:cNvPr id="166" name="Text 163"/>
          <p:cNvSpPr/>
          <p:nvPr/>
        </p:nvSpPr>
        <p:spPr>
          <a:xfrm>
            <a:off x="557530" y="11986064"/>
            <a:ext cx="3853976" cy="198391"/>
          </a:xfrm>
          <a:prstGeom prst="rect">
            <a:avLst/>
          </a:prstGeom>
          <a:noFill/>
        </p:spPr>
        <p:txBody>
          <a:bodyPr wrap="square" lIns="0" tIns="0" rIns="0" bIns="0" rtlCol="0" anchor="ctr"/>
          <a:lstStyle/>
          <a:p>
            <a:pPr>
              <a:lnSpc>
                <a:spcPct val="110000"/>
              </a:lnSpc>
            </a:pPr>
            <a:r>
              <a:rPr lang="en-US" sz="800" dirty="0">
                <a:solidFill>
                  <a:srgbClr val="6B7280"/>
                </a:solidFill>
                <a:latin typeface="MiSans" pitchFamily="34" charset="-122"/>
                <a:ea typeface="MiSans" pitchFamily="34" charset="-122"/>
                <a:cs typeface="MiSans" pitchFamily="34" charset="-120"/>
              </a:rPr>
              <a:t>四大策略相互配合，在严控风险的基础上增厚收益，实现风险调整后的最优回报</a:t>
            </a:r>
          </a:p>
        </p:txBody>
      </p:sp>
      <p:sp>
        <p:nvSpPr>
          <p:cNvPr id="168" name="Text 165"/>
          <p:cNvSpPr/>
          <p:nvPr/>
        </p:nvSpPr>
        <p:spPr>
          <a:xfrm>
            <a:off x="5264785" y="11823458"/>
            <a:ext cx="978748" cy="211560"/>
          </a:xfrm>
          <a:prstGeom prst="rect">
            <a:avLst/>
          </a:prstGeom>
          <a:noFill/>
        </p:spPr>
        <p:txBody>
          <a:bodyPr wrap="square" lIns="0" tIns="0" rIns="0" bIns="0" rtlCol="0" anchor="ctr"/>
          <a:lstStyle/>
          <a:p>
            <a:pPr algn="r">
              <a:lnSpc>
                <a:spcPct val="120000"/>
              </a:lnSpc>
            </a:pPr>
            <a:r>
              <a:rPr lang="en-US" b="1" dirty="0">
                <a:solidFill>
                  <a:srgbClr val="C9A227"/>
                </a:solidFill>
                <a:latin typeface="MiSans" pitchFamily="34" charset="-122"/>
                <a:ea typeface="MiSans" pitchFamily="34" charset="-122"/>
                <a:cs typeface="MiSans" pitchFamily="34" charset="-120"/>
              </a:rPr>
              <a:t>80-100%</a:t>
            </a:r>
          </a:p>
        </p:txBody>
      </p:sp>
      <p:sp>
        <p:nvSpPr>
          <p:cNvPr id="169" name="Text 166"/>
          <p:cNvSpPr/>
          <p:nvPr/>
        </p:nvSpPr>
        <p:spPr>
          <a:xfrm>
            <a:off x="5152390" y="12057014"/>
            <a:ext cx="1227516" cy="195554"/>
          </a:xfrm>
          <a:prstGeom prst="rect">
            <a:avLst/>
          </a:prstGeom>
          <a:noFill/>
        </p:spPr>
        <p:txBody>
          <a:bodyPr wrap="square" lIns="0" tIns="0" rIns="0" bIns="0" rtlCol="0" anchor="ctr"/>
          <a:lstStyle/>
          <a:p>
            <a:pPr algn="ctr">
              <a:lnSpc>
                <a:spcPct val="110000"/>
              </a:lnSpc>
            </a:pPr>
            <a:r>
              <a:rPr lang="en-US" sz="900" dirty="0" err="1" smtClean="0">
                <a:solidFill>
                  <a:srgbClr val="6B7280"/>
                </a:solidFill>
                <a:latin typeface="MiSans" pitchFamily="34" charset="-122"/>
                <a:ea typeface="MiSans" pitchFamily="34" charset="-122"/>
                <a:cs typeface="MiSans" pitchFamily="34" charset="-120"/>
              </a:rPr>
              <a:t>信用债</a:t>
            </a:r>
            <a:r>
              <a:rPr lang="zh-CN" altLang="en-US" sz="900" dirty="0" smtClean="0">
                <a:solidFill>
                  <a:srgbClr val="6B7280"/>
                </a:solidFill>
                <a:latin typeface="MiSans" pitchFamily="34" charset="-122"/>
                <a:ea typeface="MiSans" pitchFamily="34" charset="-122"/>
                <a:cs typeface="MiSans" pitchFamily="34" charset="-120"/>
              </a:rPr>
              <a:t>票息策略</a:t>
            </a:r>
            <a:r>
              <a:rPr lang="en-US" sz="900" dirty="0" err="1" smtClean="0">
                <a:solidFill>
                  <a:srgbClr val="6B7280"/>
                </a:solidFill>
                <a:latin typeface="MiSans" pitchFamily="34" charset="-122"/>
                <a:ea typeface="MiSans" pitchFamily="34" charset="-122"/>
                <a:cs typeface="MiSans" pitchFamily="34" charset="-120"/>
              </a:rPr>
              <a:t>配置</a:t>
            </a:r>
            <a:endParaRPr lang="en-US" sz="900" dirty="0">
              <a:solidFill>
                <a:srgbClr val="6B7280"/>
              </a:solidFill>
              <a:latin typeface="MiSans" pitchFamily="34" charset="-122"/>
              <a:ea typeface="MiSans" pitchFamily="34" charset="-122"/>
              <a:cs typeface="MiSans" pitchFamily="34" charset="-120"/>
            </a:endParaRPr>
          </a:p>
        </p:txBody>
      </p:sp>
      <p:sp>
        <p:nvSpPr>
          <p:cNvPr id="170" name="Shape 167"/>
          <p:cNvSpPr/>
          <p:nvPr/>
        </p:nvSpPr>
        <p:spPr>
          <a:xfrm>
            <a:off x="-8673" y="12367327"/>
            <a:ext cx="6865825" cy="4592255"/>
          </a:xfrm>
          <a:custGeom>
            <a:avLst/>
            <a:gdLst/>
            <a:ahLst/>
            <a:cxnLst/>
            <a:rect l="l" t="t" r="r" b="b"/>
            <a:pathLst>
              <a:path w="12192000" h="7991475">
                <a:moveTo>
                  <a:pt x="0" y="0"/>
                </a:moveTo>
                <a:lnTo>
                  <a:pt x="12192000" y="0"/>
                </a:lnTo>
                <a:lnTo>
                  <a:pt x="12192000" y="7991475"/>
                </a:lnTo>
                <a:lnTo>
                  <a:pt x="0" y="7991475"/>
                </a:lnTo>
                <a:lnTo>
                  <a:pt x="0" y="0"/>
                </a:lnTo>
                <a:close/>
              </a:path>
            </a:pathLst>
          </a:custGeom>
          <a:solidFill>
            <a:srgbClr val="EDEDED"/>
          </a:solidFill>
        </p:spPr>
      </p:sp>
      <p:sp>
        <p:nvSpPr>
          <p:cNvPr id="171" name="Text 168"/>
          <p:cNvSpPr/>
          <p:nvPr/>
        </p:nvSpPr>
        <p:spPr>
          <a:xfrm>
            <a:off x="213464" y="12538777"/>
            <a:ext cx="6461522" cy="96441"/>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Investment Team</a:t>
            </a:r>
          </a:p>
        </p:txBody>
      </p:sp>
      <p:sp>
        <p:nvSpPr>
          <p:cNvPr id="172" name="Text 169"/>
          <p:cNvSpPr/>
          <p:nvPr/>
        </p:nvSpPr>
        <p:spPr>
          <a:xfrm>
            <a:off x="213469" y="12667365"/>
            <a:ext cx="6493669" cy="246459"/>
          </a:xfrm>
          <a:prstGeom prst="rect">
            <a:avLst/>
          </a:prstGeom>
          <a:noFill/>
        </p:spPr>
        <p:txBody>
          <a:bodyPr wrap="square" lIns="0" tIns="0" rIns="0" bIns="53578" rtlCol="0" anchor="ctr"/>
          <a:lstStyle/>
          <a:p>
            <a:pPr algn="ctr">
              <a:lnSpc>
                <a:spcPct val="130000"/>
              </a:lnSpc>
            </a:pPr>
            <a:r>
              <a:rPr lang="en-US" sz="1200" b="1" dirty="0">
                <a:solidFill>
                  <a:srgbClr val="1E3A5F"/>
                </a:solidFill>
                <a:latin typeface="MiSans" pitchFamily="34" charset="-122"/>
                <a:ea typeface="MiSans" pitchFamily="34" charset="-122"/>
                <a:cs typeface="MiSans" pitchFamily="34" charset="-120"/>
              </a:rPr>
              <a:t>投研团队介绍</a:t>
            </a:r>
          </a:p>
        </p:txBody>
      </p:sp>
      <p:sp>
        <p:nvSpPr>
          <p:cNvPr id="173" name="Shape 170"/>
          <p:cNvSpPr/>
          <p:nvPr/>
        </p:nvSpPr>
        <p:spPr>
          <a:xfrm>
            <a:off x="198785" y="12907869"/>
            <a:ext cx="6477049" cy="1257643"/>
          </a:xfrm>
          <a:custGeom>
            <a:avLst/>
            <a:gdLst/>
            <a:ahLst/>
            <a:cxnLst/>
            <a:rect l="l" t="t" r="r" b="b"/>
            <a:pathLst>
              <a:path w="11420475" h="2428875">
                <a:moveTo>
                  <a:pt x="152412" y="0"/>
                </a:moveTo>
                <a:lnTo>
                  <a:pt x="11268063" y="0"/>
                </a:lnTo>
                <a:cubicBezTo>
                  <a:pt x="11352238" y="0"/>
                  <a:pt x="11420475" y="68237"/>
                  <a:pt x="11420475" y="152412"/>
                </a:cubicBezTo>
                <a:lnTo>
                  <a:pt x="11420475" y="2276463"/>
                </a:lnTo>
                <a:cubicBezTo>
                  <a:pt x="11420475" y="2360638"/>
                  <a:pt x="11352238" y="2428875"/>
                  <a:pt x="11268063" y="2428875"/>
                </a:cubicBezTo>
                <a:lnTo>
                  <a:pt x="152412" y="2428875"/>
                </a:lnTo>
                <a:cubicBezTo>
                  <a:pt x="68237" y="2428875"/>
                  <a:pt x="0" y="2360638"/>
                  <a:pt x="0" y="2276463"/>
                </a:cubicBezTo>
                <a:lnTo>
                  <a:pt x="0" y="152412"/>
                </a:lnTo>
                <a:cubicBezTo>
                  <a:pt x="0" y="68237"/>
                  <a:pt x="68237" y="0"/>
                  <a:pt x="152412" y="0"/>
                </a:cubicBezTo>
                <a:close/>
              </a:path>
            </a:pathLst>
          </a:custGeom>
          <a:solidFill>
            <a:srgbClr val="FFFFFF"/>
          </a:solidFill>
          <a:ln w="12700">
            <a:solidFill>
              <a:schemeClr val="bg1">
                <a:lumMod val="85000"/>
              </a:schemeClr>
            </a:solidFill>
            <a:prstDash val="solid"/>
          </a:ln>
          <a:effectLst>
            <a:outerShdw blurRad="142875" dist="95250" dir="5400000" algn="bl" rotWithShape="0">
              <a:srgbClr val="000000">
                <a:alpha val="10196"/>
              </a:srgbClr>
            </a:outerShdw>
          </a:effectLst>
        </p:spPr>
      </p:sp>
      <p:sp>
        <p:nvSpPr>
          <p:cNvPr id="174" name="Text 171"/>
          <p:cNvSpPr/>
          <p:nvPr/>
        </p:nvSpPr>
        <p:spPr>
          <a:xfrm>
            <a:off x="363483" y="13082003"/>
            <a:ext cx="6129338" cy="150019"/>
          </a:xfrm>
          <a:prstGeom prst="rect">
            <a:avLst/>
          </a:prstGeom>
          <a:noFill/>
        </p:spPr>
        <p:txBody>
          <a:bodyPr wrap="square" lIns="0" tIns="0" rIns="0" bIns="0" rtlCol="0" anchor="ctr"/>
          <a:lstStyle/>
          <a:p>
            <a:pPr algn="ctr">
              <a:lnSpc>
                <a:spcPct val="120000"/>
              </a:lnSpc>
            </a:pPr>
            <a:r>
              <a:rPr lang="en-US" sz="1050" b="1" dirty="0">
                <a:solidFill>
                  <a:srgbClr val="1E3A5F"/>
                </a:solidFill>
                <a:latin typeface="微软雅黑" panose="020B0503020204020204" pitchFamily="34" charset="-122"/>
                <a:ea typeface="微软雅黑" panose="020B0503020204020204" pitchFamily="34" charset="-122"/>
                <a:cs typeface="MiSans" pitchFamily="34" charset="-120"/>
              </a:rPr>
              <a:t>投研团队核心数据</a:t>
            </a:r>
          </a:p>
        </p:txBody>
      </p:sp>
      <p:sp>
        <p:nvSpPr>
          <p:cNvPr id="175" name="Shape 172"/>
          <p:cNvSpPr/>
          <p:nvPr/>
        </p:nvSpPr>
        <p:spPr>
          <a:xfrm>
            <a:off x="392951" y="13363288"/>
            <a:ext cx="1435894" cy="605433"/>
          </a:xfrm>
          <a:custGeom>
            <a:avLst/>
            <a:gdLst/>
            <a:ahLst/>
            <a:cxnLst/>
            <a:rect l="l" t="t" r="r" b="b"/>
            <a:pathLst>
              <a:path w="2552700" h="1076325">
                <a:moveTo>
                  <a:pt x="114295" y="0"/>
                </a:moveTo>
                <a:lnTo>
                  <a:pt x="2438405" y="0"/>
                </a:lnTo>
                <a:cubicBezTo>
                  <a:pt x="2501528" y="0"/>
                  <a:pt x="2552700" y="51172"/>
                  <a:pt x="2552700" y="114295"/>
                </a:cubicBezTo>
                <a:lnTo>
                  <a:pt x="2552700" y="962030"/>
                </a:lnTo>
                <a:cubicBezTo>
                  <a:pt x="2552700" y="1025153"/>
                  <a:pt x="2501528" y="1076325"/>
                  <a:pt x="2438405" y="1076325"/>
                </a:cubicBezTo>
                <a:lnTo>
                  <a:pt x="114295" y="1076325"/>
                </a:lnTo>
                <a:cubicBezTo>
                  <a:pt x="51172" y="1076325"/>
                  <a:pt x="0" y="1025153"/>
                  <a:pt x="0" y="962030"/>
                </a:cubicBezTo>
                <a:lnTo>
                  <a:pt x="0" y="114295"/>
                </a:lnTo>
                <a:cubicBezTo>
                  <a:pt x="0" y="51214"/>
                  <a:pt x="51214" y="0"/>
                  <a:pt x="114295" y="0"/>
                </a:cubicBezTo>
                <a:close/>
              </a:path>
            </a:pathLst>
          </a:custGeom>
          <a:solidFill>
            <a:srgbClr val="000000">
              <a:alpha val="0"/>
            </a:srgbClr>
          </a:solidFill>
          <a:ln w="12700">
            <a:solidFill>
              <a:schemeClr val="bg1">
                <a:lumMod val="85000"/>
              </a:schemeClr>
            </a:solidFill>
            <a:prstDash val="solid"/>
          </a:ln>
          <a:effectLst/>
        </p:spPr>
      </p:sp>
      <p:sp>
        <p:nvSpPr>
          <p:cNvPr id="176" name="Text 173"/>
          <p:cNvSpPr/>
          <p:nvPr/>
        </p:nvSpPr>
        <p:spPr>
          <a:xfrm>
            <a:off x="470645" y="13473118"/>
            <a:ext cx="1280517" cy="171450"/>
          </a:xfrm>
          <a:prstGeom prst="rect">
            <a:avLst/>
          </a:prstGeom>
          <a:noFill/>
        </p:spPr>
        <p:txBody>
          <a:bodyPr wrap="square" lIns="0" tIns="0" rIns="0" bIns="0" rtlCol="0" anchor="ctr"/>
          <a:lstStyle/>
          <a:p>
            <a:pPr algn="ctr">
              <a:lnSpc>
                <a:spcPct val="110000"/>
              </a:lnSpc>
            </a:pPr>
            <a:r>
              <a:rPr lang="en-US" sz="1400" b="1" dirty="0">
                <a:solidFill>
                  <a:srgbClr val="C00000"/>
                </a:solidFill>
                <a:latin typeface="微软雅黑" panose="020B0503020204020204" pitchFamily="34" charset="-122"/>
                <a:ea typeface="微软雅黑" panose="020B0503020204020204" pitchFamily="34" charset="-122"/>
                <a:cs typeface="MiSans" pitchFamily="34" charset="-120"/>
              </a:rPr>
              <a:t>400亿+</a:t>
            </a:r>
          </a:p>
        </p:txBody>
      </p:sp>
      <p:sp>
        <p:nvSpPr>
          <p:cNvPr id="177" name="Text 174"/>
          <p:cNvSpPr/>
          <p:nvPr/>
        </p:nvSpPr>
        <p:spPr>
          <a:xfrm>
            <a:off x="486713" y="13687430"/>
            <a:ext cx="1248370" cy="171450"/>
          </a:xfrm>
          <a:prstGeom prst="rect">
            <a:avLst/>
          </a:prstGeom>
          <a:noFill/>
        </p:spPr>
        <p:txBody>
          <a:bodyPr wrap="square" lIns="0" tIns="0" rIns="0" bIns="0" rtlCol="0" anchor="ctr"/>
          <a:lstStyle/>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稳鑫系列产品</a:t>
            </a:r>
            <a:endParaRPr lang="en-US" sz="1200" dirty="0">
              <a:latin typeface="微软雅黑" panose="020B0503020204020204" pitchFamily="34" charset="-122"/>
              <a:ea typeface="微软雅黑" panose="020B0503020204020204" pitchFamily="34" charset="-122"/>
            </a:endParaRPr>
          </a:p>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管理规模</a:t>
            </a:r>
          </a:p>
        </p:txBody>
      </p:sp>
      <p:sp>
        <p:nvSpPr>
          <p:cNvPr id="178" name="Shape 175"/>
          <p:cNvSpPr/>
          <p:nvPr/>
        </p:nvSpPr>
        <p:spPr>
          <a:xfrm>
            <a:off x="1938680" y="13363288"/>
            <a:ext cx="1435894" cy="605433"/>
          </a:xfrm>
          <a:custGeom>
            <a:avLst/>
            <a:gdLst/>
            <a:ahLst/>
            <a:cxnLst/>
            <a:rect l="l" t="t" r="r" b="b"/>
            <a:pathLst>
              <a:path w="2552700" h="1076325">
                <a:moveTo>
                  <a:pt x="114295" y="0"/>
                </a:moveTo>
                <a:lnTo>
                  <a:pt x="2438405" y="0"/>
                </a:lnTo>
                <a:cubicBezTo>
                  <a:pt x="2501528" y="0"/>
                  <a:pt x="2552700" y="51172"/>
                  <a:pt x="2552700" y="114295"/>
                </a:cubicBezTo>
                <a:lnTo>
                  <a:pt x="2552700" y="962030"/>
                </a:lnTo>
                <a:cubicBezTo>
                  <a:pt x="2552700" y="1025153"/>
                  <a:pt x="2501528" y="1076325"/>
                  <a:pt x="2438405" y="1076325"/>
                </a:cubicBezTo>
                <a:lnTo>
                  <a:pt x="114295" y="1076325"/>
                </a:lnTo>
                <a:cubicBezTo>
                  <a:pt x="51172" y="1076325"/>
                  <a:pt x="0" y="1025153"/>
                  <a:pt x="0" y="962030"/>
                </a:cubicBezTo>
                <a:lnTo>
                  <a:pt x="0" y="114295"/>
                </a:lnTo>
                <a:cubicBezTo>
                  <a:pt x="0" y="51214"/>
                  <a:pt x="51214" y="0"/>
                  <a:pt x="114295" y="0"/>
                </a:cubicBezTo>
                <a:close/>
              </a:path>
            </a:pathLst>
          </a:custGeom>
          <a:solidFill>
            <a:srgbClr val="000000">
              <a:alpha val="0"/>
            </a:srgbClr>
          </a:solidFill>
          <a:ln w="12700">
            <a:solidFill>
              <a:schemeClr val="bg1">
                <a:lumMod val="85000"/>
              </a:schemeClr>
            </a:solidFill>
            <a:prstDash val="solid"/>
          </a:ln>
          <a:effectLst/>
        </p:spPr>
      </p:sp>
      <p:sp>
        <p:nvSpPr>
          <p:cNvPr id="179" name="Text 176"/>
          <p:cNvSpPr/>
          <p:nvPr/>
        </p:nvSpPr>
        <p:spPr>
          <a:xfrm>
            <a:off x="2016374" y="13473118"/>
            <a:ext cx="1280517" cy="171450"/>
          </a:xfrm>
          <a:prstGeom prst="rect">
            <a:avLst/>
          </a:prstGeom>
          <a:noFill/>
        </p:spPr>
        <p:txBody>
          <a:bodyPr wrap="square" lIns="0" tIns="0" rIns="0" bIns="0" rtlCol="0" anchor="ctr"/>
          <a:lstStyle/>
          <a:p>
            <a:pPr algn="ctr">
              <a:lnSpc>
                <a:spcPct val="110000"/>
              </a:lnSpc>
            </a:pPr>
            <a:r>
              <a:rPr lang="en-US" sz="1400" b="1" dirty="0">
                <a:solidFill>
                  <a:schemeClr val="accent4">
                    <a:lumMod val="75000"/>
                  </a:schemeClr>
                </a:solidFill>
                <a:latin typeface="微软雅黑" panose="020B0503020204020204" pitchFamily="34" charset="-122"/>
                <a:ea typeface="微软雅黑" panose="020B0503020204020204" pitchFamily="34" charset="-122"/>
                <a:cs typeface="MiSans" pitchFamily="34" charset="-120"/>
              </a:rPr>
              <a:t>4年</a:t>
            </a:r>
          </a:p>
        </p:txBody>
      </p:sp>
      <p:sp>
        <p:nvSpPr>
          <p:cNvPr id="180" name="Text 177"/>
          <p:cNvSpPr/>
          <p:nvPr/>
        </p:nvSpPr>
        <p:spPr>
          <a:xfrm>
            <a:off x="2032443" y="13687430"/>
            <a:ext cx="1248370" cy="171450"/>
          </a:xfrm>
          <a:prstGeom prst="rect">
            <a:avLst/>
          </a:prstGeom>
          <a:noFill/>
        </p:spPr>
        <p:txBody>
          <a:bodyPr wrap="square" lIns="0" tIns="0" rIns="0" bIns="0" rtlCol="0" anchor="ctr"/>
          <a:lstStyle/>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主动管理</a:t>
            </a:r>
            <a:endParaRPr lang="en-US" sz="1200" dirty="0">
              <a:latin typeface="微软雅黑" panose="020B0503020204020204" pitchFamily="34" charset="-122"/>
              <a:ea typeface="微软雅黑" panose="020B0503020204020204" pitchFamily="34" charset="-122"/>
            </a:endParaRPr>
          </a:p>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投资经验</a:t>
            </a:r>
          </a:p>
        </p:txBody>
      </p:sp>
      <p:sp>
        <p:nvSpPr>
          <p:cNvPr id="181" name="Shape 178"/>
          <p:cNvSpPr/>
          <p:nvPr/>
        </p:nvSpPr>
        <p:spPr>
          <a:xfrm>
            <a:off x="3484409" y="13363288"/>
            <a:ext cx="1435894" cy="605433"/>
          </a:xfrm>
          <a:custGeom>
            <a:avLst/>
            <a:gdLst/>
            <a:ahLst/>
            <a:cxnLst/>
            <a:rect l="l" t="t" r="r" b="b"/>
            <a:pathLst>
              <a:path w="2552700" h="1076325">
                <a:moveTo>
                  <a:pt x="114295" y="0"/>
                </a:moveTo>
                <a:lnTo>
                  <a:pt x="2438405" y="0"/>
                </a:lnTo>
                <a:cubicBezTo>
                  <a:pt x="2501528" y="0"/>
                  <a:pt x="2552700" y="51172"/>
                  <a:pt x="2552700" y="114295"/>
                </a:cubicBezTo>
                <a:lnTo>
                  <a:pt x="2552700" y="962030"/>
                </a:lnTo>
                <a:cubicBezTo>
                  <a:pt x="2552700" y="1025153"/>
                  <a:pt x="2501528" y="1076325"/>
                  <a:pt x="2438405" y="1076325"/>
                </a:cubicBezTo>
                <a:lnTo>
                  <a:pt x="114295" y="1076325"/>
                </a:lnTo>
                <a:cubicBezTo>
                  <a:pt x="51172" y="1076325"/>
                  <a:pt x="0" y="1025153"/>
                  <a:pt x="0" y="962030"/>
                </a:cubicBezTo>
                <a:lnTo>
                  <a:pt x="0" y="114295"/>
                </a:lnTo>
                <a:cubicBezTo>
                  <a:pt x="0" y="51214"/>
                  <a:pt x="51214" y="0"/>
                  <a:pt x="114295" y="0"/>
                </a:cubicBezTo>
                <a:close/>
              </a:path>
            </a:pathLst>
          </a:custGeom>
          <a:solidFill>
            <a:srgbClr val="000000">
              <a:alpha val="0"/>
            </a:srgbClr>
          </a:solidFill>
          <a:ln w="12700">
            <a:solidFill>
              <a:schemeClr val="bg1">
                <a:lumMod val="85000"/>
              </a:schemeClr>
            </a:solidFill>
            <a:prstDash val="solid"/>
          </a:ln>
          <a:effectLst/>
        </p:spPr>
      </p:sp>
      <p:sp>
        <p:nvSpPr>
          <p:cNvPr id="182" name="Text 179"/>
          <p:cNvSpPr/>
          <p:nvPr/>
        </p:nvSpPr>
        <p:spPr>
          <a:xfrm>
            <a:off x="3562103" y="13473118"/>
            <a:ext cx="1280517" cy="171450"/>
          </a:xfrm>
          <a:prstGeom prst="rect">
            <a:avLst/>
          </a:prstGeom>
          <a:noFill/>
        </p:spPr>
        <p:txBody>
          <a:bodyPr wrap="square" lIns="0" tIns="0" rIns="0" bIns="0" rtlCol="0" anchor="ctr"/>
          <a:lstStyle/>
          <a:p>
            <a:pPr algn="ctr">
              <a:lnSpc>
                <a:spcPct val="110000"/>
              </a:lnSpc>
            </a:pPr>
            <a:r>
              <a:rPr lang="en-US" sz="1400" b="1" dirty="0">
                <a:solidFill>
                  <a:schemeClr val="accent1">
                    <a:lumMod val="75000"/>
                  </a:schemeClr>
                </a:solidFill>
                <a:latin typeface="微软雅黑" panose="020B0503020204020204" pitchFamily="34" charset="-122"/>
                <a:ea typeface="微软雅黑" panose="020B0503020204020204" pitchFamily="34" charset="-122"/>
                <a:cs typeface="MiSans" pitchFamily="34" charset="-120"/>
              </a:rPr>
              <a:t>5家</a:t>
            </a:r>
          </a:p>
        </p:txBody>
      </p:sp>
      <p:sp>
        <p:nvSpPr>
          <p:cNvPr id="183" name="Text 180"/>
          <p:cNvSpPr/>
          <p:nvPr/>
        </p:nvSpPr>
        <p:spPr>
          <a:xfrm>
            <a:off x="3578171" y="13687430"/>
            <a:ext cx="1248370" cy="171450"/>
          </a:xfrm>
          <a:prstGeom prst="rect">
            <a:avLst/>
          </a:prstGeom>
          <a:noFill/>
        </p:spPr>
        <p:txBody>
          <a:bodyPr wrap="square" lIns="0" tIns="0" rIns="0" bIns="0" rtlCol="0" anchor="ctr"/>
          <a:lstStyle/>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长期合作</a:t>
            </a:r>
            <a:endParaRPr lang="en-US" sz="1200" dirty="0">
              <a:latin typeface="微软雅黑" panose="020B0503020204020204" pitchFamily="34" charset="-122"/>
              <a:ea typeface="微软雅黑" panose="020B0503020204020204" pitchFamily="34" charset="-122"/>
            </a:endParaRPr>
          </a:p>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渠道</a:t>
            </a:r>
          </a:p>
        </p:txBody>
      </p:sp>
      <p:sp>
        <p:nvSpPr>
          <p:cNvPr id="184" name="Shape 181"/>
          <p:cNvSpPr/>
          <p:nvPr/>
        </p:nvSpPr>
        <p:spPr>
          <a:xfrm>
            <a:off x="5030138" y="13363288"/>
            <a:ext cx="1435894" cy="605433"/>
          </a:xfrm>
          <a:custGeom>
            <a:avLst/>
            <a:gdLst/>
            <a:ahLst/>
            <a:cxnLst/>
            <a:rect l="l" t="t" r="r" b="b"/>
            <a:pathLst>
              <a:path w="2552700" h="1076325">
                <a:moveTo>
                  <a:pt x="114295" y="0"/>
                </a:moveTo>
                <a:lnTo>
                  <a:pt x="2438405" y="0"/>
                </a:lnTo>
                <a:cubicBezTo>
                  <a:pt x="2501528" y="0"/>
                  <a:pt x="2552700" y="51172"/>
                  <a:pt x="2552700" y="114295"/>
                </a:cubicBezTo>
                <a:lnTo>
                  <a:pt x="2552700" y="962030"/>
                </a:lnTo>
                <a:cubicBezTo>
                  <a:pt x="2552700" y="1025153"/>
                  <a:pt x="2501528" y="1076325"/>
                  <a:pt x="2438405" y="1076325"/>
                </a:cubicBezTo>
                <a:lnTo>
                  <a:pt x="114295" y="1076325"/>
                </a:lnTo>
                <a:cubicBezTo>
                  <a:pt x="51172" y="1076325"/>
                  <a:pt x="0" y="1025153"/>
                  <a:pt x="0" y="962030"/>
                </a:cubicBezTo>
                <a:lnTo>
                  <a:pt x="0" y="114295"/>
                </a:lnTo>
                <a:cubicBezTo>
                  <a:pt x="0" y="51214"/>
                  <a:pt x="51214" y="0"/>
                  <a:pt x="114295" y="0"/>
                </a:cubicBezTo>
                <a:close/>
              </a:path>
            </a:pathLst>
          </a:custGeom>
          <a:solidFill>
            <a:srgbClr val="000000">
              <a:alpha val="0"/>
            </a:srgbClr>
          </a:solidFill>
          <a:ln w="12700">
            <a:solidFill>
              <a:schemeClr val="bg1">
                <a:lumMod val="85000"/>
              </a:schemeClr>
            </a:solidFill>
            <a:prstDash val="solid"/>
          </a:ln>
          <a:effectLst/>
        </p:spPr>
      </p:sp>
      <p:sp>
        <p:nvSpPr>
          <p:cNvPr id="185" name="Text 182"/>
          <p:cNvSpPr/>
          <p:nvPr/>
        </p:nvSpPr>
        <p:spPr>
          <a:xfrm>
            <a:off x="5107832" y="13473118"/>
            <a:ext cx="1280517" cy="171450"/>
          </a:xfrm>
          <a:prstGeom prst="rect">
            <a:avLst/>
          </a:prstGeom>
          <a:noFill/>
        </p:spPr>
        <p:txBody>
          <a:bodyPr wrap="square" lIns="0" tIns="0" rIns="0" bIns="0" rtlCol="0" anchor="ctr"/>
          <a:lstStyle/>
          <a:p>
            <a:pPr algn="ctr">
              <a:lnSpc>
                <a:spcPct val="110000"/>
              </a:lnSpc>
            </a:pPr>
            <a:r>
              <a:rPr lang="en-US" sz="1400" b="1" dirty="0">
                <a:solidFill>
                  <a:schemeClr val="accent3">
                    <a:lumMod val="75000"/>
                  </a:schemeClr>
                </a:solidFill>
                <a:latin typeface="微软雅黑" panose="020B0503020204020204" pitchFamily="34" charset="-122"/>
                <a:ea typeface="微软雅黑" panose="020B0503020204020204" pitchFamily="34" charset="-122"/>
                <a:cs typeface="MiSans" pitchFamily="34" charset="-120"/>
              </a:rPr>
              <a:t>200人</a:t>
            </a:r>
          </a:p>
        </p:txBody>
      </p:sp>
      <p:sp>
        <p:nvSpPr>
          <p:cNvPr id="186" name="Text 183"/>
          <p:cNvSpPr/>
          <p:nvPr/>
        </p:nvSpPr>
        <p:spPr>
          <a:xfrm>
            <a:off x="5123900" y="13687430"/>
            <a:ext cx="1248370" cy="171450"/>
          </a:xfrm>
          <a:prstGeom prst="rect">
            <a:avLst/>
          </a:prstGeom>
          <a:noFill/>
        </p:spPr>
        <p:txBody>
          <a:bodyPr wrap="square" lIns="0" tIns="0" rIns="0" bIns="0" rtlCol="0" anchor="ctr"/>
          <a:lstStyle/>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证券运营</a:t>
            </a:r>
            <a:endParaRPr lang="en-US" sz="1200" dirty="0">
              <a:latin typeface="微软雅黑" panose="020B0503020204020204" pitchFamily="34" charset="-122"/>
              <a:ea typeface="微软雅黑" panose="020B0503020204020204" pitchFamily="34" charset="-122"/>
            </a:endParaRPr>
          </a:p>
          <a:p>
            <a:pPr algn="ctr">
              <a:lnSpc>
                <a:spcPct val="110000"/>
              </a:lnSpc>
            </a:pPr>
            <a:r>
              <a:rPr lang="en-US" sz="710" b="1" dirty="0">
                <a:solidFill>
                  <a:srgbClr val="6B7280"/>
                </a:solidFill>
                <a:latin typeface="微软雅黑" panose="020B0503020204020204" pitchFamily="34" charset="-122"/>
                <a:ea typeface="微软雅黑" panose="020B0503020204020204" pitchFamily="34" charset="-122"/>
                <a:cs typeface="MiSans" pitchFamily="34" charset="-120"/>
              </a:rPr>
              <a:t>服务支持</a:t>
            </a:r>
          </a:p>
        </p:txBody>
      </p:sp>
      <p:grpSp>
        <p:nvGrpSpPr>
          <p:cNvPr id="304" name="组合 303"/>
          <p:cNvGrpSpPr/>
          <p:nvPr/>
        </p:nvGrpSpPr>
        <p:grpSpPr>
          <a:xfrm>
            <a:off x="198784" y="14278209"/>
            <a:ext cx="3251435" cy="1166099"/>
            <a:chOff x="69739" y="14278209"/>
            <a:chExt cx="3269121" cy="1166099"/>
          </a:xfrm>
          <a:effectLst>
            <a:outerShdw blurRad="50800" dist="38100" dir="2700000" algn="tl" rotWithShape="0">
              <a:prstClr val="black">
                <a:alpha val="40000"/>
              </a:prstClr>
            </a:outerShdw>
          </a:effectLst>
        </p:grpSpPr>
        <p:sp>
          <p:nvSpPr>
            <p:cNvPr id="187" name="Shape 184"/>
            <p:cNvSpPr/>
            <p:nvPr/>
          </p:nvSpPr>
          <p:spPr>
            <a:xfrm>
              <a:off x="69739" y="14278209"/>
              <a:ext cx="3269121" cy="1166099"/>
            </a:xfrm>
            <a:custGeom>
              <a:avLst/>
              <a:gdLst/>
              <a:ahLst/>
              <a:cxnLst/>
              <a:rect l="l" t="t" r="r" b="b"/>
              <a:pathLst>
                <a:path w="5629275" h="1914525">
                  <a:moveTo>
                    <a:pt x="114297" y="0"/>
                  </a:moveTo>
                  <a:lnTo>
                    <a:pt x="5514978" y="0"/>
                  </a:lnTo>
                  <a:cubicBezTo>
                    <a:pt x="5578060" y="0"/>
                    <a:pt x="5629275" y="51215"/>
                    <a:pt x="5629275" y="114297"/>
                  </a:cubicBezTo>
                  <a:lnTo>
                    <a:pt x="5629275" y="1800228"/>
                  </a:lnTo>
                  <a:cubicBezTo>
                    <a:pt x="5629275" y="1863310"/>
                    <a:pt x="5578060" y="1914525"/>
                    <a:pt x="5514978" y="1914525"/>
                  </a:cubicBezTo>
                  <a:lnTo>
                    <a:pt x="114297" y="1914525"/>
                  </a:lnTo>
                  <a:cubicBezTo>
                    <a:pt x="51215" y="1914525"/>
                    <a:pt x="0" y="1863310"/>
                    <a:pt x="0" y="1800228"/>
                  </a:cubicBezTo>
                  <a:lnTo>
                    <a:pt x="0" y="114297"/>
                  </a:lnTo>
                  <a:cubicBezTo>
                    <a:pt x="0" y="51215"/>
                    <a:pt x="51215" y="0"/>
                    <a:pt x="114297" y="0"/>
                  </a:cubicBezTo>
                  <a:close/>
                </a:path>
              </a:pathLst>
            </a:custGeom>
            <a:solidFill>
              <a:srgbClr val="FFFFFF"/>
            </a:solidFill>
            <a:ln w="12700">
              <a:solidFill>
                <a:schemeClr val="bg1">
                  <a:lumMod val="85000"/>
                </a:schemeClr>
              </a:solidFill>
              <a:prstDash val="solid"/>
            </a:ln>
          </p:spPr>
        </p:sp>
        <p:sp>
          <p:nvSpPr>
            <p:cNvPr id="188" name="Shape 185"/>
            <p:cNvSpPr/>
            <p:nvPr/>
          </p:nvSpPr>
          <p:spPr>
            <a:xfrm>
              <a:off x="127247" y="14626684"/>
              <a:ext cx="2880000" cy="18000"/>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1F2937"/>
            </a:solidFill>
          </p:spPr>
        </p:sp>
        <p:sp>
          <p:nvSpPr>
            <p:cNvPr id="189" name="Text 186"/>
            <p:cNvSpPr/>
            <p:nvPr/>
          </p:nvSpPr>
          <p:spPr>
            <a:xfrm>
              <a:off x="172096" y="14401439"/>
              <a:ext cx="321469" cy="171450"/>
            </a:xfrm>
            <a:prstGeom prst="rect">
              <a:avLst/>
            </a:prstGeom>
            <a:noFill/>
          </p:spPr>
          <p:txBody>
            <a:bodyPr wrap="square" lIns="0" tIns="0" rIns="0" bIns="0" rtlCol="0" anchor="ctr"/>
            <a:lstStyle/>
            <a:p>
              <a:pPr>
                <a:lnSpc>
                  <a:spcPct val="110000"/>
                </a:lnSpc>
              </a:pPr>
              <a:r>
                <a:rPr lang="en-US" sz="1015" b="1" dirty="0">
                  <a:solidFill>
                    <a:srgbClr val="1E3A5F"/>
                  </a:solidFill>
                  <a:latin typeface="微软雅黑" panose="020B0503020204020204" pitchFamily="34" charset="-122"/>
                  <a:ea typeface="微软雅黑" panose="020B0503020204020204" pitchFamily="34" charset="-122"/>
                  <a:cs typeface="MiSans" pitchFamily="34" charset="-120"/>
                </a:rPr>
                <a:t>徐聪</a:t>
              </a:r>
              <a:endParaRPr lang="en-US" sz="900" dirty="0">
                <a:latin typeface="微软雅黑" panose="020B0503020204020204" pitchFamily="34" charset="-122"/>
                <a:ea typeface="微软雅黑" panose="020B0503020204020204" pitchFamily="34" charset="-122"/>
              </a:endParaRPr>
            </a:p>
          </p:txBody>
        </p:sp>
        <p:sp>
          <p:nvSpPr>
            <p:cNvPr id="190" name="Text 187"/>
            <p:cNvSpPr/>
            <p:nvPr/>
          </p:nvSpPr>
          <p:spPr>
            <a:xfrm>
              <a:off x="2304102" y="14423649"/>
              <a:ext cx="760809" cy="128588"/>
            </a:xfrm>
            <a:prstGeom prst="rect">
              <a:avLst/>
            </a:prstGeom>
            <a:noFill/>
          </p:spPr>
          <p:txBody>
            <a:bodyPr wrap="square" lIns="0" tIns="0" rIns="0" bIns="0" rtlCol="0" anchor="ctr"/>
            <a:lstStyle/>
            <a:p>
              <a:pPr>
                <a:lnSpc>
                  <a:spcPct val="130000"/>
                </a:lnSpc>
              </a:pPr>
              <a:r>
                <a:rPr lang="en-US" sz="680" b="1" kern="0" spc="34" dirty="0">
                  <a:solidFill>
                    <a:srgbClr val="1F2937"/>
                  </a:solidFill>
                  <a:latin typeface="微软雅黑" panose="020B0503020204020204" pitchFamily="34" charset="-122"/>
                  <a:ea typeface="微软雅黑" panose="020B0503020204020204" pitchFamily="34" charset="-122"/>
                  <a:cs typeface="MiSans" pitchFamily="34" charset="-120"/>
                </a:rPr>
                <a:t>固定收益部负责人</a:t>
              </a:r>
            </a:p>
          </p:txBody>
        </p:sp>
        <p:sp>
          <p:nvSpPr>
            <p:cNvPr id="191" name="Text 188"/>
            <p:cNvSpPr/>
            <p:nvPr/>
          </p:nvSpPr>
          <p:spPr>
            <a:xfrm>
              <a:off x="172091" y="14706838"/>
              <a:ext cx="2978944" cy="85725"/>
            </a:xfrm>
            <a:prstGeom prst="rect">
              <a:avLst/>
            </a:prstGeom>
            <a:noFill/>
          </p:spPr>
          <p:txBody>
            <a:bodyPr wrap="square" lIns="0" tIns="0" rIns="0" bIns="0" rtlCol="0" anchor="ctr"/>
            <a:lstStyle/>
            <a:p>
              <a:pPr>
                <a:lnSpc>
                  <a:spcPct val="110000"/>
                </a:lnSpc>
              </a:pPr>
              <a:r>
                <a:rPr lang="en-US" sz="710" b="1" dirty="0">
                  <a:solidFill>
                    <a:srgbClr val="C9A227"/>
                  </a:solidFill>
                  <a:latin typeface="微软雅黑" panose="020B0503020204020204" pitchFamily="34" charset="-122"/>
                  <a:ea typeface="微软雅黑" panose="020B0503020204020204" pitchFamily="34" charset="-122"/>
                  <a:cs typeface="MiSans" pitchFamily="34" charset="-120"/>
                </a:rPr>
                <a:t>对外经济贸易大学金融学硕士</a:t>
              </a:r>
            </a:p>
          </p:txBody>
        </p:sp>
        <p:sp>
          <p:nvSpPr>
            <p:cNvPr id="192" name="Text 189"/>
            <p:cNvSpPr/>
            <p:nvPr/>
          </p:nvSpPr>
          <p:spPr>
            <a:xfrm>
              <a:off x="172091" y="14835425"/>
              <a:ext cx="2844283" cy="309167"/>
            </a:xfrm>
            <a:prstGeom prst="rect">
              <a:avLst/>
            </a:prstGeom>
            <a:noFill/>
          </p:spPr>
          <p:txBody>
            <a:bodyPr wrap="square" lIns="0" tIns="0" rIns="0" bIns="0" rtlCol="0" anchor="ctr"/>
            <a:lstStyle/>
            <a:p>
              <a:pPr>
                <a:lnSpc>
                  <a:spcPct val="140000"/>
                </a:lnSpc>
              </a:pPr>
              <a:r>
                <a:rPr lang="en-US" sz="710" dirty="0">
                  <a:solidFill>
                    <a:srgbClr val="6B7280"/>
                  </a:solidFill>
                  <a:latin typeface="微软雅黑" panose="020B0503020204020204" pitchFamily="34" charset="-122"/>
                  <a:ea typeface="微软雅黑" panose="020B0503020204020204" pitchFamily="34" charset="-122"/>
                  <a:cs typeface="MiSans" pitchFamily="34" charset="-120"/>
                </a:rPr>
                <a:t>曾就职于渤海银行总行金融市场部、渤海证券债券销售交易总部、渤海汇金固定收益部，拥有银行间本币、外汇及上交所黄金交易员资格。</a:t>
              </a:r>
            </a:p>
          </p:txBody>
        </p:sp>
        <p:sp>
          <p:nvSpPr>
            <p:cNvPr id="193" name="Shape 190"/>
            <p:cNvSpPr/>
            <p:nvPr/>
          </p:nvSpPr>
          <p:spPr>
            <a:xfrm>
              <a:off x="193826" y="15216128"/>
              <a:ext cx="433983" cy="144661"/>
            </a:xfrm>
            <a:custGeom>
              <a:avLst/>
              <a:gdLst/>
              <a:ahLst/>
              <a:cxnLst/>
              <a:rect l="l" t="t" r="r" b="b"/>
              <a:pathLst>
                <a:path w="771525" h="257175">
                  <a:moveTo>
                    <a:pt x="38100" y="0"/>
                  </a:moveTo>
                  <a:lnTo>
                    <a:pt x="733425" y="0"/>
                  </a:lnTo>
                  <a:cubicBezTo>
                    <a:pt x="754467" y="0"/>
                    <a:pt x="771525" y="17058"/>
                    <a:pt x="771525" y="38100"/>
                  </a:cubicBezTo>
                  <a:lnTo>
                    <a:pt x="771525" y="219075"/>
                  </a:lnTo>
                  <a:cubicBezTo>
                    <a:pt x="771525" y="240117"/>
                    <a:pt x="754467" y="257175"/>
                    <a:pt x="733425" y="257175"/>
                  </a:cubicBezTo>
                  <a:lnTo>
                    <a:pt x="38100" y="257175"/>
                  </a:lnTo>
                  <a:cubicBezTo>
                    <a:pt x="17058" y="257175"/>
                    <a:pt x="0" y="240117"/>
                    <a:pt x="0" y="219075"/>
                  </a:cubicBezTo>
                  <a:lnTo>
                    <a:pt x="0" y="38100"/>
                  </a:lnTo>
                  <a:cubicBezTo>
                    <a:pt x="0" y="17072"/>
                    <a:pt x="17072" y="0"/>
                    <a:pt x="38100" y="0"/>
                  </a:cubicBezTo>
                  <a:close/>
                </a:path>
              </a:pathLst>
            </a:custGeom>
            <a:solidFill>
              <a:srgbClr val="000000">
                <a:alpha val="0"/>
              </a:srgbClr>
            </a:solidFill>
            <a:ln w="12700">
              <a:solidFill>
                <a:srgbClr val="6B7280"/>
              </a:solidFill>
              <a:prstDash val="solid"/>
            </a:ln>
          </p:spPr>
        </p:sp>
        <p:sp>
          <p:nvSpPr>
            <p:cNvPr id="194" name="Text 191"/>
            <p:cNvSpPr/>
            <p:nvPr/>
          </p:nvSpPr>
          <p:spPr>
            <a:xfrm>
              <a:off x="191142" y="15213449"/>
              <a:ext cx="460772" cy="139303"/>
            </a:xfrm>
            <a:prstGeom prst="rect">
              <a:avLst/>
            </a:prstGeom>
            <a:noFill/>
          </p:spPr>
          <p:txBody>
            <a:bodyPr wrap="square" lIns="53578" tIns="21431" rIns="53578" bIns="21431" rtlCol="0" anchor="ctr"/>
            <a:lstStyle/>
            <a:p>
              <a:pPr>
                <a:lnSpc>
                  <a:spcPct val="130000"/>
                </a:lnSpc>
              </a:pPr>
              <a:r>
                <a:rPr lang="en-US" sz="505" b="1" dirty="0">
                  <a:latin typeface="微软雅黑" panose="020B0503020204020204" pitchFamily="34" charset="-122"/>
                  <a:ea typeface="微软雅黑" panose="020B0503020204020204" pitchFamily="34" charset="-122"/>
                  <a:cs typeface="MiSans" pitchFamily="34" charset="-120"/>
                </a:rPr>
                <a:t>银行间本币</a:t>
              </a:r>
              <a:endParaRPr lang="en-US" sz="900" dirty="0">
                <a:latin typeface="微软雅黑" panose="020B0503020204020204" pitchFamily="34" charset="-122"/>
                <a:ea typeface="微软雅黑" panose="020B0503020204020204" pitchFamily="34" charset="-122"/>
              </a:endParaRPr>
            </a:p>
          </p:txBody>
        </p:sp>
        <p:sp>
          <p:nvSpPr>
            <p:cNvPr id="195" name="Shape 192"/>
            <p:cNvSpPr/>
            <p:nvPr/>
          </p:nvSpPr>
          <p:spPr>
            <a:xfrm>
              <a:off x="665314" y="15216128"/>
              <a:ext cx="369689" cy="144661"/>
            </a:xfrm>
            <a:custGeom>
              <a:avLst/>
              <a:gdLst/>
              <a:ahLst/>
              <a:cxnLst/>
              <a:rect l="l" t="t" r="r" b="b"/>
              <a:pathLst>
                <a:path w="657225" h="257175">
                  <a:moveTo>
                    <a:pt x="38100" y="0"/>
                  </a:moveTo>
                  <a:lnTo>
                    <a:pt x="619125" y="0"/>
                  </a:lnTo>
                  <a:cubicBezTo>
                    <a:pt x="640167" y="0"/>
                    <a:pt x="657225" y="17058"/>
                    <a:pt x="657225" y="38100"/>
                  </a:cubicBezTo>
                  <a:lnTo>
                    <a:pt x="657225" y="219075"/>
                  </a:lnTo>
                  <a:cubicBezTo>
                    <a:pt x="657225" y="240117"/>
                    <a:pt x="640167" y="257175"/>
                    <a:pt x="619125" y="257175"/>
                  </a:cubicBezTo>
                  <a:lnTo>
                    <a:pt x="38100" y="257175"/>
                  </a:lnTo>
                  <a:cubicBezTo>
                    <a:pt x="17058" y="257175"/>
                    <a:pt x="0" y="240117"/>
                    <a:pt x="0" y="219075"/>
                  </a:cubicBezTo>
                  <a:lnTo>
                    <a:pt x="0" y="38100"/>
                  </a:lnTo>
                  <a:cubicBezTo>
                    <a:pt x="0" y="17072"/>
                    <a:pt x="17072" y="0"/>
                    <a:pt x="38100" y="0"/>
                  </a:cubicBezTo>
                  <a:close/>
                </a:path>
              </a:pathLst>
            </a:custGeom>
            <a:solidFill>
              <a:srgbClr val="000000">
                <a:alpha val="0"/>
              </a:srgbClr>
            </a:solidFill>
            <a:ln w="12700">
              <a:solidFill>
                <a:srgbClr val="6B7280"/>
              </a:solidFill>
              <a:prstDash val="solid"/>
            </a:ln>
          </p:spPr>
        </p:sp>
        <p:sp>
          <p:nvSpPr>
            <p:cNvPr id="196" name="Text 193"/>
            <p:cNvSpPr/>
            <p:nvPr/>
          </p:nvSpPr>
          <p:spPr>
            <a:xfrm>
              <a:off x="662629" y="15213449"/>
              <a:ext cx="396478" cy="139303"/>
            </a:xfrm>
            <a:prstGeom prst="rect">
              <a:avLst/>
            </a:prstGeom>
            <a:noFill/>
          </p:spPr>
          <p:txBody>
            <a:bodyPr wrap="square" lIns="53578" tIns="21431" rIns="53578" bIns="21431" rtlCol="0" anchor="ctr"/>
            <a:lstStyle/>
            <a:p>
              <a:pPr>
                <a:lnSpc>
                  <a:spcPct val="130000"/>
                </a:lnSpc>
              </a:pPr>
              <a:r>
                <a:rPr lang="en-US" sz="505" b="1" dirty="0">
                  <a:latin typeface="微软雅黑" panose="020B0503020204020204" pitchFamily="34" charset="-122"/>
                  <a:ea typeface="微软雅黑" panose="020B0503020204020204" pitchFamily="34" charset="-122"/>
                  <a:cs typeface="MiSans" pitchFamily="34" charset="-120"/>
                </a:rPr>
                <a:t>外汇交易</a:t>
              </a:r>
              <a:endParaRPr lang="en-US" sz="900" dirty="0">
                <a:latin typeface="微软雅黑" panose="020B0503020204020204" pitchFamily="34" charset="-122"/>
                <a:ea typeface="微软雅黑" panose="020B0503020204020204" pitchFamily="34" charset="-122"/>
              </a:endParaRPr>
            </a:p>
          </p:txBody>
        </p:sp>
        <p:sp>
          <p:nvSpPr>
            <p:cNvPr id="197" name="Shape 194"/>
            <p:cNvSpPr/>
            <p:nvPr/>
          </p:nvSpPr>
          <p:spPr>
            <a:xfrm>
              <a:off x="1069828" y="15213449"/>
              <a:ext cx="364331" cy="150019"/>
            </a:xfrm>
            <a:custGeom>
              <a:avLst/>
              <a:gdLst/>
              <a:ahLst/>
              <a:cxnLst/>
              <a:rect l="l" t="t" r="r" b="b"/>
              <a:pathLst>
                <a:path w="647700" h="266700">
                  <a:moveTo>
                    <a:pt x="38101" y="0"/>
                  </a:moveTo>
                  <a:lnTo>
                    <a:pt x="609599" y="0"/>
                  </a:lnTo>
                  <a:cubicBezTo>
                    <a:pt x="630642" y="0"/>
                    <a:pt x="647700" y="17058"/>
                    <a:pt x="647700" y="38101"/>
                  </a:cubicBezTo>
                  <a:lnTo>
                    <a:pt x="647700" y="228599"/>
                  </a:lnTo>
                  <a:cubicBezTo>
                    <a:pt x="647700" y="249628"/>
                    <a:pt x="630628" y="266700"/>
                    <a:pt x="609599" y="266700"/>
                  </a:cubicBezTo>
                  <a:lnTo>
                    <a:pt x="38101" y="266700"/>
                  </a:lnTo>
                  <a:cubicBezTo>
                    <a:pt x="17058" y="266700"/>
                    <a:pt x="0" y="249642"/>
                    <a:pt x="0" y="228599"/>
                  </a:cubicBezTo>
                  <a:lnTo>
                    <a:pt x="0" y="38101"/>
                  </a:lnTo>
                  <a:cubicBezTo>
                    <a:pt x="0" y="17072"/>
                    <a:pt x="17072" y="0"/>
                    <a:pt x="38101" y="0"/>
                  </a:cubicBezTo>
                  <a:close/>
                </a:path>
              </a:pathLst>
            </a:custGeom>
            <a:solidFill>
              <a:srgbClr val="1E3A5F"/>
            </a:solidFill>
          </p:spPr>
        </p:sp>
        <p:sp>
          <p:nvSpPr>
            <p:cNvPr id="198" name="Text 195"/>
            <p:cNvSpPr/>
            <p:nvPr/>
          </p:nvSpPr>
          <p:spPr>
            <a:xfrm>
              <a:off x="1069823" y="15213449"/>
              <a:ext cx="396478" cy="150019"/>
            </a:xfrm>
            <a:prstGeom prst="rect">
              <a:avLst/>
            </a:prstGeom>
            <a:noFill/>
          </p:spPr>
          <p:txBody>
            <a:bodyPr wrap="square" lIns="53578" tIns="21431" rIns="53578" bIns="21431" rtlCol="0" anchor="ctr"/>
            <a:lstStyle/>
            <a:p>
              <a:pPr>
                <a:lnSpc>
                  <a:spcPct val="130000"/>
                </a:lnSpc>
              </a:pPr>
              <a:r>
                <a:rPr lang="en-US" sz="505" b="1" dirty="0">
                  <a:solidFill>
                    <a:schemeClr val="bg1"/>
                  </a:solidFill>
                  <a:latin typeface="微软雅黑" panose="020B0503020204020204" pitchFamily="34" charset="-122"/>
                  <a:ea typeface="微软雅黑" panose="020B0503020204020204" pitchFamily="34" charset="-122"/>
                  <a:cs typeface="MiSans" pitchFamily="34" charset="-120"/>
                </a:rPr>
                <a:t>宏观分析</a:t>
              </a:r>
              <a:endParaRPr lang="en-US" sz="900" dirty="0">
                <a:solidFill>
                  <a:schemeClr val="bg1"/>
                </a:solidFill>
                <a:latin typeface="微软雅黑" panose="020B0503020204020204" pitchFamily="34" charset="-122"/>
                <a:ea typeface="微软雅黑" panose="020B0503020204020204" pitchFamily="34" charset="-122"/>
              </a:endParaRPr>
            </a:p>
          </p:txBody>
        </p:sp>
      </p:grpSp>
      <p:grpSp>
        <p:nvGrpSpPr>
          <p:cNvPr id="313" name="组合 312"/>
          <p:cNvGrpSpPr/>
          <p:nvPr/>
        </p:nvGrpSpPr>
        <p:grpSpPr>
          <a:xfrm>
            <a:off x="3527277" y="14278210"/>
            <a:ext cx="3147709" cy="1157286"/>
            <a:chOff x="3527277" y="14278210"/>
            <a:chExt cx="3322047" cy="1157286"/>
          </a:xfrm>
          <a:effectLst>
            <a:outerShdw blurRad="50800" dist="38100" dir="2700000" algn="tl" rotWithShape="0">
              <a:prstClr val="black">
                <a:alpha val="40000"/>
              </a:prstClr>
            </a:outerShdw>
          </a:effectLst>
        </p:grpSpPr>
        <p:sp>
          <p:nvSpPr>
            <p:cNvPr id="199" name="Shape 196"/>
            <p:cNvSpPr/>
            <p:nvPr/>
          </p:nvSpPr>
          <p:spPr>
            <a:xfrm>
              <a:off x="3527277" y="14278210"/>
              <a:ext cx="3322047" cy="1157286"/>
            </a:xfrm>
            <a:custGeom>
              <a:avLst/>
              <a:gdLst/>
              <a:ahLst/>
              <a:cxnLst/>
              <a:rect l="l" t="t" r="r" b="b"/>
              <a:pathLst>
                <a:path w="5629275" h="1914525">
                  <a:moveTo>
                    <a:pt x="114297" y="0"/>
                  </a:moveTo>
                  <a:lnTo>
                    <a:pt x="5514978" y="0"/>
                  </a:lnTo>
                  <a:cubicBezTo>
                    <a:pt x="5578060" y="0"/>
                    <a:pt x="5629275" y="51215"/>
                    <a:pt x="5629275" y="114297"/>
                  </a:cubicBezTo>
                  <a:lnTo>
                    <a:pt x="5629275" y="1800228"/>
                  </a:lnTo>
                  <a:cubicBezTo>
                    <a:pt x="5629275" y="1863310"/>
                    <a:pt x="5578060" y="1914525"/>
                    <a:pt x="5514978" y="1914525"/>
                  </a:cubicBezTo>
                  <a:lnTo>
                    <a:pt x="114297" y="1914525"/>
                  </a:lnTo>
                  <a:cubicBezTo>
                    <a:pt x="51215" y="1914525"/>
                    <a:pt x="0" y="1863310"/>
                    <a:pt x="0" y="1800228"/>
                  </a:cubicBezTo>
                  <a:lnTo>
                    <a:pt x="0" y="114297"/>
                  </a:lnTo>
                  <a:cubicBezTo>
                    <a:pt x="0" y="51215"/>
                    <a:pt x="51215" y="0"/>
                    <a:pt x="114297" y="0"/>
                  </a:cubicBezTo>
                  <a:close/>
                </a:path>
              </a:pathLst>
            </a:custGeom>
            <a:solidFill>
              <a:srgbClr val="FFFFFF"/>
            </a:solidFill>
            <a:ln w="12700">
              <a:solidFill>
                <a:schemeClr val="bg1">
                  <a:lumMod val="85000"/>
                </a:schemeClr>
              </a:solidFill>
              <a:prstDash val="solid"/>
            </a:ln>
          </p:spPr>
        </p:sp>
        <p:sp>
          <p:nvSpPr>
            <p:cNvPr id="200" name="Shape 197"/>
            <p:cNvSpPr/>
            <p:nvPr/>
          </p:nvSpPr>
          <p:spPr>
            <a:xfrm>
              <a:off x="3696082" y="14635684"/>
              <a:ext cx="2880000" cy="18000"/>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1F2937"/>
            </a:solidFill>
          </p:spPr>
        </p:sp>
        <p:sp>
          <p:nvSpPr>
            <p:cNvPr id="201" name="Text 198"/>
            <p:cNvSpPr/>
            <p:nvPr/>
          </p:nvSpPr>
          <p:spPr>
            <a:xfrm>
              <a:off x="3751642" y="14401439"/>
              <a:ext cx="450056" cy="171450"/>
            </a:xfrm>
            <a:prstGeom prst="rect">
              <a:avLst/>
            </a:prstGeom>
            <a:noFill/>
          </p:spPr>
          <p:txBody>
            <a:bodyPr wrap="square" lIns="0" tIns="0" rIns="0" bIns="0" rtlCol="0" anchor="ctr"/>
            <a:lstStyle/>
            <a:p>
              <a:pPr>
                <a:lnSpc>
                  <a:spcPct val="110000"/>
                </a:lnSpc>
              </a:pPr>
              <a:r>
                <a:rPr lang="en-US" sz="1015" b="1" dirty="0">
                  <a:solidFill>
                    <a:srgbClr val="1E3A5F"/>
                  </a:solidFill>
                  <a:latin typeface="微软雅黑" panose="020B0503020204020204" pitchFamily="34" charset="-122"/>
                  <a:ea typeface="微软雅黑" panose="020B0503020204020204" pitchFamily="34" charset="-122"/>
                  <a:cs typeface="MiSans" pitchFamily="34" charset="-120"/>
                </a:rPr>
                <a:t>朱玉润</a:t>
              </a:r>
              <a:endParaRPr lang="en-US" sz="900" dirty="0">
                <a:latin typeface="微软雅黑" panose="020B0503020204020204" pitchFamily="34" charset="-122"/>
                <a:ea typeface="微软雅黑" panose="020B0503020204020204" pitchFamily="34" charset="-122"/>
              </a:endParaRPr>
            </a:p>
          </p:txBody>
        </p:sp>
        <p:sp>
          <p:nvSpPr>
            <p:cNvPr id="202" name="Text 199"/>
            <p:cNvSpPr/>
            <p:nvPr/>
          </p:nvSpPr>
          <p:spPr>
            <a:xfrm>
              <a:off x="6197676" y="14401439"/>
              <a:ext cx="401836" cy="128588"/>
            </a:xfrm>
            <a:prstGeom prst="rect">
              <a:avLst/>
            </a:prstGeom>
            <a:noFill/>
          </p:spPr>
          <p:txBody>
            <a:bodyPr wrap="square" lIns="0" tIns="0" rIns="0" bIns="0" rtlCol="0" anchor="ctr"/>
            <a:lstStyle/>
            <a:p>
              <a:pPr>
                <a:lnSpc>
                  <a:spcPct val="130000"/>
                </a:lnSpc>
              </a:pPr>
              <a:r>
                <a:rPr lang="en-US" sz="675" b="1" kern="0" spc="34" dirty="0">
                  <a:solidFill>
                    <a:srgbClr val="1F2937"/>
                  </a:solidFill>
                  <a:latin typeface="微软雅黑" panose="020B0503020204020204" pitchFamily="34" charset="-122"/>
                  <a:ea typeface="微软雅黑" panose="020B0503020204020204" pitchFamily="34" charset="-122"/>
                  <a:cs typeface="MiSans" pitchFamily="34" charset="-120"/>
                </a:rPr>
                <a:t>投资经理</a:t>
              </a:r>
              <a:endParaRPr lang="en-US" sz="900" dirty="0">
                <a:latin typeface="微软雅黑" panose="020B0503020204020204" pitchFamily="34" charset="-122"/>
                <a:ea typeface="微软雅黑" panose="020B0503020204020204" pitchFamily="34" charset="-122"/>
              </a:endParaRPr>
            </a:p>
          </p:txBody>
        </p:sp>
        <p:sp>
          <p:nvSpPr>
            <p:cNvPr id="203" name="Text 200"/>
            <p:cNvSpPr/>
            <p:nvPr/>
          </p:nvSpPr>
          <p:spPr>
            <a:xfrm>
              <a:off x="3742751" y="14706838"/>
              <a:ext cx="2978944" cy="85725"/>
            </a:xfrm>
            <a:prstGeom prst="rect">
              <a:avLst/>
            </a:prstGeom>
            <a:noFill/>
          </p:spPr>
          <p:txBody>
            <a:bodyPr wrap="square" lIns="0" tIns="0" rIns="0" bIns="0" rtlCol="0" anchor="ctr"/>
            <a:lstStyle/>
            <a:p>
              <a:pPr>
                <a:lnSpc>
                  <a:spcPct val="110000"/>
                </a:lnSpc>
              </a:pPr>
              <a:r>
                <a:rPr lang="en-US" sz="710" b="1" dirty="0">
                  <a:solidFill>
                    <a:srgbClr val="C9A227"/>
                  </a:solidFill>
                  <a:latin typeface="微软雅黑" panose="020B0503020204020204" pitchFamily="34" charset="-122"/>
                  <a:ea typeface="微软雅黑" panose="020B0503020204020204" pitchFamily="34" charset="-122"/>
                  <a:cs typeface="MiSans" pitchFamily="34" charset="-120"/>
                </a:rPr>
                <a:t>英国圣安德鲁斯大学金融学硕士</a:t>
              </a:r>
            </a:p>
          </p:txBody>
        </p:sp>
        <p:sp>
          <p:nvSpPr>
            <p:cNvPr id="204" name="Text 201"/>
            <p:cNvSpPr/>
            <p:nvPr/>
          </p:nvSpPr>
          <p:spPr>
            <a:xfrm>
              <a:off x="3746196" y="14857367"/>
              <a:ext cx="2817744" cy="306214"/>
            </a:xfrm>
            <a:prstGeom prst="rect">
              <a:avLst/>
            </a:prstGeom>
            <a:noFill/>
          </p:spPr>
          <p:txBody>
            <a:bodyPr wrap="square" lIns="0" tIns="0" rIns="0" bIns="0" rtlCol="0" anchor="ctr"/>
            <a:lstStyle/>
            <a:p>
              <a:pPr>
                <a:lnSpc>
                  <a:spcPct val="140000"/>
                </a:lnSpc>
              </a:pPr>
              <a:r>
                <a:rPr lang="en-US" sz="710" dirty="0">
                  <a:solidFill>
                    <a:srgbClr val="6B7280"/>
                  </a:solidFill>
                  <a:latin typeface="微软雅黑" panose="020B0503020204020204" pitchFamily="34" charset="-122"/>
                  <a:ea typeface="微软雅黑" panose="020B0503020204020204" pitchFamily="34" charset="-122"/>
                  <a:cs typeface="MiSans" pitchFamily="34" charset="-120"/>
                </a:rPr>
                <a:t>负责产品投资运作及宏观利率模型搭建，具备全球化投资视野与量化分析能力。</a:t>
              </a:r>
            </a:p>
          </p:txBody>
        </p:sp>
        <p:sp>
          <p:nvSpPr>
            <p:cNvPr id="205" name="Shape 202"/>
            <p:cNvSpPr/>
            <p:nvPr/>
          </p:nvSpPr>
          <p:spPr>
            <a:xfrm>
              <a:off x="3770692" y="15216286"/>
              <a:ext cx="230386" cy="150019"/>
            </a:xfrm>
            <a:custGeom>
              <a:avLst/>
              <a:gdLst/>
              <a:ahLst/>
              <a:cxnLst/>
              <a:rect l="l" t="t" r="r" b="b"/>
              <a:pathLst>
                <a:path w="409575" h="266700">
                  <a:moveTo>
                    <a:pt x="38101" y="0"/>
                  </a:moveTo>
                  <a:lnTo>
                    <a:pt x="371474" y="0"/>
                  </a:lnTo>
                  <a:cubicBezTo>
                    <a:pt x="392517" y="0"/>
                    <a:pt x="409575" y="17058"/>
                    <a:pt x="409575" y="38101"/>
                  </a:cubicBezTo>
                  <a:lnTo>
                    <a:pt x="409575" y="228599"/>
                  </a:lnTo>
                  <a:cubicBezTo>
                    <a:pt x="409575" y="249642"/>
                    <a:pt x="392517" y="266700"/>
                    <a:pt x="371474" y="266700"/>
                  </a:cubicBezTo>
                  <a:lnTo>
                    <a:pt x="38101" y="266700"/>
                  </a:lnTo>
                  <a:cubicBezTo>
                    <a:pt x="17058" y="266700"/>
                    <a:pt x="0" y="249642"/>
                    <a:pt x="0" y="228599"/>
                  </a:cubicBezTo>
                  <a:lnTo>
                    <a:pt x="0" y="38101"/>
                  </a:lnTo>
                  <a:cubicBezTo>
                    <a:pt x="0" y="17072"/>
                    <a:pt x="17072" y="0"/>
                    <a:pt x="38101" y="0"/>
                  </a:cubicBezTo>
                  <a:close/>
                </a:path>
              </a:pathLst>
            </a:custGeom>
            <a:solidFill>
              <a:srgbClr val="1E3A5F"/>
            </a:solidFill>
          </p:spPr>
        </p:sp>
        <p:sp>
          <p:nvSpPr>
            <p:cNvPr id="206" name="Text 203"/>
            <p:cNvSpPr/>
            <p:nvPr/>
          </p:nvSpPr>
          <p:spPr>
            <a:xfrm>
              <a:off x="3761807" y="15213746"/>
              <a:ext cx="262533" cy="150019"/>
            </a:xfrm>
            <a:prstGeom prst="rect">
              <a:avLst/>
            </a:prstGeom>
            <a:noFill/>
          </p:spPr>
          <p:txBody>
            <a:bodyPr wrap="square" lIns="53578" tIns="21431" rIns="53578" bIns="21431" rtlCol="0" anchor="ctr"/>
            <a:lstStyle/>
            <a:p>
              <a:pPr>
                <a:lnSpc>
                  <a:spcPct val="130000"/>
                </a:lnSpc>
              </a:pPr>
              <a:r>
                <a:rPr lang="en-US" sz="505" b="1" dirty="0">
                  <a:solidFill>
                    <a:schemeClr val="bg1"/>
                  </a:solidFill>
                  <a:latin typeface="微软雅黑" panose="020B0503020204020204" pitchFamily="34" charset="-122"/>
                  <a:ea typeface="微软雅黑" panose="020B0503020204020204" pitchFamily="34" charset="-122"/>
                  <a:cs typeface="MiSans" pitchFamily="34" charset="-120"/>
                </a:rPr>
                <a:t>CFA</a:t>
              </a:r>
              <a:endParaRPr lang="en-US" sz="900" dirty="0">
                <a:solidFill>
                  <a:schemeClr val="bg1"/>
                </a:solidFill>
                <a:latin typeface="微软雅黑" panose="020B0503020204020204" pitchFamily="34" charset="-122"/>
                <a:ea typeface="微软雅黑" panose="020B0503020204020204" pitchFamily="34" charset="-122"/>
              </a:endParaRPr>
            </a:p>
          </p:txBody>
        </p:sp>
        <p:sp>
          <p:nvSpPr>
            <p:cNvPr id="207" name="Shape 204"/>
            <p:cNvSpPr/>
            <p:nvPr/>
          </p:nvSpPr>
          <p:spPr>
            <a:xfrm>
              <a:off x="4049194" y="15227220"/>
              <a:ext cx="369689" cy="144661"/>
            </a:xfrm>
            <a:custGeom>
              <a:avLst/>
              <a:gdLst/>
              <a:ahLst/>
              <a:cxnLst/>
              <a:rect l="l" t="t" r="r" b="b"/>
              <a:pathLst>
                <a:path w="657225" h="257175">
                  <a:moveTo>
                    <a:pt x="38100" y="0"/>
                  </a:moveTo>
                  <a:lnTo>
                    <a:pt x="619125" y="0"/>
                  </a:lnTo>
                  <a:cubicBezTo>
                    <a:pt x="640167" y="0"/>
                    <a:pt x="657225" y="17058"/>
                    <a:pt x="657225" y="38100"/>
                  </a:cubicBezTo>
                  <a:lnTo>
                    <a:pt x="657225" y="219075"/>
                  </a:lnTo>
                  <a:cubicBezTo>
                    <a:pt x="657225" y="240117"/>
                    <a:pt x="640167" y="257175"/>
                    <a:pt x="619125" y="257175"/>
                  </a:cubicBezTo>
                  <a:lnTo>
                    <a:pt x="38100" y="257175"/>
                  </a:lnTo>
                  <a:cubicBezTo>
                    <a:pt x="17058" y="257175"/>
                    <a:pt x="0" y="240117"/>
                    <a:pt x="0" y="219075"/>
                  </a:cubicBezTo>
                  <a:lnTo>
                    <a:pt x="0" y="38100"/>
                  </a:lnTo>
                  <a:cubicBezTo>
                    <a:pt x="0" y="17072"/>
                    <a:pt x="17072" y="0"/>
                    <a:pt x="38100" y="0"/>
                  </a:cubicBezTo>
                  <a:close/>
                </a:path>
              </a:pathLst>
            </a:custGeom>
            <a:solidFill>
              <a:srgbClr val="000000">
                <a:alpha val="0"/>
              </a:srgbClr>
            </a:solidFill>
            <a:ln w="12700">
              <a:solidFill>
                <a:srgbClr val="6B7280"/>
              </a:solidFill>
              <a:prstDash val="solid"/>
            </a:ln>
          </p:spPr>
        </p:sp>
        <p:sp>
          <p:nvSpPr>
            <p:cNvPr id="208" name="Text 205"/>
            <p:cNvSpPr/>
            <p:nvPr/>
          </p:nvSpPr>
          <p:spPr>
            <a:xfrm>
              <a:off x="4049051" y="15227081"/>
              <a:ext cx="396478" cy="139303"/>
            </a:xfrm>
            <a:prstGeom prst="rect">
              <a:avLst/>
            </a:prstGeom>
            <a:noFill/>
          </p:spPr>
          <p:txBody>
            <a:bodyPr wrap="square" lIns="53578" tIns="21431" rIns="53578" bIns="21431" rtlCol="0" anchor="ctr"/>
            <a:lstStyle/>
            <a:p>
              <a:pPr>
                <a:lnSpc>
                  <a:spcPct val="130000"/>
                </a:lnSpc>
              </a:pPr>
              <a:r>
                <a:rPr lang="en-US" sz="505" b="1" dirty="0">
                  <a:latin typeface="微软雅黑" panose="020B0503020204020204" pitchFamily="34" charset="-122"/>
                  <a:ea typeface="微软雅黑" panose="020B0503020204020204" pitchFamily="34" charset="-122"/>
                  <a:cs typeface="MiSans" pitchFamily="34" charset="-120"/>
                </a:rPr>
                <a:t>利率模型</a:t>
              </a:r>
              <a:endParaRPr lang="en-US" sz="900" dirty="0">
                <a:latin typeface="微软雅黑" panose="020B0503020204020204" pitchFamily="34" charset="-122"/>
                <a:ea typeface="微软雅黑" panose="020B0503020204020204" pitchFamily="34" charset="-122"/>
              </a:endParaRPr>
            </a:p>
          </p:txBody>
        </p:sp>
      </p:grpSp>
      <p:grpSp>
        <p:nvGrpSpPr>
          <p:cNvPr id="311" name="组合 310"/>
          <p:cNvGrpSpPr/>
          <p:nvPr/>
        </p:nvGrpSpPr>
        <p:grpSpPr>
          <a:xfrm>
            <a:off x="185306" y="15560946"/>
            <a:ext cx="3264914" cy="1176971"/>
            <a:chOff x="62506" y="15560946"/>
            <a:chExt cx="3276354" cy="1176971"/>
          </a:xfrm>
          <a:effectLst>
            <a:outerShdw blurRad="50800" dist="38100" dir="2700000" algn="tl" rotWithShape="0">
              <a:prstClr val="black">
                <a:alpha val="40000"/>
              </a:prstClr>
            </a:outerShdw>
          </a:effectLst>
        </p:grpSpPr>
        <p:sp>
          <p:nvSpPr>
            <p:cNvPr id="209" name="Shape 206"/>
            <p:cNvSpPr/>
            <p:nvPr/>
          </p:nvSpPr>
          <p:spPr>
            <a:xfrm>
              <a:off x="62506" y="15560946"/>
              <a:ext cx="3276354" cy="1176971"/>
            </a:xfrm>
            <a:custGeom>
              <a:avLst/>
              <a:gdLst/>
              <a:ahLst/>
              <a:cxnLst/>
              <a:rect l="l" t="t" r="r" b="b"/>
              <a:pathLst>
                <a:path w="5629275" h="1733550">
                  <a:moveTo>
                    <a:pt x="114293" y="0"/>
                  </a:moveTo>
                  <a:lnTo>
                    <a:pt x="5514982" y="0"/>
                  </a:lnTo>
                  <a:cubicBezTo>
                    <a:pt x="5578104" y="0"/>
                    <a:pt x="5629275" y="51171"/>
                    <a:pt x="5629275" y="114293"/>
                  </a:cubicBezTo>
                  <a:lnTo>
                    <a:pt x="5629275" y="1619257"/>
                  </a:lnTo>
                  <a:cubicBezTo>
                    <a:pt x="5629275" y="1682379"/>
                    <a:pt x="5578104" y="1733550"/>
                    <a:pt x="5514982" y="1733550"/>
                  </a:cubicBezTo>
                  <a:lnTo>
                    <a:pt x="114293" y="1733550"/>
                  </a:lnTo>
                  <a:cubicBezTo>
                    <a:pt x="51171" y="1733550"/>
                    <a:pt x="0" y="1682379"/>
                    <a:pt x="0" y="1619257"/>
                  </a:cubicBezTo>
                  <a:lnTo>
                    <a:pt x="0" y="114293"/>
                  </a:lnTo>
                  <a:cubicBezTo>
                    <a:pt x="0" y="51171"/>
                    <a:pt x="51171" y="0"/>
                    <a:pt x="114293" y="0"/>
                  </a:cubicBezTo>
                  <a:close/>
                </a:path>
              </a:pathLst>
            </a:custGeom>
            <a:solidFill>
              <a:srgbClr val="FFFFFF"/>
            </a:solidFill>
            <a:ln w="12700">
              <a:solidFill>
                <a:schemeClr val="bg1">
                  <a:lumMod val="85000"/>
                </a:schemeClr>
              </a:solidFill>
              <a:prstDash val="solid"/>
            </a:ln>
          </p:spPr>
        </p:sp>
        <p:sp>
          <p:nvSpPr>
            <p:cNvPr id="210" name="Shape 207"/>
            <p:cNvSpPr/>
            <p:nvPr/>
          </p:nvSpPr>
          <p:spPr>
            <a:xfrm flipV="1">
              <a:off x="127247" y="15863745"/>
              <a:ext cx="2880000" cy="18000"/>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1F2937"/>
            </a:solidFill>
          </p:spPr>
        </p:sp>
        <p:sp>
          <p:nvSpPr>
            <p:cNvPr id="211" name="Text 208"/>
            <p:cNvSpPr/>
            <p:nvPr/>
          </p:nvSpPr>
          <p:spPr>
            <a:xfrm>
              <a:off x="172096" y="15671042"/>
              <a:ext cx="321469" cy="171450"/>
            </a:xfrm>
            <a:prstGeom prst="rect">
              <a:avLst/>
            </a:prstGeom>
            <a:noFill/>
          </p:spPr>
          <p:txBody>
            <a:bodyPr wrap="square" lIns="0" tIns="0" rIns="0" bIns="0" rtlCol="0" anchor="ctr"/>
            <a:lstStyle/>
            <a:p>
              <a:pPr>
                <a:lnSpc>
                  <a:spcPct val="110000"/>
                </a:lnSpc>
              </a:pPr>
              <a:r>
                <a:rPr lang="en-US" sz="1015" b="1" dirty="0">
                  <a:solidFill>
                    <a:srgbClr val="1E3A5F"/>
                  </a:solidFill>
                  <a:latin typeface="微软雅黑" panose="020B0503020204020204" pitchFamily="34" charset="-122"/>
                  <a:ea typeface="微软雅黑" panose="020B0503020204020204" pitchFamily="34" charset="-122"/>
                  <a:cs typeface="MiSans" pitchFamily="34" charset="-120"/>
                </a:rPr>
                <a:t>沈城</a:t>
              </a:r>
              <a:endParaRPr lang="en-US" sz="900" dirty="0">
                <a:latin typeface="微软雅黑" panose="020B0503020204020204" pitchFamily="34" charset="-122"/>
                <a:ea typeface="微软雅黑" panose="020B0503020204020204" pitchFamily="34" charset="-122"/>
              </a:endParaRPr>
            </a:p>
          </p:txBody>
        </p:sp>
        <p:sp>
          <p:nvSpPr>
            <p:cNvPr id="212" name="Text 209"/>
            <p:cNvSpPr/>
            <p:nvPr/>
          </p:nvSpPr>
          <p:spPr>
            <a:xfrm>
              <a:off x="2614538" y="15679855"/>
              <a:ext cx="401836" cy="128588"/>
            </a:xfrm>
            <a:prstGeom prst="rect">
              <a:avLst/>
            </a:prstGeom>
            <a:noFill/>
          </p:spPr>
          <p:txBody>
            <a:bodyPr wrap="square" lIns="0" tIns="0" rIns="0" bIns="0" rtlCol="0" anchor="ctr"/>
            <a:lstStyle/>
            <a:p>
              <a:pPr>
                <a:lnSpc>
                  <a:spcPct val="130000"/>
                </a:lnSpc>
              </a:pPr>
              <a:r>
                <a:rPr lang="en-US" sz="675" b="1" kern="0" spc="34" dirty="0">
                  <a:solidFill>
                    <a:srgbClr val="1F2937"/>
                  </a:solidFill>
                  <a:latin typeface="微软雅黑" panose="020B0503020204020204" pitchFamily="34" charset="-122"/>
                  <a:ea typeface="微软雅黑" panose="020B0503020204020204" pitchFamily="34" charset="-122"/>
                  <a:cs typeface="MiSans" pitchFamily="34" charset="-120"/>
                </a:rPr>
                <a:t>投资经理</a:t>
              </a:r>
              <a:endParaRPr lang="en-US" sz="900" dirty="0">
                <a:latin typeface="微软雅黑" panose="020B0503020204020204" pitchFamily="34" charset="-122"/>
                <a:ea typeface="微软雅黑" panose="020B0503020204020204" pitchFamily="34" charset="-122"/>
              </a:endParaRPr>
            </a:p>
          </p:txBody>
        </p:sp>
        <p:sp>
          <p:nvSpPr>
            <p:cNvPr id="213" name="Text 210"/>
            <p:cNvSpPr/>
            <p:nvPr/>
          </p:nvSpPr>
          <p:spPr>
            <a:xfrm>
              <a:off x="172091" y="15976441"/>
              <a:ext cx="2978944" cy="85725"/>
            </a:xfrm>
            <a:prstGeom prst="rect">
              <a:avLst/>
            </a:prstGeom>
            <a:noFill/>
          </p:spPr>
          <p:txBody>
            <a:bodyPr wrap="square" lIns="0" tIns="0" rIns="0" bIns="0" rtlCol="0" anchor="ctr"/>
            <a:lstStyle/>
            <a:p>
              <a:pPr>
                <a:lnSpc>
                  <a:spcPct val="110000"/>
                </a:lnSpc>
              </a:pPr>
              <a:r>
                <a:rPr lang="en-US" sz="710" b="1" dirty="0">
                  <a:solidFill>
                    <a:srgbClr val="C9A227"/>
                  </a:solidFill>
                  <a:latin typeface="微软雅黑" panose="020B0503020204020204" pitchFamily="34" charset="-122"/>
                  <a:ea typeface="微软雅黑" panose="020B0503020204020204" pitchFamily="34" charset="-122"/>
                  <a:cs typeface="MiSans" pitchFamily="34" charset="-120"/>
                </a:rPr>
                <a:t>清华大学金融硕士 | 11年从业经验</a:t>
              </a:r>
            </a:p>
          </p:txBody>
        </p:sp>
        <p:sp>
          <p:nvSpPr>
            <p:cNvPr id="214" name="Text 211"/>
            <p:cNvSpPr/>
            <p:nvPr/>
          </p:nvSpPr>
          <p:spPr>
            <a:xfrm>
              <a:off x="172091" y="16105025"/>
              <a:ext cx="2844283" cy="310518"/>
            </a:xfrm>
            <a:prstGeom prst="rect">
              <a:avLst/>
            </a:prstGeom>
            <a:noFill/>
          </p:spPr>
          <p:txBody>
            <a:bodyPr wrap="square" lIns="0" tIns="0" rIns="0" bIns="0" rtlCol="0" anchor="ctr"/>
            <a:lstStyle/>
            <a:p>
              <a:pPr>
                <a:lnSpc>
                  <a:spcPct val="140000"/>
                </a:lnSpc>
              </a:pPr>
              <a:r>
                <a:rPr lang="en-US" sz="710" dirty="0">
                  <a:solidFill>
                    <a:srgbClr val="6B7280"/>
                  </a:solidFill>
                  <a:latin typeface="微软雅黑" panose="020B0503020204020204" pitchFamily="34" charset="-122"/>
                  <a:ea typeface="微软雅黑" panose="020B0503020204020204" pitchFamily="34" charset="-122"/>
                  <a:cs typeface="MiSans" pitchFamily="34" charset="-120"/>
                </a:rPr>
                <a:t>曾就职于联合信用，负责产品投资运作管理工作，深耕信用研究领域。</a:t>
              </a:r>
            </a:p>
          </p:txBody>
        </p:sp>
        <p:sp>
          <p:nvSpPr>
            <p:cNvPr id="215" name="Shape 212"/>
            <p:cNvSpPr/>
            <p:nvPr/>
          </p:nvSpPr>
          <p:spPr>
            <a:xfrm>
              <a:off x="190512" y="16478270"/>
              <a:ext cx="364331" cy="150019"/>
            </a:xfrm>
            <a:custGeom>
              <a:avLst/>
              <a:gdLst/>
              <a:ahLst/>
              <a:cxnLst/>
              <a:rect l="l" t="t" r="r" b="b"/>
              <a:pathLst>
                <a:path w="647700" h="266700">
                  <a:moveTo>
                    <a:pt x="38101" y="0"/>
                  </a:moveTo>
                  <a:lnTo>
                    <a:pt x="609599" y="0"/>
                  </a:lnTo>
                  <a:cubicBezTo>
                    <a:pt x="630642" y="0"/>
                    <a:pt x="647700" y="17058"/>
                    <a:pt x="647700" y="38101"/>
                  </a:cubicBezTo>
                  <a:lnTo>
                    <a:pt x="647700" y="228599"/>
                  </a:lnTo>
                  <a:cubicBezTo>
                    <a:pt x="647700" y="249628"/>
                    <a:pt x="630628" y="266700"/>
                    <a:pt x="609599" y="266700"/>
                  </a:cubicBezTo>
                  <a:lnTo>
                    <a:pt x="38101" y="266700"/>
                  </a:lnTo>
                  <a:cubicBezTo>
                    <a:pt x="17058" y="266700"/>
                    <a:pt x="0" y="249642"/>
                    <a:pt x="0" y="228599"/>
                  </a:cubicBezTo>
                  <a:lnTo>
                    <a:pt x="0" y="38101"/>
                  </a:lnTo>
                  <a:cubicBezTo>
                    <a:pt x="0" y="17072"/>
                    <a:pt x="17072" y="0"/>
                    <a:pt x="38101" y="0"/>
                  </a:cubicBezTo>
                  <a:close/>
                </a:path>
              </a:pathLst>
            </a:custGeom>
            <a:solidFill>
              <a:srgbClr val="1E3A5F"/>
            </a:solidFill>
          </p:spPr>
        </p:sp>
        <p:sp>
          <p:nvSpPr>
            <p:cNvPr id="216" name="Text 213"/>
            <p:cNvSpPr/>
            <p:nvPr/>
          </p:nvSpPr>
          <p:spPr>
            <a:xfrm>
              <a:off x="190507" y="16478270"/>
              <a:ext cx="396478" cy="150019"/>
            </a:xfrm>
            <a:prstGeom prst="rect">
              <a:avLst/>
            </a:prstGeom>
            <a:noFill/>
          </p:spPr>
          <p:txBody>
            <a:bodyPr wrap="square" lIns="53578" tIns="21431" rIns="53578" bIns="21431" rtlCol="0" anchor="ctr"/>
            <a:lstStyle/>
            <a:p>
              <a:pPr>
                <a:lnSpc>
                  <a:spcPct val="130000"/>
                </a:lnSpc>
              </a:pPr>
              <a:r>
                <a:rPr lang="en-US" sz="505" b="1" dirty="0">
                  <a:solidFill>
                    <a:srgbClr val="FFFFFF"/>
                  </a:solidFill>
                  <a:latin typeface="微软雅黑" panose="020B0503020204020204" pitchFamily="34" charset="-122"/>
                  <a:ea typeface="微软雅黑" panose="020B0503020204020204" pitchFamily="34" charset="-122"/>
                  <a:cs typeface="MiSans" pitchFamily="34" charset="-120"/>
                </a:rPr>
                <a:t>信用研究</a:t>
              </a:r>
              <a:endParaRPr lang="en-US" sz="900" dirty="0">
                <a:latin typeface="微软雅黑" panose="020B0503020204020204" pitchFamily="34" charset="-122"/>
                <a:ea typeface="微软雅黑" panose="020B0503020204020204" pitchFamily="34" charset="-122"/>
              </a:endParaRPr>
            </a:p>
          </p:txBody>
        </p:sp>
        <p:sp>
          <p:nvSpPr>
            <p:cNvPr id="217" name="Shape 214"/>
            <p:cNvSpPr/>
            <p:nvPr/>
          </p:nvSpPr>
          <p:spPr>
            <a:xfrm>
              <a:off x="589669" y="16480948"/>
              <a:ext cx="369689" cy="144661"/>
            </a:xfrm>
            <a:custGeom>
              <a:avLst/>
              <a:gdLst/>
              <a:ahLst/>
              <a:cxnLst/>
              <a:rect l="l" t="t" r="r" b="b"/>
              <a:pathLst>
                <a:path w="657225" h="257175">
                  <a:moveTo>
                    <a:pt x="38100" y="0"/>
                  </a:moveTo>
                  <a:lnTo>
                    <a:pt x="619125" y="0"/>
                  </a:lnTo>
                  <a:cubicBezTo>
                    <a:pt x="640167" y="0"/>
                    <a:pt x="657225" y="17058"/>
                    <a:pt x="657225" y="38100"/>
                  </a:cubicBezTo>
                  <a:lnTo>
                    <a:pt x="657225" y="219075"/>
                  </a:lnTo>
                  <a:cubicBezTo>
                    <a:pt x="657225" y="240117"/>
                    <a:pt x="640167" y="257175"/>
                    <a:pt x="619125" y="257175"/>
                  </a:cubicBezTo>
                  <a:lnTo>
                    <a:pt x="38100" y="257175"/>
                  </a:lnTo>
                  <a:cubicBezTo>
                    <a:pt x="17058" y="257175"/>
                    <a:pt x="0" y="240117"/>
                    <a:pt x="0" y="219075"/>
                  </a:cubicBezTo>
                  <a:lnTo>
                    <a:pt x="0" y="38100"/>
                  </a:lnTo>
                  <a:cubicBezTo>
                    <a:pt x="0" y="17072"/>
                    <a:pt x="17072" y="0"/>
                    <a:pt x="38100" y="0"/>
                  </a:cubicBezTo>
                  <a:close/>
                </a:path>
              </a:pathLst>
            </a:custGeom>
            <a:solidFill>
              <a:srgbClr val="000000">
                <a:alpha val="0"/>
              </a:srgbClr>
            </a:solidFill>
            <a:ln w="12700">
              <a:solidFill>
                <a:srgbClr val="6B7280"/>
              </a:solidFill>
              <a:prstDash val="solid"/>
            </a:ln>
          </p:spPr>
        </p:sp>
        <p:sp>
          <p:nvSpPr>
            <p:cNvPr id="218" name="Text 215"/>
            <p:cNvSpPr/>
            <p:nvPr/>
          </p:nvSpPr>
          <p:spPr>
            <a:xfrm>
              <a:off x="586985" y="16478270"/>
              <a:ext cx="396478" cy="139303"/>
            </a:xfrm>
            <a:prstGeom prst="rect">
              <a:avLst/>
            </a:prstGeom>
            <a:noFill/>
          </p:spPr>
          <p:txBody>
            <a:bodyPr wrap="square" lIns="53578" tIns="21431" rIns="53578" bIns="21431" rtlCol="0" anchor="ctr"/>
            <a:lstStyle/>
            <a:p>
              <a:pPr>
                <a:lnSpc>
                  <a:spcPct val="130000"/>
                </a:lnSpc>
              </a:pPr>
              <a:r>
                <a:rPr lang="en-US" sz="505" b="1" dirty="0">
                  <a:latin typeface="微软雅黑" panose="020B0503020204020204" pitchFamily="34" charset="-122"/>
                  <a:ea typeface="微软雅黑" panose="020B0503020204020204" pitchFamily="34" charset="-122"/>
                  <a:cs typeface="MiSans" pitchFamily="34" charset="-120"/>
                </a:rPr>
                <a:t>风险管理</a:t>
              </a:r>
              <a:endParaRPr lang="en-US" sz="900" dirty="0">
                <a:latin typeface="微软雅黑" panose="020B0503020204020204" pitchFamily="34" charset="-122"/>
                <a:ea typeface="微软雅黑" panose="020B0503020204020204" pitchFamily="34" charset="-122"/>
              </a:endParaRPr>
            </a:p>
          </p:txBody>
        </p:sp>
      </p:grpSp>
      <p:sp>
        <p:nvSpPr>
          <p:cNvPr id="232" name="Text 229"/>
          <p:cNvSpPr/>
          <p:nvPr/>
        </p:nvSpPr>
        <p:spPr>
          <a:xfrm>
            <a:off x="214312" y="17029227"/>
            <a:ext cx="6461522" cy="96441"/>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Product Highlights</a:t>
            </a:r>
          </a:p>
        </p:txBody>
      </p:sp>
      <p:sp>
        <p:nvSpPr>
          <p:cNvPr id="233" name="Text 230"/>
          <p:cNvSpPr/>
          <p:nvPr/>
        </p:nvSpPr>
        <p:spPr>
          <a:xfrm>
            <a:off x="214317" y="17157815"/>
            <a:ext cx="6493669" cy="246459"/>
          </a:xfrm>
          <a:prstGeom prst="rect">
            <a:avLst/>
          </a:prstGeom>
          <a:noFill/>
        </p:spPr>
        <p:txBody>
          <a:bodyPr wrap="square" lIns="0" tIns="0" rIns="0" bIns="53578" rtlCol="0" anchor="ctr"/>
          <a:lstStyle/>
          <a:p>
            <a:pPr algn="ctr">
              <a:lnSpc>
                <a:spcPct val="130000"/>
              </a:lnSpc>
            </a:pPr>
            <a:r>
              <a:rPr lang="en-US" sz="1200" b="1" dirty="0">
                <a:solidFill>
                  <a:srgbClr val="1E3A5F"/>
                </a:solidFill>
                <a:latin typeface="MiSans" pitchFamily="34" charset="-122"/>
                <a:ea typeface="MiSans" pitchFamily="34" charset="-122"/>
                <a:cs typeface="MiSans" pitchFamily="34" charset="-120"/>
              </a:rPr>
              <a:t>产品亮点</a:t>
            </a:r>
          </a:p>
        </p:txBody>
      </p:sp>
      <p:grpSp>
        <p:nvGrpSpPr>
          <p:cNvPr id="370" name="组合 369"/>
          <p:cNvGrpSpPr/>
          <p:nvPr/>
        </p:nvGrpSpPr>
        <p:grpSpPr>
          <a:xfrm>
            <a:off x="205361" y="17456660"/>
            <a:ext cx="6469158" cy="867966"/>
            <a:chOff x="225033" y="17456660"/>
            <a:chExt cx="6418659" cy="867966"/>
          </a:xfrm>
        </p:grpSpPr>
        <p:sp>
          <p:nvSpPr>
            <p:cNvPr id="234" name="Shape 231"/>
            <p:cNvSpPr/>
            <p:nvPr/>
          </p:nvSpPr>
          <p:spPr>
            <a:xfrm>
              <a:off x="225033" y="17456660"/>
              <a:ext cx="6418659" cy="867966"/>
            </a:xfrm>
            <a:custGeom>
              <a:avLst/>
              <a:gdLst/>
              <a:ahLst/>
              <a:cxnLst/>
              <a:rect l="l" t="t" r="r" b="b"/>
              <a:pathLst>
                <a:path w="11410950" h="1543050">
                  <a:moveTo>
                    <a:pt x="38100" y="0"/>
                  </a:moveTo>
                  <a:lnTo>
                    <a:pt x="11296656" y="0"/>
                  </a:lnTo>
                  <a:cubicBezTo>
                    <a:pt x="11359737" y="0"/>
                    <a:pt x="11410950" y="51213"/>
                    <a:pt x="11410950" y="114294"/>
                  </a:cubicBezTo>
                  <a:lnTo>
                    <a:pt x="11410950" y="1428756"/>
                  </a:lnTo>
                  <a:cubicBezTo>
                    <a:pt x="11410950" y="1491837"/>
                    <a:pt x="11359737" y="1543050"/>
                    <a:pt x="11296656" y="1543050"/>
                  </a:cubicBezTo>
                  <a:lnTo>
                    <a:pt x="38100" y="1543050"/>
                  </a:lnTo>
                  <a:cubicBezTo>
                    <a:pt x="17072" y="1543050"/>
                    <a:pt x="0" y="1525978"/>
                    <a:pt x="0" y="1504950"/>
                  </a:cubicBezTo>
                  <a:lnTo>
                    <a:pt x="0" y="38100"/>
                  </a:lnTo>
                  <a:cubicBezTo>
                    <a:pt x="0" y="17072"/>
                    <a:pt x="17072" y="0"/>
                    <a:pt x="38100" y="0"/>
                  </a:cubicBezTo>
                  <a:close/>
                </a:path>
              </a:pathLst>
            </a:custGeom>
            <a:solidFill>
              <a:srgbClr val="F8FAFC"/>
            </a:solidFill>
            <a:effectLst>
              <a:outerShdw blurRad="50800" dist="38100" dir="5400000" algn="t" rotWithShape="0">
                <a:prstClr val="black">
                  <a:alpha val="40000"/>
                </a:prstClr>
              </a:outerShdw>
            </a:effectLst>
          </p:spPr>
        </p:sp>
        <p:sp>
          <p:nvSpPr>
            <p:cNvPr id="235" name="Shape 232"/>
            <p:cNvSpPr/>
            <p:nvPr/>
          </p:nvSpPr>
          <p:spPr>
            <a:xfrm>
              <a:off x="225033" y="17456660"/>
              <a:ext cx="63446" cy="867966"/>
            </a:xfrm>
            <a:custGeom>
              <a:avLst/>
              <a:gdLst/>
              <a:ahLst/>
              <a:cxnLst/>
              <a:rect l="l" t="t" r="r" b="b"/>
              <a:pathLst>
                <a:path w="38100" h="1543050">
                  <a:moveTo>
                    <a:pt x="38100" y="0"/>
                  </a:moveTo>
                  <a:lnTo>
                    <a:pt x="38100" y="0"/>
                  </a:lnTo>
                  <a:lnTo>
                    <a:pt x="38100" y="1543050"/>
                  </a:lnTo>
                  <a:lnTo>
                    <a:pt x="38100" y="1543050"/>
                  </a:lnTo>
                  <a:cubicBezTo>
                    <a:pt x="17072" y="1543050"/>
                    <a:pt x="0" y="1525978"/>
                    <a:pt x="0" y="1504950"/>
                  </a:cubicBezTo>
                  <a:lnTo>
                    <a:pt x="0" y="38100"/>
                  </a:lnTo>
                  <a:cubicBezTo>
                    <a:pt x="0" y="17072"/>
                    <a:pt x="17072" y="0"/>
                    <a:pt x="38100" y="0"/>
                  </a:cubicBezTo>
                  <a:close/>
                </a:path>
              </a:pathLst>
            </a:custGeom>
            <a:solidFill>
              <a:srgbClr val="C9A227"/>
            </a:solidFill>
          </p:spPr>
        </p:sp>
        <p:sp>
          <p:nvSpPr>
            <p:cNvPr id="236" name="Text 233"/>
            <p:cNvSpPr/>
            <p:nvPr/>
          </p:nvSpPr>
          <p:spPr>
            <a:xfrm>
              <a:off x="400050" y="17563818"/>
              <a:ext cx="396478" cy="653653"/>
            </a:xfrm>
            <a:prstGeom prst="rect">
              <a:avLst/>
            </a:prstGeom>
            <a:noFill/>
          </p:spPr>
          <p:txBody>
            <a:bodyPr wrap="square" lIns="0" tIns="0" rIns="0" bIns="0" rtlCol="0" anchor="ctr"/>
            <a:lstStyle/>
            <a:p>
              <a:pPr algn="ctr">
                <a:lnSpc>
                  <a:spcPct val="80000"/>
                </a:lnSpc>
              </a:pPr>
              <a:r>
                <a:rPr lang="en-US" sz="1520" b="1" dirty="0">
                  <a:solidFill>
                    <a:schemeClr val="accent4"/>
                  </a:solidFill>
                  <a:latin typeface="MiSans" pitchFamily="34" charset="-122"/>
                  <a:ea typeface="MiSans" pitchFamily="34" charset="-122"/>
                  <a:cs typeface="MiSans" pitchFamily="34" charset="-120"/>
                </a:rPr>
                <a:t>01</a:t>
              </a:r>
              <a:endParaRPr lang="en-US" sz="900" dirty="0">
                <a:solidFill>
                  <a:schemeClr val="accent4"/>
                </a:solidFill>
              </a:endParaRPr>
            </a:p>
          </p:txBody>
        </p:sp>
        <p:sp>
          <p:nvSpPr>
            <p:cNvPr id="237" name="Text 234"/>
            <p:cNvSpPr/>
            <p:nvPr/>
          </p:nvSpPr>
          <p:spPr>
            <a:xfrm>
              <a:off x="919168" y="17563818"/>
              <a:ext cx="2759273" cy="150019"/>
            </a:xfrm>
            <a:prstGeom prst="rect">
              <a:avLst/>
            </a:prstGeom>
            <a:noFill/>
          </p:spPr>
          <p:txBody>
            <a:bodyPr wrap="square" lIns="0" tIns="0" rIns="0" bIns="0" rtlCol="0" anchor="ctr"/>
            <a:lstStyle/>
            <a:p>
              <a:pPr>
                <a:lnSpc>
                  <a:spcPct val="130000"/>
                </a:lnSpc>
              </a:pPr>
              <a:r>
                <a:rPr lang="en-US" sz="860" b="1" dirty="0">
                  <a:solidFill>
                    <a:srgbClr val="1E3A5F"/>
                  </a:solidFill>
                  <a:latin typeface="MiSans" pitchFamily="34" charset="-122"/>
                  <a:ea typeface="MiSans" pitchFamily="34" charset="-122"/>
                  <a:cs typeface="MiSans" pitchFamily="34" charset="-120"/>
                </a:rPr>
                <a:t>多元化投资策略</a:t>
              </a:r>
            </a:p>
          </p:txBody>
        </p:sp>
        <p:sp>
          <p:nvSpPr>
            <p:cNvPr id="238" name="Text 235"/>
            <p:cNvSpPr/>
            <p:nvPr/>
          </p:nvSpPr>
          <p:spPr>
            <a:xfrm>
              <a:off x="919163" y="17735268"/>
              <a:ext cx="2743200" cy="96441"/>
            </a:xfrm>
            <a:prstGeom prst="rect">
              <a:avLst/>
            </a:prstGeom>
            <a:noFill/>
          </p:spPr>
          <p:txBody>
            <a:bodyPr wrap="square" lIns="0" tIns="0" rIns="0" bIns="0" rtlCol="0" anchor="ctr"/>
            <a:lstStyle/>
            <a:p>
              <a:pPr>
                <a:lnSpc>
                  <a:spcPct val="130000"/>
                </a:lnSpc>
              </a:pPr>
              <a:r>
                <a:rPr lang="en-US" sz="610" kern="0" spc="21" dirty="0">
                  <a:solidFill>
                    <a:srgbClr val="6B7280"/>
                  </a:solidFill>
                  <a:latin typeface="MiSans" pitchFamily="34" charset="-122"/>
                  <a:ea typeface="MiSans" pitchFamily="34" charset="-122"/>
                  <a:cs typeface="MiSans" pitchFamily="34" charset="-120"/>
                </a:rPr>
                <a:t>Diversified Investment Strategy</a:t>
              </a:r>
            </a:p>
          </p:txBody>
        </p:sp>
        <p:sp>
          <p:nvSpPr>
            <p:cNvPr id="239" name="Text 236"/>
            <p:cNvSpPr/>
            <p:nvPr/>
          </p:nvSpPr>
          <p:spPr>
            <a:xfrm>
              <a:off x="919480" y="17877155"/>
              <a:ext cx="3930650" cy="107315"/>
            </a:xfrm>
            <a:prstGeom prst="rect">
              <a:avLst/>
            </a:prstGeom>
            <a:noFill/>
          </p:spPr>
          <p:txBody>
            <a:bodyPr wrap="square" lIns="85725" tIns="0" rIns="0" bIns="0" rtlCol="0" anchor="ctr"/>
            <a:lstStyle/>
            <a:p>
              <a:pPr>
                <a:lnSpc>
                  <a:spcPct val="120000"/>
                </a:lnSpc>
              </a:pPr>
              <a:r>
                <a:rPr lang="en-US" sz="790" b="1" dirty="0">
                  <a:solidFill>
                    <a:srgbClr val="1F2937"/>
                  </a:solidFill>
                  <a:latin typeface="MiSans" pitchFamily="34" charset="-122"/>
                  <a:ea typeface="MiSans" pitchFamily="34" charset="-122"/>
                  <a:cs typeface="MiSans" pitchFamily="34" charset="-120"/>
                </a:rPr>
                <a:t>投资标的多元化</a:t>
              </a:r>
              <a:r>
                <a:rPr lang="en-US" sz="790" dirty="0">
                  <a:solidFill>
                    <a:srgbClr val="6B7280"/>
                  </a:solidFill>
                  <a:latin typeface="MiSans" pitchFamily="34" charset="-122"/>
                  <a:ea typeface="MiSans" pitchFamily="34" charset="-122"/>
                  <a:cs typeface="MiSans" pitchFamily="34" charset="-120"/>
                </a:rPr>
                <a:t>，精选信用债作为打底资产，波段交易利率债、地方债、二永债</a:t>
              </a:r>
            </a:p>
          </p:txBody>
        </p:sp>
        <p:sp>
          <p:nvSpPr>
            <p:cNvPr id="240" name="Text 237"/>
            <p:cNvSpPr/>
            <p:nvPr/>
          </p:nvSpPr>
          <p:spPr>
            <a:xfrm>
              <a:off x="919480" y="18026698"/>
              <a:ext cx="4300855"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以</a:t>
              </a:r>
              <a:r>
                <a:rPr lang="en-US" sz="790" b="1" dirty="0">
                  <a:solidFill>
                    <a:srgbClr val="1F2937"/>
                  </a:solidFill>
                  <a:latin typeface="MiSans" pitchFamily="34" charset="-122"/>
                  <a:ea typeface="MiSans" pitchFamily="34" charset="-122"/>
                  <a:cs typeface="MiSans" pitchFamily="34" charset="-120"/>
                </a:rPr>
                <a:t>票息策略为主</a:t>
              </a:r>
              <a:r>
                <a:rPr lang="en-US" sz="790" dirty="0">
                  <a:solidFill>
                    <a:srgbClr val="6B7280"/>
                  </a:solidFill>
                  <a:latin typeface="MiSans" pitchFamily="34" charset="-122"/>
                  <a:ea typeface="MiSans" pitchFamily="34" charset="-122"/>
                  <a:cs typeface="MiSans" pitchFamily="34" charset="-120"/>
                </a:rPr>
                <a:t>+多种策略为辅，通过选择个券、集中度管理进行分散投资</a:t>
              </a:r>
            </a:p>
          </p:txBody>
        </p:sp>
        <p:sp>
          <p:nvSpPr>
            <p:cNvPr id="241" name="Text 238"/>
            <p:cNvSpPr/>
            <p:nvPr/>
          </p:nvSpPr>
          <p:spPr>
            <a:xfrm>
              <a:off x="919480" y="18176240"/>
              <a:ext cx="3296920"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结合多策略稳步提升产品收益，维持产品流动性的同时放大组合收益</a:t>
              </a:r>
            </a:p>
          </p:txBody>
        </p:sp>
      </p:grpSp>
      <p:grpSp>
        <p:nvGrpSpPr>
          <p:cNvPr id="371" name="组合 370"/>
          <p:cNvGrpSpPr/>
          <p:nvPr/>
        </p:nvGrpSpPr>
        <p:grpSpPr>
          <a:xfrm>
            <a:off x="205361" y="18410350"/>
            <a:ext cx="6469158" cy="867966"/>
            <a:chOff x="225033" y="18410350"/>
            <a:chExt cx="6418659" cy="867966"/>
          </a:xfrm>
        </p:grpSpPr>
        <p:sp>
          <p:nvSpPr>
            <p:cNvPr id="242" name="Shape 239"/>
            <p:cNvSpPr/>
            <p:nvPr/>
          </p:nvSpPr>
          <p:spPr>
            <a:xfrm>
              <a:off x="225033" y="18410350"/>
              <a:ext cx="6418659" cy="867966"/>
            </a:xfrm>
            <a:custGeom>
              <a:avLst/>
              <a:gdLst/>
              <a:ahLst/>
              <a:cxnLst/>
              <a:rect l="l" t="t" r="r" b="b"/>
              <a:pathLst>
                <a:path w="11410950" h="1543050">
                  <a:moveTo>
                    <a:pt x="38100" y="0"/>
                  </a:moveTo>
                  <a:lnTo>
                    <a:pt x="11296656" y="0"/>
                  </a:lnTo>
                  <a:cubicBezTo>
                    <a:pt x="11359737" y="0"/>
                    <a:pt x="11410950" y="51213"/>
                    <a:pt x="11410950" y="114294"/>
                  </a:cubicBezTo>
                  <a:lnTo>
                    <a:pt x="11410950" y="1428756"/>
                  </a:lnTo>
                  <a:cubicBezTo>
                    <a:pt x="11410950" y="1491837"/>
                    <a:pt x="11359737" y="1543050"/>
                    <a:pt x="11296656" y="1543050"/>
                  </a:cubicBezTo>
                  <a:lnTo>
                    <a:pt x="38100" y="1543050"/>
                  </a:lnTo>
                  <a:cubicBezTo>
                    <a:pt x="17072" y="1543050"/>
                    <a:pt x="0" y="1525978"/>
                    <a:pt x="0" y="1504950"/>
                  </a:cubicBezTo>
                  <a:lnTo>
                    <a:pt x="0" y="38100"/>
                  </a:lnTo>
                  <a:cubicBezTo>
                    <a:pt x="0" y="17072"/>
                    <a:pt x="17072" y="0"/>
                    <a:pt x="38100" y="0"/>
                  </a:cubicBezTo>
                  <a:close/>
                </a:path>
              </a:pathLst>
            </a:custGeom>
            <a:solidFill>
              <a:srgbClr val="F8FAFC"/>
            </a:solidFill>
            <a:effectLst>
              <a:outerShdw blurRad="50800" dist="38100" dir="5400000" algn="t" rotWithShape="0">
                <a:prstClr val="black">
                  <a:alpha val="40000"/>
                </a:prstClr>
              </a:outerShdw>
            </a:effectLst>
          </p:spPr>
        </p:sp>
        <p:sp>
          <p:nvSpPr>
            <p:cNvPr id="243" name="Shape 240"/>
            <p:cNvSpPr/>
            <p:nvPr/>
          </p:nvSpPr>
          <p:spPr>
            <a:xfrm>
              <a:off x="225033" y="18410350"/>
              <a:ext cx="63446" cy="867966"/>
            </a:xfrm>
            <a:custGeom>
              <a:avLst/>
              <a:gdLst/>
              <a:ahLst/>
              <a:cxnLst/>
              <a:rect l="l" t="t" r="r" b="b"/>
              <a:pathLst>
                <a:path w="38100" h="1543050">
                  <a:moveTo>
                    <a:pt x="38100" y="0"/>
                  </a:moveTo>
                  <a:lnTo>
                    <a:pt x="38100" y="0"/>
                  </a:lnTo>
                  <a:lnTo>
                    <a:pt x="38100" y="1543050"/>
                  </a:lnTo>
                  <a:lnTo>
                    <a:pt x="38100" y="1543050"/>
                  </a:lnTo>
                  <a:cubicBezTo>
                    <a:pt x="17072" y="1543050"/>
                    <a:pt x="0" y="1525978"/>
                    <a:pt x="0" y="1504950"/>
                  </a:cubicBezTo>
                  <a:lnTo>
                    <a:pt x="0" y="38100"/>
                  </a:lnTo>
                  <a:cubicBezTo>
                    <a:pt x="0" y="17072"/>
                    <a:pt x="17072" y="0"/>
                    <a:pt x="38100" y="0"/>
                  </a:cubicBezTo>
                  <a:close/>
                </a:path>
              </a:pathLst>
            </a:custGeom>
            <a:solidFill>
              <a:srgbClr val="059669"/>
            </a:solidFill>
          </p:spPr>
        </p:sp>
        <p:sp>
          <p:nvSpPr>
            <p:cNvPr id="244" name="Text 241"/>
            <p:cNvSpPr/>
            <p:nvPr/>
          </p:nvSpPr>
          <p:spPr>
            <a:xfrm>
              <a:off x="400050" y="18517509"/>
              <a:ext cx="396478" cy="653653"/>
            </a:xfrm>
            <a:prstGeom prst="rect">
              <a:avLst/>
            </a:prstGeom>
            <a:noFill/>
          </p:spPr>
          <p:txBody>
            <a:bodyPr wrap="square" lIns="0" tIns="0" rIns="0" bIns="0" rtlCol="0" anchor="ctr"/>
            <a:lstStyle/>
            <a:p>
              <a:pPr algn="ctr">
                <a:lnSpc>
                  <a:spcPct val="80000"/>
                </a:lnSpc>
              </a:pPr>
              <a:r>
                <a:rPr lang="en-US" sz="1520" b="1" dirty="0">
                  <a:solidFill>
                    <a:schemeClr val="accent6"/>
                  </a:solidFill>
                  <a:latin typeface="MiSans" pitchFamily="34" charset="-122"/>
                  <a:ea typeface="MiSans" pitchFamily="34" charset="-122"/>
                  <a:cs typeface="MiSans" pitchFamily="34" charset="-120"/>
                </a:rPr>
                <a:t>02</a:t>
              </a:r>
              <a:endParaRPr lang="en-US" sz="900" dirty="0">
                <a:solidFill>
                  <a:schemeClr val="accent6"/>
                </a:solidFill>
              </a:endParaRPr>
            </a:p>
          </p:txBody>
        </p:sp>
        <p:sp>
          <p:nvSpPr>
            <p:cNvPr id="245" name="Text 242"/>
            <p:cNvSpPr/>
            <p:nvPr/>
          </p:nvSpPr>
          <p:spPr>
            <a:xfrm>
              <a:off x="919167" y="18517509"/>
              <a:ext cx="4157663" cy="150019"/>
            </a:xfrm>
            <a:prstGeom prst="rect">
              <a:avLst/>
            </a:prstGeom>
            <a:noFill/>
          </p:spPr>
          <p:txBody>
            <a:bodyPr wrap="square" lIns="0" tIns="0" rIns="0" bIns="0" rtlCol="0" anchor="ctr"/>
            <a:lstStyle/>
            <a:p>
              <a:pPr>
                <a:lnSpc>
                  <a:spcPct val="130000"/>
                </a:lnSpc>
              </a:pPr>
              <a:r>
                <a:rPr lang="en-US" sz="860" b="1" dirty="0">
                  <a:solidFill>
                    <a:srgbClr val="1E3A5F"/>
                  </a:solidFill>
                  <a:latin typeface="MiSans" pitchFamily="34" charset="-122"/>
                  <a:ea typeface="MiSans" pitchFamily="34" charset="-122"/>
                  <a:cs typeface="MiSans" pitchFamily="34" charset="-120"/>
                </a:rPr>
                <a:t>专注于信用债的深度挖掘</a:t>
              </a:r>
            </a:p>
          </p:txBody>
        </p:sp>
        <p:sp>
          <p:nvSpPr>
            <p:cNvPr id="246" name="Text 243"/>
            <p:cNvSpPr/>
            <p:nvPr/>
          </p:nvSpPr>
          <p:spPr>
            <a:xfrm>
              <a:off x="919168" y="18688959"/>
              <a:ext cx="4141589" cy="96441"/>
            </a:xfrm>
            <a:prstGeom prst="rect">
              <a:avLst/>
            </a:prstGeom>
            <a:noFill/>
          </p:spPr>
          <p:txBody>
            <a:bodyPr wrap="square" lIns="0" tIns="0" rIns="0" bIns="0" rtlCol="0" anchor="ctr"/>
            <a:lstStyle/>
            <a:p>
              <a:pPr>
                <a:lnSpc>
                  <a:spcPct val="130000"/>
                </a:lnSpc>
              </a:pPr>
              <a:r>
                <a:rPr lang="en-US" sz="610" kern="0" spc="21" dirty="0">
                  <a:solidFill>
                    <a:srgbClr val="6B7280"/>
                  </a:solidFill>
                  <a:latin typeface="MiSans" pitchFamily="34" charset="-122"/>
                  <a:ea typeface="MiSans" pitchFamily="34" charset="-122"/>
                  <a:cs typeface="MiSans" pitchFamily="34" charset="-120"/>
                </a:rPr>
                <a:t>Credit Bond Deep Research</a:t>
              </a:r>
            </a:p>
          </p:txBody>
        </p:sp>
        <p:sp>
          <p:nvSpPr>
            <p:cNvPr id="247" name="Text 244"/>
            <p:cNvSpPr/>
            <p:nvPr/>
          </p:nvSpPr>
          <p:spPr>
            <a:xfrm>
              <a:off x="919167" y="18811591"/>
              <a:ext cx="4146947" cy="107156"/>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产品主要投资于</a:t>
              </a:r>
              <a:r>
                <a:rPr lang="en-US" sz="790" b="1" dirty="0">
                  <a:solidFill>
                    <a:srgbClr val="1F2937"/>
                  </a:solidFill>
                  <a:latin typeface="MiSans" pitchFamily="34" charset="-122"/>
                  <a:ea typeface="MiSans" pitchFamily="34" charset="-122"/>
                  <a:cs typeface="MiSans" pitchFamily="34" charset="-120"/>
                </a:rPr>
                <a:t>城投债</a:t>
              </a:r>
              <a:r>
                <a:rPr lang="en-US" sz="790" dirty="0">
                  <a:solidFill>
                    <a:srgbClr val="6B7280"/>
                  </a:solidFill>
                  <a:latin typeface="MiSans" pitchFamily="34" charset="-122"/>
                  <a:ea typeface="MiSans" pitchFamily="34" charset="-122"/>
                  <a:cs typeface="MiSans" pitchFamily="34" charset="-120"/>
                </a:rPr>
                <a:t>，通过深度挖掘城投债的投资机会，为投资者提供稳定的收益来源</a:t>
              </a:r>
            </a:p>
          </p:txBody>
        </p:sp>
        <p:sp>
          <p:nvSpPr>
            <p:cNvPr id="248" name="Text 245"/>
            <p:cNvSpPr/>
            <p:nvPr/>
          </p:nvSpPr>
          <p:spPr>
            <a:xfrm>
              <a:off x="919480" y="18964275"/>
              <a:ext cx="5643245"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只选</a:t>
              </a:r>
              <a:r>
                <a:rPr lang="en-US" sz="790" b="1" dirty="0">
                  <a:solidFill>
                    <a:srgbClr val="1F2937"/>
                  </a:solidFill>
                  <a:latin typeface="MiSans" pitchFamily="34" charset="-122"/>
                  <a:ea typeface="MiSans" pitchFamily="34" charset="-122"/>
                  <a:cs typeface="MiSans" pitchFamily="34" charset="-120"/>
                </a:rPr>
                <a:t>"真城投"</a:t>
              </a:r>
              <a:r>
                <a:rPr lang="en-US" sz="790" dirty="0">
                  <a:solidFill>
                    <a:srgbClr val="6B7280"/>
                  </a:solidFill>
                  <a:latin typeface="MiSans" pitchFamily="34" charset="-122"/>
                  <a:ea typeface="MiSans" pitchFamily="34" charset="-122"/>
                  <a:cs typeface="MiSans" pitchFamily="34" charset="-120"/>
                </a:rPr>
                <a:t>，通过四维度认定（背景、业务、资产、债务）和四步法筛选（区域选择、信用挖掘、个券挖掘、担保增强）</a:t>
              </a:r>
            </a:p>
          </p:txBody>
        </p:sp>
        <p:sp>
          <p:nvSpPr>
            <p:cNvPr id="249" name="Text 246"/>
            <p:cNvSpPr/>
            <p:nvPr/>
          </p:nvSpPr>
          <p:spPr>
            <a:xfrm>
              <a:off x="919167" y="19117344"/>
              <a:ext cx="4146947" cy="107156"/>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严控信用风险，构建高度分散、配置持续优化的投资组合</a:t>
              </a:r>
            </a:p>
          </p:txBody>
        </p:sp>
      </p:grpSp>
      <p:grpSp>
        <p:nvGrpSpPr>
          <p:cNvPr id="372" name="组合 371"/>
          <p:cNvGrpSpPr/>
          <p:nvPr/>
        </p:nvGrpSpPr>
        <p:grpSpPr>
          <a:xfrm>
            <a:off x="205361" y="19364041"/>
            <a:ext cx="6469158" cy="867966"/>
            <a:chOff x="225033" y="19364041"/>
            <a:chExt cx="6418659" cy="867966"/>
          </a:xfrm>
        </p:grpSpPr>
        <p:sp>
          <p:nvSpPr>
            <p:cNvPr id="250" name="Shape 247"/>
            <p:cNvSpPr/>
            <p:nvPr/>
          </p:nvSpPr>
          <p:spPr>
            <a:xfrm>
              <a:off x="225033" y="19364041"/>
              <a:ext cx="6418659" cy="867966"/>
            </a:xfrm>
            <a:custGeom>
              <a:avLst/>
              <a:gdLst/>
              <a:ahLst/>
              <a:cxnLst/>
              <a:rect l="l" t="t" r="r" b="b"/>
              <a:pathLst>
                <a:path w="11410950" h="1543050">
                  <a:moveTo>
                    <a:pt x="38100" y="0"/>
                  </a:moveTo>
                  <a:lnTo>
                    <a:pt x="11296656" y="0"/>
                  </a:lnTo>
                  <a:cubicBezTo>
                    <a:pt x="11359737" y="0"/>
                    <a:pt x="11410950" y="51213"/>
                    <a:pt x="11410950" y="114294"/>
                  </a:cubicBezTo>
                  <a:lnTo>
                    <a:pt x="11410950" y="1428756"/>
                  </a:lnTo>
                  <a:cubicBezTo>
                    <a:pt x="11410950" y="1491837"/>
                    <a:pt x="11359737" y="1543050"/>
                    <a:pt x="11296656" y="1543050"/>
                  </a:cubicBezTo>
                  <a:lnTo>
                    <a:pt x="38100" y="1543050"/>
                  </a:lnTo>
                  <a:cubicBezTo>
                    <a:pt x="17072" y="1543050"/>
                    <a:pt x="0" y="1525978"/>
                    <a:pt x="0" y="1504950"/>
                  </a:cubicBezTo>
                  <a:lnTo>
                    <a:pt x="0" y="38100"/>
                  </a:lnTo>
                  <a:cubicBezTo>
                    <a:pt x="0" y="17072"/>
                    <a:pt x="17072" y="0"/>
                    <a:pt x="38100" y="0"/>
                  </a:cubicBezTo>
                  <a:close/>
                </a:path>
              </a:pathLst>
            </a:custGeom>
            <a:solidFill>
              <a:srgbClr val="F8FAFC"/>
            </a:solidFill>
            <a:effectLst>
              <a:outerShdw blurRad="50800" dist="38100" dir="5400000" algn="t" rotWithShape="0">
                <a:prstClr val="black">
                  <a:alpha val="40000"/>
                </a:prstClr>
              </a:outerShdw>
            </a:effectLst>
          </p:spPr>
        </p:sp>
        <p:sp>
          <p:nvSpPr>
            <p:cNvPr id="251" name="Shape 248"/>
            <p:cNvSpPr/>
            <p:nvPr/>
          </p:nvSpPr>
          <p:spPr>
            <a:xfrm>
              <a:off x="225033" y="19364041"/>
              <a:ext cx="63446" cy="867966"/>
            </a:xfrm>
            <a:custGeom>
              <a:avLst/>
              <a:gdLst/>
              <a:ahLst/>
              <a:cxnLst/>
              <a:rect l="l" t="t" r="r" b="b"/>
              <a:pathLst>
                <a:path w="38100" h="1543050">
                  <a:moveTo>
                    <a:pt x="38100" y="0"/>
                  </a:moveTo>
                  <a:lnTo>
                    <a:pt x="38100" y="0"/>
                  </a:lnTo>
                  <a:lnTo>
                    <a:pt x="38100" y="1543050"/>
                  </a:lnTo>
                  <a:lnTo>
                    <a:pt x="38100" y="1543050"/>
                  </a:lnTo>
                  <a:cubicBezTo>
                    <a:pt x="17072" y="1543050"/>
                    <a:pt x="0" y="1525978"/>
                    <a:pt x="0" y="1504950"/>
                  </a:cubicBezTo>
                  <a:lnTo>
                    <a:pt x="0" y="38100"/>
                  </a:lnTo>
                  <a:cubicBezTo>
                    <a:pt x="0" y="17072"/>
                    <a:pt x="17072" y="0"/>
                    <a:pt x="38100" y="0"/>
                  </a:cubicBezTo>
                  <a:close/>
                </a:path>
              </a:pathLst>
            </a:custGeom>
            <a:solidFill>
              <a:srgbClr val="1E3A5F"/>
            </a:solidFill>
          </p:spPr>
        </p:sp>
        <p:sp>
          <p:nvSpPr>
            <p:cNvPr id="252" name="Text 249"/>
            <p:cNvSpPr/>
            <p:nvPr/>
          </p:nvSpPr>
          <p:spPr>
            <a:xfrm>
              <a:off x="400050" y="19471199"/>
              <a:ext cx="396478" cy="653653"/>
            </a:xfrm>
            <a:prstGeom prst="rect">
              <a:avLst/>
            </a:prstGeom>
            <a:noFill/>
          </p:spPr>
          <p:txBody>
            <a:bodyPr wrap="square" lIns="0" tIns="0" rIns="0" bIns="0" rtlCol="0" anchor="ctr"/>
            <a:lstStyle/>
            <a:p>
              <a:pPr algn="ctr">
                <a:lnSpc>
                  <a:spcPct val="80000"/>
                </a:lnSpc>
              </a:pPr>
              <a:r>
                <a:rPr lang="en-US" sz="1520" b="1" dirty="0">
                  <a:solidFill>
                    <a:schemeClr val="accent5">
                      <a:lumMod val="50000"/>
                    </a:schemeClr>
                  </a:solidFill>
                  <a:latin typeface="MiSans" pitchFamily="34" charset="-122"/>
                  <a:ea typeface="MiSans" pitchFamily="34" charset="-122"/>
                  <a:cs typeface="MiSans" pitchFamily="34" charset="-120"/>
                </a:rPr>
                <a:t>03</a:t>
              </a:r>
              <a:endParaRPr lang="en-US" sz="900" dirty="0">
                <a:solidFill>
                  <a:schemeClr val="accent5">
                    <a:lumMod val="50000"/>
                  </a:schemeClr>
                </a:solidFill>
              </a:endParaRPr>
            </a:p>
          </p:txBody>
        </p:sp>
        <p:sp>
          <p:nvSpPr>
            <p:cNvPr id="253" name="Text 250"/>
            <p:cNvSpPr/>
            <p:nvPr/>
          </p:nvSpPr>
          <p:spPr>
            <a:xfrm>
              <a:off x="919162" y="19471199"/>
              <a:ext cx="3043238" cy="150019"/>
            </a:xfrm>
            <a:prstGeom prst="rect">
              <a:avLst/>
            </a:prstGeom>
            <a:noFill/>
          </p:spPr>
          <p:txBody>
            <a:bodyPr wrap="square" lIns="0" tIns="0" rIns="0" bIns="0" rtlCol="0" anchor="ctr"/>
            <a:lstStyle/>
            <a:p>
              <a:pPr>
                <a:lnSpc>
                  <a:spcPct val="130000"/>
                </a:lnSpc>
              </a:pPr>
              <a:r>
                <a:rPr lang="en-US" sz="860" b="1" dirty="0">
                  <a:solidFill>
                    <a:srgbClr val="1E3A5F"/>
                  </a:solidFill>
                  <a:latin typeface="MiSans" pitchFamily="34" charset="-122"/>
                  <a:ea typeface="MiSans" pitchFamily="34" charset="-122"/>
                  <a:cs typeface="MiSans" pitchFamily="34" charset="-120"/>
                </a:rPr>
                <a:t>多元化的投资组合</a:t>
              </a:r>
            </a:p>
          </p:txBody>
        </p:sp>
        <p:sp>
          <p:nvSpPr>
            <p:cNvPr id="254" name="Text 251"/>
            <p:cNvSpPr/>
            <p:nvPr/>
          </p:nvSpPr>
          <p:spPr>
            <a:xfrm>
              <a:off x="919163" y="19642649"/>
              <a:ext cx="3027164" cy="96441"/>
            </a:xfrm>
            <a:prstGeom prst="rect">
              <a:avLst/>
            </a:prstGeom>
            <a:noFill/>
          </p:spPr>
          <p:txBody>
            <a:bodyPr wrap="square" lIns="0" tIns="0" rIns="0" bIns="0" rtlCol="0" anchor="ctr"/>
            <a:lstStyle/>
            <a:p>
              <a:pPr>
                <a:lnSpc>
                  <a:spcPct val="130000"/>
                </a:lnSpc>
              </a:pPr>
              <a:r>
                <a:rPr lang="en-US" sz="610" kern="0" spc="21" dirty="0">
                  <a:solidFill>
                    <a:srgbClr val="6B7280"/>
                  </a:solidFill>
                  <a:latin typeface="MiSans" pitchFamily="34" charset="-122"/>
                  <a:ea typeface="MiSans" pitchFamily="34" charset="-122"/>
                  <a:cs typeface="MiSans" pitchFamily="34" charset="-120"/>
                </a:rPr>
                <a:t>Diversified Portfolio</a:t>
              </a:r>
            </a:p>
          </p:txBody>
        </p:sp>
        <p:sp>
          <p:nvSpPr>
            <p:cNvPr id="255" name="Text 252"/>
            <p:cNvSpPr/>
            <p:nvPr/>
          </p:nvSpPr>
          <p:spPr>
            <a:xfrm>
              <a:off x="918845" y="19765010"/>
              <a:ext cx="3362325"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除了城投债，产品还涉及</a:t>
              </a:r>
              <a:r>
                <a:rPr lang="en-US" sz="790" b="1" dirty="0">
                  <a:solidFill>
                    <a:srgbClr val="1F2937"/>
                  </a:solidFill>
                  <a:latin typeface="MiSans" pitchFamily="34" charset="-122"/>
                  <a:ea typeface="MiSans" pitchFamily="34" charset="-122"/>
                  <a:cs typeface="MiSans" pitchFamily="34" charset="-120"/>
                </a:rPr>
                <a:t>利率债、二永债以及产业债券</a:t>
              </a:r>
              <a:r>
                <a:rPr lang="en-US" sz="790" dirty="0">
                  <a:solidFill>
                    <a:srgbClr val="6B7280"/>
                  </a:solidFill>
                  <a:latin typeface="MiSans" pitchFamily="34" charset="-122"/>
                  <a:ea typeface="MiSans" pitchFamily="34" charset="-122"/>
                  <a:cs typeface="MiSans" pitchFamily="34" charset="-120"/>
                </a:rPr>
                <a:t>等多元化资产</a:t>
              </a:r>
            </a:p>
          </p:txBody>
        </p:sp>
        <p:sp>
          <p:nvSpPr>
            <p:cNvPr id="256" name="Text 253"/>
            <p:cNvSpPr/>
            <p:nvPr/>
          </p:nvSpPr>
          <p:spPr>
            <a:xfrm>
              <a:off x="918845" y="19918045"/>
              <a:ext cx="4535805"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通过多元化的资产配置，在不同的市场环境下寻找适合的投资组合，提高收益多样性</a:t>
              </a:r>
            </a:p>
          </p:txBody>
        </p:sp>
        <p:sp>
          <p:nvSpPr>
            <p:cNvPr id="257" name="Text 254"/>
            <p:cNvSpPr/>
            <p:nvPr/>
          </p:nvSpPr>
          <p:spPr>
            <a:xfrm>
              <a:off x="918845" y="20071080"/>
              <a:ext cx="4233545" cy="107315"/>
            </a:xfrm>
            <a:prstGeom prst="rect">
              <a:avLst/>
            </a:prstGeom>
            <a:noFill/>
          </p:spPr>
          <p:txBody>
            <a:bodyPr wrap="square" lIns="85725" tIns="0" rIns="0" bIns="0" rtlCol="0" anchor="ctr"/>
            <a:lstStyle/>
            <a:p>
              <a:pPr>
                <a:lnSpc>
                  <a:spcPct val="120000"/>
                </a:lnSpc>
              </a:pPr>
              <a:r>
                <a:rPr lang="en-US" sz="790" dirty="0">
                  <a:solidFill>
                    <a:srgbClr val="6B7280"/>
                  </a:solidFill>
                  <a:latin typeface="MiSans" pitchFamily="34" charset="-122"/>
                  <a:ea typeface="MiSans" pitchFamily="34" charset="-122"/>
                  <a:cs typeface="MiSans" pitchFamily="34" charset="-120"/>
                </a:rPr>
                <a:t>四大策略协同：</a:t>
              </a:r>
              <a:r>
                <a:rPr lang="en-US" sz="790" b="1" dirty="0">
                  <a:solidFill>
                    <a:srgbClr val="1F2937"/>
                  </a:solidFill>
                  <a:latin typeface="MiSans" pitchFamily="34" charset="-122"/>
                  <a:ea typeface="MiSans" pitchFamily="34" charset="-122"/>
                  <a:cs typeface="MiSans" pitchFamily="34" charset="-120"/>
                </a:rPr>
                <a:t>票息配置+担保债增强+久期策略+交易策略</a:t>
              </a:r>
              <a:r>
                <a:rPr lang="en-US" sz="790" dirty="0">
                  <a:solidFill>
                    <a:srgbClr val="6B7280"/>
                  </a:solidFill>
                  <a:latin typeface="MiSans" pitchFamily="34" charset="-122"/>
                  <a:ea typeface="MiSans" pitchFamily="34" charset="-122"/>
                  <a:cs typeface="MiSans" pitchFamily="34" charset="-120"/>
                </a:rPr>
                <a:t>，实现风险调整后的最优回报</a:t>
              </a:r>
            </a:p>
          </p:txBody>
        </p:sp>
      </p:grpSp>
      <p:sp>
        <p:nvSpPr>
          <p:cNvPr id="258" name="Shape 255"/>
          <p:cNvSpPr/>
          <p:nvPr/>
        </p:nvSpPr>
        <p:spPr>
          <a:xfrm>
            <a:off x="-8675" y="20403459"/>
            <a:ext cx="6866675" cy="2721769"/>
          </a:xfrm>
          <a:custGeom>
            <a:avLst/>
            <a:gdLst/>
            <a:ahLst/>
            <a:cxnLst/>
            <a:rect l="l" t="t" r="r" b="b"/>
            <a:pathLst>
              <a:path w="12192000" h="4838700">
                <a:moveTo>
                  <a:pt x="0" y="0"/>
                </a:moveTo>
                <a:lnTo>
                  <a:pt x="12192000" y="0"/>
                </a:lnTo>
                <a:lnTo>
                  <a:pt x="12192000" y="4838700"/>
                </a:lnTo>
                <a:lnTo>
                  <a:pt x="0" y="4838700"/>
                </a:lnTo>
                <a:lnTo>
                  <a:pt x="0" y="0"/>
                </a:lnTo>
                <a:close/>
              </a:path>
            </a:pathLst>
          </a:custGeom>
          <a:solidFill>
            <a:srgbClr val="EDEDED"/>
          </a:solidFill>
          <a:ln>
            <a:solidFill>
              <a:schemeClr val="bg1">
                <a:lumMod val="85000"/>
              </a:schemeClr>
            </a:solidFill>
          </a:ln>
        </p:spPr>
      </p:sp>
      <p:sp>
        <p:nvSpPr>
          <p:cNvPr id="259" name="Text 256"/>
          <p:cNvSpPr/>
          <p:nvPr/>
        </p:nvSpPr>
        <p:spPr>
          <a:xfrm>
            <a:off x="214312" y="20574909"/>
            <a:ext cx="6461522" cy="96441"/>
          </a:xfrm>
          <a:prstGeom prst="rect">
            <a:avLst/>
          </a:prstGeom>
          <a:noFill/>
        </p:spPr>
        <p:txBody>
          <a:bodyPr wrap="square" lIns="0" tIns="0" rIns="0" bIns="0" rtlCol="0" anchor="ctr"/>
          <a:lstStyle/>
          <a:p>
            <a:pPr algn="ctr">
              <a:lnSpc>
                <a:spcPct val="130000"/>
              </a:lnSpc>
            </a:pPr>
            <a:r>
              <a:rPr lang="en-US" sz="610" b="1" kern="0" spc="84" dirty="0">
                <a:solidFill>
                  <a:srgbClr val="C9A227"/>
                </a:solidFill>
                <a:latin typeface="MiSans" pitchFamily="34" charset="-122"/>
                <a:ea typeface="MiSans" pitchFamily="34" charset="-122"/>
                <a:cs typeface="MiSans" pitchFamily="34" charset="-120"/>
              </a:rPr>
              <a:t>Company Profile</a:t>
            </a:r>
          </a:p>
        </p:txBody>
      </p:sp>
      <p:sp>
        <p:nvSpPr>
          <p:cNvPr id="260" name="Text 257"/>
          <p:cNvSpPr/>
          <p:nvPr/>
        </p:nvSpPr>
        <p:spPr>
          <a:xfrm>
            <a:off x="214317" y="20703496"/>
            <a:ext cx="6493669" cy="246459"/>
          </a:xfrm>
          <a:prstGeom prst="rect">
            <a:avLst/>
          </a:prstGeom>
          <a:noFill/>
        </p:spPr>
        <p:txBody>
          <a:bodyPr wrap="square" lIns="0" tIns="0" rIns="0" bIns="53578" rtlCol="0" anchor="ctr"/>
          <a:lstStyle/>
          <a:p>
            <a:pPr algn="ctr">
              <a:lnSpc>
                <a:spcPct val="130000"/>
              </a:lnSpc>
            </a:pPr>
            <a:r>
              <a:rPr lang="en-US" sz="1200" b="1" dirty="0">
                <a:solidFill>
                  <a:srgbClr val="1E3A5F"/>
                </a:solidFill>
                <a:latin typeface="MiSans" pitchFamily="34" charset="-122"/>
                <a:ea typeface="MiSans" pitchFamily="34" charset="-122"/>
                <a:cs typeface="MiSans" pitchFamily="34" charset="-120"/>
              </a:rPr>
              <a:t>公司背景与实力</a:t>
            </a:r>
          </a:p>
        </p:txBody>
      </p:sp>
      <p:sp>
        <p:nvSpPr>
          <p:cNvPr id="261" name="Shape 258"/>
          <p:cNvSpPr/>
          <p:nvPr/>
        </p:nvSpPr>
        <p:spPr>
          <a:xfrm>
            <a:off x="188837" y="21078540"/>
            <a:ext cx="3446900" cy="1836531"/>
          </a:xfrm>
          <a:custGeom>
            <a:avLst/>
            <a:gdLst/>
            <a:ahLst/>
            <a:cxnLst/>
            <a:rect l="l" t="t" r="r" b="b"/>
            <a:pathLst>
              <a:path w="6134100" h="3143250">
                <a:moveTo>
                  <a:pt x="114289" y="0"/>
                </a:moveTo>
                <a:lnTo>
                  <a:pt x="6019811" y="0"/>
                </a:lnTo>
                <a:cubicBezTo>
                  <a:pt x="6082889" y="0"/>
                  <a:pt x="6134100" y="51211"/>
                  <a:pt x="6134100" y="114289"/>
                </a:cubicBezTo>
                <a:lnTo>
                  <a:pt x="6134100" y="3028961"/>
                </a:lnTo>
                <a:cubicBezTo>
                  <a:pt x="6134100" y="3092081"/>
                  <a:pt x="6082931" y="3143250"/>
                  <a:pt x="6019811" y="3143250"/>
                </a:cubicBezTo>
                <a:lnTo>
                  <a:pt x="114289" y="3143250"/>
                </a:lnTo>
                <a:cubicBezTo>
                  <a:pt x="51211" y="3143250"/>
                  <a:pt x="0" y="3092039"/>
                  <a:pt x="0" y="3028961"/>
                </a:cubicBezTo>
                <a:lnTo>
                  <a:pt x="0" y="114289"/>
                </a:lnTo>
                <a:cubicBezTo>
                  <a:pt x="0" y="51169"/>
                  <a:pt x="51169" y="0"/>
                  <a:pt x="114289" y="0"/>
                </a:cubicBezTo>
                <a:close/>
              </a:path>
            </a:pathLst>
          </a:custGeom>
          <a:solidFill>
            <a:srgbClr val="1E3A5F"/>
          </a:solidFill>
          <a:effectLst>
            <a:outerShdw blurRad="63500" sx="102000" sy="102000" algn="ctr" rotWithShape="0">
              <a:prstClr val="black">
                <a:alpha val="40000"/>
              </a:prstClr>
            </a:outerShdw>
          </a:effectLst>
        </p:spPr>
      </p:sp>
      <p:sp>
        <p:nvSpPr>
          <p:cNvPr id="264" name="Text 261"/>
          <p:cNvSpPr/>
          <p:nvPr/>
        </p:nvSpPr>
        <p:spPr>
          <a:xfrm>
            <a:off x="369689" y="21366006"/>
            <a:ext cx="1198880" cy="85725"/>
          </a:xfrm>
          <a:prstGeom prst="rect">
            <a:avLst/>
          </a:prstGeom>
          <a:noFill/>
        </p:spPr>
        <p:txBody>
          <a:bodyPr wrap="square" lIns="0" tIns="0" rIns="0" bIns="0" rtlCol="0" anchor="ctr"/>
          <a:lstStyle/>
          <a:p>
            <a:pPr>
              <a:lnSpc>
                <a:spcPct val="110000"/>
              </a:lnSpc>
            </a:pPr>
            <a:r>
              <a:rPr lang="en-US" altLang="zh-CN" sz="610" dirty="0">
                <a:solidFill>
                  <a:srgbClr val="C9A227"/>
                </a:solidFill>
                <a:latin typeface="微软雅黑" panose="020B0503020204020204" pitchFamily="34" charset="-122"/>
                <a:ea typeface="微软雅黑" panose="020B0503020204020204" pitchFamily="34" charset="-122"/>
                <a:cs typeface="MiSans" pitchFamily="34" charset="-120"/>
              </a:rPr>
              <a:t>——</a:t>
            </a:r>
            <a:r>
              <a:rPr lang="en-US" sz="610" dirty="0" smtClean="0">
                <a:solidFill>
                  <a:srgbClr val="C9A227"/>
                </a:solidFill>
                <a:latin typeface="微软雅黑" panose="020B0503020204020204" pitchFamily="34" charset="-122"/>
                <a:ea typeface="微软雅黑" panose="020B0503020204020204" pitchFamily="34" charset="-122"/>
                <a:cs typeface="MiSans" pitchFamily="34" charset="-120"/>
              </a:rPr>
              <a:t>成立于</a:t>
            </a:r>
            <a:r>
              <a:rPr lang="en-US" sz="610" dirty="0">
                <a:solidFill>
                  <a:srgbClr val="C9A227"/>
                </a:solidFill>
                <a:latin typeface="微软雅黑" panose="020B0503020204020204" pitchFamily="34" charset="-122"/>
                <a:ea typeface="微软雅黑" panose="020B0503020204020204" pitchFamily="34" charset="-122"/>
                <a:cs typeface="MiSans" pitchFamily="34" charset="-120"/>
              </a:rPr>
              <a:t>1987年</a:t>
            </a:r>
          </a:p>
        </p:txBody>
      </p:sp>
      <p:sp>
        <p:nvSpPr>
          <p:cNvPr id="265" name="Text 262"/>
          <p:cNvSpPr/>
          <p:nvPr/>
        </p:nvSpPr>
        <p:spPr>
          <a:xfrm>
            <a:off x="362114" y="21497290"/>
            <a:ext cx="3273623" cy="472576"/>
          </a:xfrm>
          <a:prstGeom prst="rect">
            <a:avLst/>
          </a:prstGeom>
          <a:noFill/>
        </p:spPr>
        <p:txBody>
          <a:bodyPr wrap="square" lIns="0" tIns="0" rIns="0" bIns="0" rtlCol="0" anchor="ctr"/>
          <a:lstStyle/>
          <a:p>
            <a:pPr>
              <a:lnSpc>
                <a:spcPct val="140000"/>
              </a:lnSpc>
            </a:pPr>
            <a:r>
              <a:rPr lang="en-US" sz="690" dirty="0">
                <a:solidFill>
                  <a:srgbClr val="FFFFFF">
                    <a:alpha val="90000"/>
                  </a:srgbClr>
                </a:solidFill>
                <a:latin typeface="微软雅黑" panose="020B0503020204020204" pitchFamily="34" charset="-122"/>
                <a:ea typeface="微软雅黑" panose="020B0503020204020204" pitchFamily="34" charset="-122"/>
                <a:cs typeface="MiSans" pitchFamily="34" charset="-120"/>
              </a:rPr>
              <a:t>以实现</a:t>
            </a:r>
            <a:r>
              <a:rPr lang="en-US" sz="690" b="1" dirty="0">
                <a:solidFill>
                  <a:srgbClr val="C9A227">
                    <a:alpha val="90000"/>
                  </a:srgbClr>
                </a:solidFill>
                <a:latin typeface="微软雅黑" panose="020B0503020204020204" pitchFamily="34" charset="-122"/>
                <a:ea typeface="微软雅黑" panose="020B0503020204020204" pitchFamily="34" charset="-122"/>
                <a:cs typeface="MiSans" pitchFamily="34" charset="-120"/>
              </a:rPr>
              <a:t>"金融好社会"</a:t>
            </a:r>
            <a:r>
              <a:rPr lang="en-US" sz="690" dirty="0">
                <a:solidFill>
                  <a:srgbClr val="FFFFFF">
                    <a:alpha val="90000"/>
                  </a:srgbClr>
                </a:solidFill>
                <a:latin typeface="微软雅黑" panose="020B0503020204020204" pitchFamily="34" charset="-122"/>
                <a:ea typeface="微软雅黑" panose="020B0503020204020204" pitchFamily="34" charset="-122"/>
                <a:cs typeface="MiSans" pitchFamily="34" charset="-120"/>
              </a:rPr>
              <a:t>为使命，秉承</a:t>
            </a:r>
            <a:r>
              <a:rPr lang="en-US" sz="690" b="1" dirty="0">
                <a:solidFill>
                  <a:srgbClr val="C9A227">
                    <a:alpha val="90000"/>
                  </a:srgbClr>
                </a:solidFill>
                <a:latin typeface="微软雅黑" panose="020B0503020204020204" pitchFamily="34" charset="-122"/>
                <a:ea typeface="微软雅黑" panose="020B0503020204020204" pitchFamily="34" charset="-122"/>
                <a:cs typeface="MiSans" pitchFamily="34" charset="-120"/>
              </a:rPr>
              <a:t>"因诺致远"</a:t>
            </a:r>
            <a:r>
              <a:rPr lang="en-US" sz="690" dirty="0">
                <a:solidFill>
                  <a:srgbClr val="FFFFFF">
                    <a:alpha val="90000"/>
                  </a:srgbClr>
                </a:solidFill>
                <a:latin typeface="微软雅黑" panose="020B0503020204020204" pitchFamily="34" charset="-122"/>
                <a:ea typeface="微软雅黑" panose="020B0503020204020204" pitchFamily="34" charset="-122"/>
                <a:cs typeface="MiSans" pitchFamily="34" charset="-120"/>
              </a:rPr>
              <a:t>的服务理念，弘扬新时代中国中化"精气神"，坚持以客户为中心的产品力和组织力建设，践行</a:t>
            </a:r>
            <a:r>
              <a:rPr lang="en-US" sz="690" b="1" dirty="0">
                <a:solidFill>
                  <a:srgbClr val="C9A227">
                    <a:alpha val="90000"/>
                  </a:srgbClr>
                </a:solidFill>
                <a:latin typeface="微软雅黑" panose="020B0503020204020204" pitchFamily="34" charset="-122"/>
                <a:ea typeface="微软雅黑" panose="020B0503020204020204" pitchFamily="34" charset="-122"/>
                <a:cs typeface="MiSans" pitchFamily="34" charset="-120"/>
              </a:rPr>
              <a:t>"合规先行、稳中求进"</a:t>
            </a:r>
            <a:r>
              <a:rPr lang="en-US" sz="690" dirty="0">
                <a:solidFill>
                  <a:srgbClr val="FFFFFF">
                    <a:alpha val="90000"/>
                  </a:srgbClr>
                </a:solidFill>
                <a:latin typeface="微软雅黑" panose="020B0503020204020204" pitchFamily="34" charset="-122"/>
                <a:ea typeface="微软雅黑" panose="020B0503020204020204" pitchFamily="34" charset="-122"/>
                <a:cs typeface="MiSans" pitchFamily="34" charset="-120"/>
              </a:rPr>
              <a:t>的风控文化。</a:t>
            </a:r>
          </a:p>
        </p:txBody>
      </p:sp>
      <p:sp>
        <p:nvSpPr>
          <p:cNvPr id="274" name="Shape 271"/>
          <p:cNvSpPr/>
          <p:nvPr/>
        </p:nvSpPr>
        <p:spPr>
          <a:xfrm>
            <a:off x="3772570" y="21081219"/>
            <a:ext cx="2903264" cy="1833852"/>
          </a:xfrm>
          <a:custGeom>
            <a:avLst/>
            <a:gdLst/>
            <a:ahLst/>
            <a:cxnLst/>
            <a:rect l="l" t="t" r="r" b="b"/>
            <a:pathLst>
              <a:path w="5095875" h="3133725">
                <a:moveTo>
                  <a:pt x="114287" y="0"/>
                </a:moveTo>
                <a:lnTo>
                  <a:pt x="4981588" y="0"/>
                </a:lnTo>
                <a:cubicBezTo>
                  <a:pt x="5044707" y="0"/>
                  <a:pt x="5095875" y="51168"/>
                  <a:pt x="5095875" y="114287"/>
                </a:cubicBezTo>
                <a:lnTo>
                  <a:pt x="5095875" y="3019438"/>
                </a:lnTo>
                <a:cubicBezTo>
                  <a:pt x="5095875" y="3082557"/>
                  <a:pt x="5044707" y="3133725"/>
                  <a:pt x="4981588" y="3133725"/>
                </a:cubicBezTo>
                <a:lnTo>
                  <a:pt x="114287" y="3133725"/>
                </a:lnTo>
                <a:cubicBezTo>
                  <a:pt x="51168" y="3133725"/>
                  <a:pt x="0" y="3082557"/>
                  <a:pt x="0" y="3019438"/>
                </a:cubicBezTo>
                <a:lnTo>
                  <a:pt x="0" y="114287"/>
                </a:lnTo>
                <a:cubicBezTo>
                  <a:pt x="0" y="51210"/>
                  <a:pt x="51210" y="0"/>
                  <a:pt x="114287" y="0"/>
                </a:cubicBezTo>
                <a:close/>
              </a:path>
            </a:pathLst>
          </a:custGeom>
          <a:solidFill>
            <a:srgbClr val="FFFFFF"/>
          </a:solidFill>
          <a:ln w="12700">
            <a:noFill/>
            <a:prstDash val="solid"/>
          </a:ln>
          <a:effectLst>
            <a:outerShdw blurRad="63500" sx="102000" sy="102000" algn="ctr" rotWithShape="0">
              <a:prstClr val="black">
                <a:alpha val="40000"/>
              </a:prstClr>
            </a:outerShdw>
          </a:effectLst>
        </p:spPr>
      </p:sp>
      <p:sp>
        <p:nvSpPr>
          <p:cNvPr id="275" name="Text 272"/>
          <p:cNvSpPr/>
          <p:nvPr/>
        </p:nvSpPr>
        <p:spPr>
          <a:xfrm>
            <a:off x="3882390" y="21191220"/>
            <a:ext cx="247015" cy="107315"/>
          </a:xfrm>
          <a:prstGeom prst="rect">
            <a:avLst/>
          </a:prstGeom>
          <a:noFill/>
        </p:spPr>
        <p:txBody>
          <a:bodyPr wrap="square" lIns="0" tIns="0" rIns="0" bIns="0" rtlCol="0" anchor="ctr"/>
          <a:lstStyle/>
          <a:p>
            <a:pPr>
              <a:lnSpc>
                <a:spcPct val="120000"/>
              </a:lnSpc>
            </a:pPr>
            <a:r>
              <a:rPr lang="en-US" sz="690" b="1" dirty="0">
                <a:solidFill>
                  <a:srgbClr val="1E3A5F"/>
                </a:solidFill>
                <a:latin typeface="微软雅黑" panose="020B0503020204020204" pitchFamily="34" charset="-122"/>
                <a:ea typeface="微软雅黑" panose="020B0503020204020204" pitchFamily="34" charset="-122"/>
                <a:cs typeface="MiSans" pitchFamily="34" charset="-120"/>
              </a:rPr>
              <a:t>👥</a:t>
            </a:r>
          </a:p>
        </p:txBody>
      </p:sp>
      <p:sp>
        <p:nvSpPr>
          <p:cNvPr id="276" name="Text 273"/>
          <p:cNvSpPr/>
          <p:nvPr/>
        </p:nvSpPr>
        <p:spPr>
          <a:xfrm>
            <a:off x="4028440" y="21191220"/>
            <a:ext cx="600075" cy="107315"/>
          </a:xfrm>
          <a:prstGeom prst="rect">
            <a:avLst/>
          </a:prstGeom>
          <a:noFill/>
        </p:spPr>
        <p:txBody>
          <a:bodyPr wrap="square" lIns="0" tIns="0" rIns="0" bIns="0" rtlCol="0" anchor="ctr"/>
          <a:lstStyle/>
          <a:p>
            <a:pPr>
              <a:lnSpc>
                <a:spcPct val="120000"/>
              </a:lnSpc>
            </a:pPr>
            <a:r>
              <a:rPr lang="en-US" sz="690" b="1" dirty="0">
                <a:solidFill>
                  <a:srgbClr val="1E3A5F"/>
                </a:solidFill>
                <a:latin typeface="微软雅黑" panose="020B0503020204020204" pitchFamily="34" charset="-122"/>
                <a:ea typeface="微软雅黑" panose="020B0503020204020204" pitchFamily="34" charset="-122"/>
                <a:cs typeface="MiSans" pitchFamily="34" charset="-120"/>
              </a:rPr>
              <a:t>股东背景</a:t>
            </a:r>
          </a:p>
        </p:txBody>
      </p:sp>
      <p:sp>
        <p:nvSpPr>
          <p:cNvPr id="277" name="Shape 274"/>
          <p:cNvSpPr/>
          <p:nvPr/>
        </p:nvSpPr>
        <p:spPr>
          <a:xfrm>
            <a:off x="3882390" y="21383625"/>
            <a:ext cx="2646680" cy="887730"/>
          </a:xfrm>
          <a:custGeom>
            <a:avLst/>
            <a:gdLst/>
            <a:ahLst/>
            <a:cxnLst/>
            <a:rect l="l" t="t" r="r" b="b"/>
            <a:pathLst>
              <a:path w="4705350" h="1362075">
                <a:moveTo>
                  <a:pt x="76194" y="0"/>
                </a:moveTo>
                <a:lnTo>
                  <a:pt x="4629156" y="0"/>
                </a:lnTo>
                <a:cubicBezTo>
                  <a:pt x="4671237" y="0"/>
                  <a:pt x="4705350" y="34113"/>
                  <a:pt x="4705350" y="76194"/>
                </a:cubicBezTo>
                <a:lnTo>
                  <a:pt x="4705350" y="1285881"/>
                </a:lnTo>
                <a:cubicBezTo>
                  <a:pt x="4705350" y="1327962"/>
                  <a:pt x="4671237" y="1362075"/>
                  <a:pt x="4629156" y="1362075"/>
                </a:cubicBezTo>
                <a:lnTo>
                  <a:pt x="76194" y="1362075"/>
                </a:lnTo>
                <a:cubicBezTo>
                  <a:pt x="34113" y="1362075"/>
                  <a:pt x="0" y="1327962"/>
                  <a:pt x="0" y="1285881"/>
                </a:cubicBezTo>
                <a:lnTo>
                  <a:pt x="0" y="76194"/>
                </a:lnTo>
                <a:cubicBezTo>
                  <a:pt x="0" y="34142"/>
                  <a:pt x="34142" y="0"/>
                  <a:pt x="76194" y="0"/>
                </a:cubicBezTo>
                <a:close/>
              </a:path>
            </a:pathLst>
          </a:custGeom>
          <a:solidFill>
            <a:srgbClr val="1E3A5F">
              <a:alpha val="5098"/>
            </a:srgbClr>
          </a:solidFill>
        </p:spPr>
      </p:sp>
      <p:sp>
        <p:nvSpPr>
          <p:cNvPr id="278" name="Shape 275"/>
          <p:cNvSpPr/>
          <p:nvPr/>
        </p:nvSpPr>
        <p:spPr>
          <a:xfrm>
            <a:off x="3957419" y="21485737"/>
            <a:ext cx="192881" cy="192881"/>
          </a:xfrm>
          <a:custGeom>
            <a:avLst/>
            <a:gdLst/>
            <a:ahLst/>
            <a:cxnLst/>
            <a:rect l="l" t="t" r="r" b="b"/>
            <a:pathLst>
              <a:path w="342900" h="342900">
                <a:moveTo>
                  <a:pt x="76199" y="0"/>
                </a:moveTo>
                <a:lnTo>
                  <a:pt x="266701" y="0"/>
                </a:lnTo>
                <a:cubicBezTo>
                  <a:pt x="308756" y="0"/>
                  <a:pt x="342900" y="34144"/>
                  <a:pt x="342900" y="76199"/>
                </a:cubicBezTo>
                <a:lnTo>
                  <a:pt x="342900" y="266701"/>
                </a:lnTo>
                <a:cubicBezTo>
                  <a:pt x="342900" y="308756"/>
                  <a:pt x="308756" y="342900"/>
                  <a:pt x="266701" y="342900"/>
                </a:cubicBezTo>
                <a:lnTo>
                  <a:pt x="76199" y="342900"/>
                </a:lnTo>
                <a:cubicBezTo>
                  <a:pt x="34144" y="342900"/>
                  <a:pt x="0" y="308756"/>
                  <a:pt x="0" y="266701"/>
                </a:cubicBezTo>
                <a:lnTo>
                  <a:pt x="0" y="76199"/>
                </a:lnTo>
                <a:cubicBezTo>
                  <a:pt x="0" y="34144"/>
                  <a:pt x="34144" y="0"/>
                  <a:pt x="76199" y="0"/>
                </a:cubicBezTo>
                <a:close/>
              </a:path>
            </a:pathLst>
          </a:custGeom>
          <a:solidFill>
            <a:srgbClr val="1E3A5F"/>
          </a:solidFill>
        </p:spPr>
      </p:sp>
      <p:sp>
        <p:nvSpPr>
          <p:cNvPr id="279" name="Text 276"/>
          <p:cNvSpPr/>
          <p:nvPr/>
        </p:nvSpPr>
        <p:spPr>
          <a:xfrm>
            <a:off x="3935983" y="21485737"/>
            <a:ext cx="235744" cy="192881"/>
          </a:xfrm>
          <a:prstGeom prst="rect">
            <a:avLst/>
          </a:prstGeom>
          <a:noFill/>
        </p:spPr>
        <p:txBody>
          <a:bodyPr wrap="square" lIns="0" tIns="0" rIns="0" bIns="0" rtlCol="0" anchor="ctr"/>
          <a:lstStyle/>
          <a:p>
            <a:pPr algn="ctr">
              <a:lnSpc>
                <a:spcPct val="130000"/>
              </a:lnSpc>
            </a:pPr>
            <a:r>
              <a:rPr lang="en-US" sz="675" dirty="0">
                <a:solidFill>
                  <a:srgbClr val="FFFFFF"/>
                </a:solidFill>
                <a:latin typeface="微软雅黑" panose="020B0503020204020204" pitchFamily="34" charset="-122"/>
                <a:ea typeface="微软雅黑" panose="020B0503020204020204" pitchFamily="34" charset="-122"/>
                <a:cs typeface="MiSans" pitchFamily="34" charset="-120"/>
              </a:rPr>
              <a:t>中</a:t>
            </a:r>
            <a:endParaRPr lang="en-US" sz="900" dirty="0">
              <a:latin typeface="微软雅黑" panose="020B0503020204020204" pitchFamily="34" charset="-122"/>
              <a:ea typeface="微软雅黑" panose="020B0503020204020204" pitchFamily="34" charset="-122"/>
            </a:endParaRPr>
          </a:p>
        </p:txBody>
      </p:sp>
      <p:sp>
        <p:nvSpPr>
          <p:cNvPr id="280" name="Text 277"/>
          <p:cNvSpPr/>
          <p:nvPr/>
        </p:nvSpPr>
        <p:spPr>
          <a:xfrm>
            <a:off x="4203700" y="21480145"/>
            <a:ext cx="741045" cy="107315"/>
          </a:xfrm>
          <a:prstGeom prst="rect">
            <a:avLst/>
          </a:prstGeom>
          <a:noFill/>
        </p:spPr>
        <p:txBody>
          <a:bodyPr wrap="square" lIns="0" tIns="0" rIns="0" bIns="0" rtlCol="0" anchor="ctr"/>
          <a:lstStyle/>
          <a:p>
            <a:pPr>
              <a:lnSpc>
                <a:spcPct val="120000"/>
              </a:lnSpc>
            </a:pPr>
            <a:r>
              <a:rPr lang="en-US" sz="690" b="1" dirty="0">
                <a:solidFill>
                  <a:srgbClr val="1E3A5F"/>
                </a:solidFill>
                <a:latin typeface="微软雅黑" panose="020B0503020204020204" pitchFamily="34" charset="-122"/>
                <a:ea typeface="微软雅黑" panose="020B0503020204020204" pitchFamily="34" charset="-122"/>
                <a:cs typeface="MiSans" pitchFamily="34" charset="-120"/>
              </a:rPr>
              <a:t>中国中化集团</a:t>
            </a:r>
          </a:p>
        </p:txBody>
      </p:sp>
      <p:sp>
        <p:nvSpPr>
          <p:cNvPr id="281" name="Text 278"/>
          <p:cNvSpPr/>
          <p:nvPr/>
        </p:nvSpPr>
        <p:spPr>
          <a:xfrm>
            <a:off x="4203879" y="21587535"/>
            <a:ext cx="482203" cy="96441"/>
          </a:xfrm>
          <a:prstGeom prst="rect">
            <a:avLst/>
          </a:prstGeom>
          <a:noFill/>
        </p:spPr>
        <p:txBody>
          <a:bodyPr wrap="square" lIns="0" tIns="0" rIns="0" bIns="0" rtlCol="0" anchor="ctr"/>
          <a:lstStyle/>
          <a:p>
            <a:pPr>
              <a:lnSpc>
                <a:spcPct val="130000"/>
              </a:lnSpc>
            </a:pPr>
            <a:r>
              <a:rPr lang="en-US" sz="610" dirty="0">
                <a:solidFill>
                  <a:srgbClr val="6B7280"/>
                </a:solidFill>
                <a:latin typeface="微软雅黑" panose="020B0503020204020204" pitchFamily="34" charset="-122"/>
                <a:ea typeface="微软雅黑" panose="020B0503020204020204" pitchFamily="34" charset="-122"/>
                <a:cs typeface="MiSans" pitchFamily="34" charset="-120"/>
              </a:rPr>
              <a:t>实际控制人</a:t>
            </a:r>
          </a:p>
        </p:txBody>
      </p:sp>
      <p:sp>
        <p:nvSpPr>
          <p:cNvPr id="282" name="Text 279"/>
          <p:cNvSpPr/>
          <p:nvPr/>
        </p:nvSpPr>
        <p:spPr>
          <a:xfrm>
            <a:off x="6042608" y="21505065"/>
            <a:ext cx="412552" cy="150019"/>
          </a:xfrm>
          <a:prstGeom prst="rect">
            <a:avLst/>
          </a:prstGeom>
          <a:noFill/>
        </p:spPr>
        <p:txBody>
          <a:bodyPr wrap="square" lIns="0" tIns="0" rIns="0" bIns="0" rtlCol="0" anchor="ctr"/>
          <a:lstStyle/>
          <a:p>
            <a:pPr algn="r">
              <a:lnSpc>
                <a:spcPct val="120000"/>
              </a:lnSpc>
            </a:pPr>
            <a:r>
              <a:rPr lang="en-US" sz="845" b="1" dirty="0">
                <a:solidFill>
                  <a:srgbClr val="C9A227"/>
                </a:solidFill>
                <a:latin typeface="微软雅黑" panose="020B0503020204020204" pitchFamily="34" charset="-122"/>
                <a:ea typeface="微软雅黑" panose="020B0503020204020204" pitchFamily="34" charset="-122"/>
                <a:cs typeface="MiSans" pitchFamily="34" charset="-120"/>
              </a:rPr>
              <a:t>97.26%</a:t>
            </a:r>
            <a:endParaRPr lang="en-US" sz="900" dirty="0">
              <a:latin typeface="微软雅黑" panose="020B0503020204020204" pitchFamily="34" charset="-122"/>
              <a:ea typeface="微软雅黑" panose="020B0503020204020204" pitchFamily="34" charset="-122"/>
            </a:endParaRPr>
          </a:p>
        </p:txBody>
      </p:sp>
      <p:sp>
        <p:nvSpPr>
          <p:cNvPr id="284" name="Text 281"/>
          <p:cNvSpPr/>
          <p:nvPr/>
        </p:nvSpPr>
        <p:spPr>
          <a:xfrm>
            <a:off x="3950429" y="21833915"/>
            <a:ext cx="2528888" cy="316111"/>
          </a:xfrm>
          <a:prstGeom prst="rect">
            <a:avLst/>
          </a:prstGeom>
          <a:noFill/>
        </p:spPr>
        <p:txBody>
          <a:bodyPr wrap="square" lIns="0" tIns="0" rIns="0" bIns="0" rtlCol="0" anchor="ctr"/>
          <a:lstStyle/>
          <a:p>
            <a:pPr>
              <a:lnSpc>
                <a:spcPct val="140000"/>
              </a:lnSpc>
            </a:pPr>
            <a:r>
              <a:rPr lang="en-US" sz="610" dirty="0">
                <a:solidFill>
                  <a:srgbClr val="6B7280"/>
                </a:solidFill>
                <a:latin typeface="微软雅黑" panose="020B0503020204020204" pitchFamily="34" charset="-122"/>
                <a:ea typeface="微软雅黑" panose="020B0503020204020204" pitchFamily="34" charset="-122"/>
                <a:cs typeface="MiSans" pitchFamily="34" charset="-120"/>
              </a:rPr>
              <a:t>中国中化集团有限公司与中国化工集团有限公司联合重组而成，为</a:t>
            </a:r>
            <a:r>
              <a:rPr lang="en-US" sz="610" b="1" dirty="0">
                <a:solidFill>
                  <a:srgbClr val="C9A227"/>
                </a:solidFill>
                <a:latin typeface="微软雅黑" panose="020B0503020204020204" pitchFamily="34" charset="-122"/>
                <a:ea typeface="微软雅黑" panose="020B0503020204020204" pitchFamily="34" charset="-122"/>
                <a:cs typeface="MiSans" pitchFamily="34" charset="-120"/>
              </a:rPr>
              <a:t>国务院国资委监管的国有重要骨干企业</a:t>
            </a:r>
            <a:r>
              <a:rPr lang="en-US" sz="610" dirty="0">
                <a:solidFill>
                  <a:srgbClr val="6B7280"/>
                </a:solidFill>
                <a:latin typeface="微软雅黑" panose="020B0503020204020204" pitchFamily="34" charset="-122"/>
                <a:ea typeface="微软雅黑" panose="020B0503020204020204" pitchFamily="34" charset="-122"/>
                <a:cs typeface="MiSans" pitchFamily="34" charset="-120"/>
              </a:rPr>
              <a:t>，员工22万人。业务范围覆盖生命科学、材料科学、基础化工、环境科学、橡胶轮胎、机械装备、城市运营、产业金融等八大领域。</a:t>
            </a:r>
          </a:p>
        </p:txBody>
      </p:sp>
      <p:sp>
        <p:nvSpPr>
          <p:cNvPr id="285" name="Shape 282"/>
          <p:cNvSpPr/>
          <p:nvPr/>
        </p:nvSpPr>
        <p:spPr>
          <a:xfrm>
            <a:off x="3877330" y="22457634"/>
            <a:ext cx="2646759" cy="278606"/>
          </a:xfrm>
          <a:custGeom>
            <a:avLst/>
            <a:gdLst/>
            <a:ahLst/>
            <a:cxnLst/>
            <a:rect l="l" t="t" r="r" b="b"/>
            <a:pathLst>
              <a:path w="4705350" h="495300">
                <a:moveTo>
                  <a:pt x="57148" y="0"/>
                </a:moveTo>
                <a:lnTo>
                  <a:pt x="4648202" y="0"/>
                </a:lnTo>
                <a:cubicBezTo>
                  <a:pt x="4679743" y="0"/>
                  <a:pt x="4705350" y="25607"/>
                  <a:pt x="4705350" y="57148"/>
                </a:cubicBezTo>
                <a:lnTo>
                  <a:pt x="4705350" y="438152"/>
                </a:lnTo>
                <a:cubicBezTo>
                  <a:pt x="4705350" y="469693"/>
                  <a:pt x="4679743" y="495300"/>
                  <a:pt x="4648202" y="495300"/>
                </a:cubicBezTo>
                <a:lnTo>
                  <a:pt x="57148" y="495300"/>
                </a:lnTo>
                <a:cubicBezTo>
                  <a:pt x="25607" y="495300"/>
                  <a:pt x="0" y="469693"/>
                  <a:pt x="0" y="438152"/>
                </a:cubicBezTo>
                <a:lnTo>
                  <a:pt x="0" y="57148"/>
                </a:lnTo>
                <a:cubicBezTo>
                  <a:pt x="0" y="25607"/>
                  <a:pt x="25607" y="0"/>
                  <a:pt x="57148" y="0"/>
                </a:cubicBezTo>
                <a:close/>
              </a:path>
            </a:pathLst>
          </a:custGeom>
          <a:solidFill>
            <a:schemeClr val="accent4">
              <a:lumMod val="40000"/>
              <a:lumOff val="60000"/>
            </a:schemeClr>
          </a:solidFill>
          <a:ln>
            <a:noFill/>
          </a:ln>
        </p:spPr>
      </p:sp>
      <p:sp>
        <p:nvSpPr>
          <p:cNvPr id="286" name="Text 283"/>
          <p:cNvSpPr/>
          <p:nvPr/>
        </p:nvSpPr>
        <p:spPr>
          <a:xfrm>
            <a:off x="3958129" y="22559122"/>
            <a:ext cx="107156" cy="85725"/>
          </a:xfrm>
          <a:prstGeom prst="rect">
            <a:avLst/>
          </a:prstGeom>
          <a:noFill/>
        </p:spPr>
        <p:txBody>
          <a:bodyPr wrap="square" lIns="0" tIns="0" rIns="0" bIns="0" rtlCol="0" anchor="ctr"/>
          <a:lstStyle/>
          <a:p>
            <a:pPr>
              <a:lnSpc>
                <a:spcPct val="110000"/>
              </a:lnSpc>
            </a:pPr>
            <a:r>
              <a:rPr lang="en-US" sz="700" dirty="0">
                <a:solidFill>
                  <a:srgbClr val="6B7280"/>
                </a:solidFill>
                <a:latin typeface="微软雅黑" panose="020B0503020204020204" pitchFamily="34" charset="-122"/>
                <a:ea typeface="微软雅黑" panose="020B0503020204020204" pitchFamily="34" charset="-122"/>
                <a:cs typeface="MiSans" pitchFamily="34" charset="-120"/>
              </a:rPr>
              <a:t>👤</a:t>
            </a:r>
            <a:endParaRPr lang="en-US" sz="1050" dirty="0">
              <a:latin typeface="微软雅黑" panose="020B0503020204020204" pitchFamily="34" charset="-122"/>
              <a:ea typeface="微软雅黑" panose="020B0503020204020204" pitchFamily="34" charset="-122"/>
            </a:endParaRPr>
          </a:p>
        </p:txBody>
      </p:sp>
      <p:sp>
        <p:nvSpPr>
          <p:cNvPr id="287" name="Text 284"/>
          <p:cNvSpPr/>
          <p:nvPr/>
        </p:nvSpPr>
        <p:spPr>
          <a:xfrm>
            <a:off x="4065033" y="22555746"/>
            <a:ext cx="577505" cy="89102"/>
          </a:xfrm>
          <a:prstGeom prst="rect">
            <a:avLst/>
          </a:prstGeom>
          <a:noFill/>
        </p:spPr>
        <p:txBody>
          <a:bodyPr wrap="square" lIns="0" tIns="0" rIns="0" bIns="0" rtlCol="0" anchor="ctr"/>
          <a:lstStyle/>
          <a:p>
            <a:pPr>
              <a:lnSpc>
                <a:spcPct val="110000"/>
              </a:lnSpc>
            </a:pPr>
            <a:r>
              <a:rPr lang="en-US" sz="700" dirty="0">
                <a:solidFill>
                  <a:srgbClr val="6B7280"/>
                </a:solidFill>
                <a:latin typeface="微软雅黑" panose="020B0503020204020204" pitchFamily="34" charset="-122"/>
                <a:ea typeface="微软雅黑" panose="020B0503020204020204" pitchFamily="34" charset="-122"/>
                <a:cs typeface="MiSans" pitchFamily="34" charset="-120"/>
              </a:rPr>
              <a:t>其他股东</a:t>
            </a:r>
            <a:endParaRPr lang="en-US" sz="1050" dirty="0">
              <a:latin typeface="微软雅黑" panose="020B0503020204020204" pitchFamily="34" charset="-122"/>
              <a:ea typeface="微软雅黑" panose="020B0503020204020204" pitchFamily="34" charset="-122"/>
            </a:endParaRPr>
          </a:p>
        </p:txBody>
      </p:sp>
      <p:sp>
        <p:nvSpPr>
          <p:cNvPr id="288" name="Text 285"/>
          <p:cNvSpPr/>
          <p:nvPr/>
        </p:nvSpPr>
        <p:spPr>
          <a:xfrm>
            <a:off x="6213187" y="22526975"/>
            <a:ext cx="310753" cy="150019"/>
          </a:xfrm>
          <a:prstGeom prst="rect">
            <a:avLst/>
          </a:prstGeom>
          <a:noFill/>
        </p:spPr>
        <p:txBody>
          <a:bodyPr wrap="square" lIns="0" tIns="0" rIns="0" bIns="0" rtlCol="0" anchor="ctr"/>
          <a:lstStyle/>
          <a:p>
            <a:pPr>
              <a:lnSpc>
                <a:spcPct val="130000"/>
              </a:lnSpc>
            </a:pPr>
            <a:r>
              <a:rPr lang="en-US" sz="760" b="1" dirty="0">
                <a:solidFill>
                  <a:srgbClr val="6B7280"/>
                </a:solidFill>
                <a:latin typeface="微软雅黑" panose="020B0503020204020204" pitchFamily="34" charset="-122"/>
                <a:ea typeface="微软雅黑" panose="020B0503020204020204" pitchFamily="34" charset="-122"/>
                <a:cs typeface="MiSans" pitchFamily="34" charset="-120"/>
              </a:rPr>
              <a:t>2.74%</a:t>
            </a:r>
            <a:endParaRPr lang="en-US" sz="900" dirty="0">
              <a:latin typeface="微软雅黑" panose="020B0503020204020204" pitchFamily="34" charset="-122"/>
              <a:ea typeface="微软雅黑" panose="020B0503020204020204" pitchFamily="34" charset="-122"/>
            </a:endParaRPr>
          </a:p>
        </p:txBody>
      </p:sp>
      <p:sp>
        <p:nvSpPr>
          <p:cNvPr id="289" name="Shape 286"/>
          <p:cNvSpPr/>
          <p:nvPr/>
        </p:nvSpPr>
        <p:spPr>
          <a:xfrm>
            <a:off x="0" y="23133264"/>
            <a:ext cx="6858000" cy="21431"/>
          </a:xfrm>
          <a:custGeom>
            <a:avLst/>
            <a:gdLst/>
            <a:ahLst/>
            <a:cxnLst/>
            <a:rect l="l" t="t" r="r" b="b"/>
            <a:pathLst>
              <a:path w="12192000" h="38100">
                <a:moveTo>
                  <a:pt x="0" y="0"/>
                </a:moveTo>
                <a:lnTo>
                  <a:pt x="12192000" y="0"/>
                </a:lnTo>
                <a:lnTo>
                  <a:pt x="12192000" y="38100"/>
                </a:lnTo>
                <a:lnTo>
                  <a:pt x="0" y="38100"/>
                </a:lnTo>
                <a:lnTo>
                  <a:pt x="0" y="0"/>
                </a:lnTo>
                <a:close/>
              </a:path>
            </a:pathLst>
          </a:custGeom>
          <a:solidFill>
            <a:srgbClr val="C9A227"/>
          </a:solidFill>
        </p:spPr>
      </p:sp>
      <p:sp>
        <p:nvSpPr>
          <p:cNvPr id="290" name="Text 287"/>
          <p:cNvSpPr/>
          <p:nvPr/>
        </p:nvSpPr>
        <p:spPr>
          <a:xfrm>
            <a:off x="214312" y="23182079"/>
            <a:ext cx="6461522" cy="96441"/>
          </a:xfrm>
          <a:prstGeom prst="rect">
            <a:avLst/>
          </a:prstGeom>
          <a:noFill/>
        </p:spPr>
        <p:txBody>
          <a:bodyPr wrap="square" lIns="0" tIns="0" rIns="0" bIns="0" rtlCol="0" anchor="ctr"/>
          <a:lstStyle/>
          <a:p>
            <a:pPr algn="ctr">
              <a:lnSpc>
                <a:spcPct val="130000"/>
              </a:lnSpc>
            </a:pPr>
            <a:r>
              <a:rPr lang="en-US" sz="610" b="1" kern="0" spc="23" dirty="0">
                <a:solidFill>
                  <a:srgbClr val="C9A227"/>
                </a:solidFill>
                <a:latin typeface="MiSans" pitchFamily="34" charset="-122"/>
                <a:ea typeface="MiSans" pitchFamily="34" charset="-122"/>
                <a:cs typeface="MiSans" pitchFamily="34" charset="-120"/>
              </a:rPr>
              <a:t>Risk Warning</a:t>
            </a:r>
          </a:p>
        </p:txBody>
      </p:sp>
      <p:sp>
        <p:nvSpPr>
          <p:cNvPr id="291" name="Text 288"/>
          <p:cNvSpPr/>
          <p:nvPr/>
        </p:nvSpPr>
        <p:spPr>
          <a:xfrm>
            <a:off x="214317" y="23310665"/>
            <a:ext cx="6493669" cy="225028"/>
          </a:xfrm>
          <a:prstGeom prst="rect">
            <a:avLst/>
          </a:prstGeom>
          <a:noFill/>
        </p:spPr>
        <p:txBody>
          <a:bodyPr wrap="square" lIns="0" tIns="0" rIns="0" bIns="53578" rtlCol="0" anchor="ctr"/>
          <a:lstStyle/>
          <a:p>
            <a:pPr algn="ctr">
              <a:lnSpc>
                <a:spcPct val="110000"/>
              </a:lnSpc>
            </a:pPr>
            <a:r>
              <a:rPr lang="en-US" sz="1200" b="1" dirty="0">
                <a:solidFill>
                  <a:srgbClr val="92400E"/>
                </a:solidFill>
                <a:latin typeface="MiSans" pitchFamily="34" charset="-122"/>
                <a:ea typeface="MiSans" pitchFamily="34" charset="-122"/>
                <a:cs typeface="MiSans" pitchFamily="34" charset="-120"/>
              </a:rPr>
              <a:t>风险提示</a:t>
            </a:r>
          </a:p>
        </p:txBody>
      </p:sp>
      <p:sp>
        <p:nvSpPr>
          <p:cNvPr id="292" name="Shape 289"/>
          <p:cNvSpPr/>
          <p:nvPr/>
        </p:nvSpPr>
        <p:spPr>
          <a:xfrm>
            <a:off x="55271" y="23505221"/>
            <a:ext cx="6619716" cy="1865747"/>
          </a:xfrm>
          <a:custGeom>
            <a:avLst/>
            <a:gdLst/>
            <a:ahLst/>
            <a:cxnLst/>
            <a:rect l="l" t="t" r="r" b="b"/>
            <a:pathLst>
              <a:path w="11420475" h="2914650">
                <a:moveTo>
                  <a:pt x="114313" y="0"/>
                </a:moveTo>
                <a:lnTo>
                  <a:pt x="11306162" y="0"/>
                </a:lnTo>
                <a:cubicBezTo>
                  <a:pt x="11369296" y="0"/>
                  <a:pt x="11420475" y="51179"/>
                  <a:pt x="11420475" y="114313"/>
                </a:cubicBezTo>
                <a:lnTo>
                  <a:pt x="11420475" y="2800337"/>
                </a:lnTo>
                <a:cubicBezTo>
                  <a:pt x="11420475" y="2863471"/>
                  <a:pt x="11369296" y="2914650"/>
                  <a:pt x="11306162" y="2914650"/>
                </a:cubicBezTo>
                <a:lnTo>
                  <a:pt x="114313" y="2914650"/>
                </a:lnTo>
                <a:cubicBezTo>
                  <a:pt x="51179" y="2914650"/>
                  <a:pt x="0" y="2863471"/>
                  <a:pt x="0" y="2800337"/>
                </a:cubicBezTo>
                <a:lnTo>
                  <a:pt x="0" y="114313"/>
                </a:lnTo>
                <a:cubicBezTo>
                  <a:pt x="0" y="51179"/>
                  <a:pt x="51179" y="0"/>
                  <a:pt x="114313" y="0"/>
                </a:cubicBezTo>
                <a:close/>
              </a:path>
            </a:pathLst>
          </a:custGeom>
          <a:solidFill>
            <a:srgbClr val="FFFFFF"/>
          </a:solidFill>
          <a:ln w="12700">
            <a:solidFill>
              <a:srgbClr val="F59E0B">
                <a:alpha val="30196"/>
              </a:srgbClr>
            </a:solidFill>
            <a:prstDash val="solid"/>
          </a:ln>
          <a:effectLst/>
        </p:spPr>
      </p:sp>
      <p:sp>
        <p:nvSpPr>
          <p:cNvPr id="295" name="Text 292"/>
          <p:cNvSpPr/>
          <p:nvPr/>
        </p:nvSpPr>
        <p:spPr>
          <a:xfrm>
            <a:off x="242842" y="23710874"/>
            <a:ext cx="6241852" cy="107156"/>
          </a:xfrm>
          <a:prstGeom prst="rect">
            <a:avLst/>
          </a:prstGeom>
          <a:noFill/>
        </p:spPr>
        <p:txBody>
          <a:bodyPr wrap="square" lIns="0" tIns="0" rIns="0" bIns="0" rtlCol="0" anchor="ctr"/>
          <a:lstStyle/>
          <a:p>
            <a:pPr>
              <a:lnSpc>
                <a:spcPct val="120000"/>
              </a:lnSpc>
            </a:pPr>
            <a:endParaRPr lang="en-US" sz="690" b="1" dirty="0">
              <a:solidFill>
                <a:srgbClr val="78350F"/>
              </a:solidFill>
              <a:latin typeface="MiSans" pitchFamily="34" charset="-122"/>
              <a:ea typeface="MiSans" pitchFamily="34" charset="-122"/>
              <a:cs typeface="MiSans" pitchFamily="34" charset="-120"/>
            </a:endParaRPr>
          </a:p>
        </p:txBody>
      </p:sp>
      <p:sp>
        <p:nvSpPr>
          <p:cNvPr id="296" name="Text 293"/>
          <p:cNvSpPr/>
          <p:nvPr/>
        </p:nvSpPr>
        <p:spPr>
          <a:xfrm>
            <a:off x="242841" y="23903755"/>
            <a:ext cx="6236494" cy="300038"/>
          </a:xfrm>
          <a:prstGeom prst="rect">
            <a:avLst/>
          </a:prstGeom>
          <a:noFill/>
        </p:spPr>
        <p:txBody>
          <a:bodyPr wrap="square" lIns="0" tIns="0" rIns="0" bIns="0" rtlCol="0" anchor="ctr"/>
          <a:lstStyle/>
          <a:p>
            <a:pPr algn="just">
              <a:lnSpc>
                <a:spcPct val="190000"/>
              </a:lnSpc>
            </a:pPr>
            <a:endParaRPr lang="en-US" sz="610" dirty="0">
              <a:solidFill>
                <a:srgbClr val="78350F"/>
              </a:solidFill>
              <a:latin typeface="MiSans" pitchFamily="34" charset="-122"/>
              <a:ea typeface="MiSans" pitchFamily="34" charset="-122"/>
              <a:cs typeface="MiSans" pitchFamily="34" charset="-120"/>
            </a:endParaRPr>
          </a:p>
        </p:txBody>
      </p:sp>
      <p:sp>
        <p:nvSpPr>
          <p:cNvPr id="297" name="Shape 294"/>
          <p:cNvSpPr/>
          <p:nvPr/>
        </p:nvSpPr>
        <p:spPr>
          <a:xfrm>
            <a:off x="242847" y="24268086"/>
            <a:ext cx="6204347" cy="5358"/>
          </a:xfrm>
          <a:custGeom>
            <a:avLst/>
            <a:gdLst/>
            <a:ahLst/>
            <a:cxnLst/>
            <a:rect l="l" t="t" r="r" b="b"/>
            <a:pathLst>
              <a:path w="11029950" h="9525">
                <a:moveTo>
                  <a:pt x="0" y="0"/>
                </a:moveTo>
                <a:lnTo>
                  <a:pt x="11029950" y="0"/>
                </a:lnTo>
                <a:lnTo>
                  <a:pt x="11029950" y="9525"/>
                </a:lnTo>
                <a:lnTo>
                  <a:pt x="0" y="9525"/>
                </a:lnTo>
                <a:lnTo>
                  <a:pt x="0" y="0"/>
                </a:lnTo>
                <a:close/>
              </a:path>
            </a:pathLst>
          </a:custGeom>
          <a:solidFill>
            <a:srgbClr val="F59E0B">
              <a:alpha val="30196"/>
            </a:srgbClr>
          </a:solidFill>
        </p:spPr>
      </p:sp>
      <p:sp>
        <p:nvSpPr>
          <p:cNvPr id="298" name="Text 295"/>
          <p:cNvSpPr/>
          <p:nvPr/>
        </p:nvSpPr>
        <p:spPr>
          <a:xfrm>
            <a:off x="133858" y="23496712"/>
            <a:ext cx="6496892" cy="1862210"/>
          </a:xfrm>
          <a:prstGeom prst="rect">
            <a:avLst/>
          </a:prstGeom>
          <a:noFill/>
        </p:spPr>
        <p:txBody>
          <a:bodyPr wrap="square" lIns="0" tIns="0" rIns="0" bIns="0" rtlCol="0" anchor="ctr"/>
          <a:lstStyle/>
          <a:p>
            <a:pPr algn="just">
              <a:lnSpc>
                <a:spcPct val="190000"/>
              </a:lnSpc>
            </a:pPr>
            <a:r>
              <a:rPr lang="en-US" altLang="zh-CN" sz="750" dirty="0">
                <a:solidFill>
                  <a:srgbClr val="78350F"/>
                </a:solidFill>
                <a:latin typeface="微软雅黑" panose="020B0503020204020204" pitchFamily="34" charset="-122"/>
                <a:ea typeface="微软雅黑" panose="020B0503020204020204" pitchFamily="34" charset="-122"/>
                <a:cs typeface="MiSans" pitchFamily="34" charset="-120"/>
              </a:rPr>
              <a:t>本产品由外贸信托发行与管理，北京银行作为代销机构不承担产品的投资和兑付责任。受托人将恪尽职守地管理信托财产，履行诚实信用、谨慎勤勉的义务，但受托人在管理、运用或处分信托财产过程中，可能面临包括但不限于</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市场风险、标的产品运营风险、标的产品传导性风险及特定投资风险、流动性风险、管理风险、受益人信托资金部分损失或全部损失的风险、操作与技术风险、关联交易及利益冲突风险、双重收费的风险、本信托计划提前终止或延期的风险、本信托计划部分或全部信托资金无法继续投资的风险、无平仓止损机制的风险、本信托计划不成立或不生效的风险、电子签名方式签署信托文件的风险、估值风险、政策风险以及其他风险 </a:t>
            </a:r>
            <a:r>
              <a:rPr lang="en-US" altLang="zh-CN" sz="750" dirty="0">
                <a:solidFill>
                  <a:srgbClr val="78350F"/>
                </a:solidFill>
                <a:latin typeface="微软雅黑" panose="020B0503020204020204" pitchFamily="34" charset="-122"/>
                <a:ea typeface="微软雅黑" panose="020B0503020204020204" pitchFamily="34" charset="-122"/>
                <a:cs typeface="MiSans" pitchFamily="34" charset="-120"/>
              </a:rPr>
              <a:t>等。</a:t>
            </a:r>
          </a:p>
          <a:p>
            <a:pPr algn="just">
              <a:lnSpc>
                <a:spcPct val="190000"/>
              </a:lnSpc>
            </a:pPr>
            <a:r>
              <a:rPr lang="en-US" altLang="zh-CN" sz="750" dirty="0" err="1" smtClean="0">
                <a:solidFill>
                  <a:srgbClr val="78350F"/>
                </a:solidFill>
                <a:latin typeface="微软雅黑" panose="020B0503020204020204" pitchFamily="34" charset="-122"/>
                <a:ea typeface="微软雅黑" panose="020B0503020204020204" pitchFamily="34" charset="-122"/>
                <a:cs typeface="MiSans" pitchFamily="34" charset="-120"/>
              </a:rPr>
              <a:t>本信托计划设置浮动管理费计提基准</a:t>
            </a:r>
            <a:r>
              <a:rPr lang="en-US" altLang="zh-CN" sz="750" b="1" dirty="0" smtClean="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b="1" dirty="0" err="1">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并非受托人保证受益人取得相应数额的信托利益</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dirty="0">
                <a:solidFill>
                  <a:srgbClr val="78350F"/>
                </a:solidFill>
                <a:latin typeface="微软雅黑" panose="020B0503020204020204" pitchFamily="34" charset="-122"/>
                <a:ea typeface="微软雅黑" panose="020B0503020204020204" pitchFamily="34" charset="-122"/>
                <a:cs typeface="MiSans" pitchFamily="34" charset="-120"/>
              </a:rPr>
              <a:t>，亦</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b="1" dirty="0" err="1">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不意味着受托人保证信托资金不受损失</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dirty="0">
                <a:solidFill>
                  <a:srgbClr val="78350F"/>
                </a:solidFill>
                <a:latin typeface="微软雅黑" panose="020B0503020204020204" pitchFamily="34" charset="-122"/>
                <a:ea typeface="微软雅黑" panose="020B0503020204020204" pitchFamily="34" charset="-122"/>
                <a:cs typeface="MiSans" pitchFamily="34" charset="-120"/>
              </a:rPr>
              <a:t>。</a:t>
            </a:r>
            <a:r>
              <a:rPr lang="en-US" altLang="zh-CN" sz="750" dirty="0" err="1">
                <a:solidFill>
                  <a:srgbClr val="78350F"/>
                </a:solidFill>
                <a:latin typeface="微软雅黑" panose="020B0503020204020204" pitchFamily="34" charset="-122"/>
                <a:ea typeface="微软雅黑" panose="020B0503020204020204" pitchFamily="34" charset="-122"/>
                <a:cs typeface="MiSans" pitchFamily="34" charset="-120"/>
              </a:rPr>
              <a:t>本信托计划</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b="1" dirty="0" err="1">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不承诺保本，也不承诺最低收益</a:t>
            </a:r>
            <a:r>
              <a:rPr lang="en-US" altLang="zh-CN" sz="750" b="1" dirty="0">
                <a:solidFill>
                  <a:srgbClr val="78350F"/>
                </a:solidFill>
                <a:highlight>
                  <a:srgbClr val="F59E0B">
                    <a:alpha val="15000"/>
                  </a:srgbClr>
                </a:highlight>
                <a:latin typeface="微软雅黑" panose="020B0503020204020204" pitchFamily="34" charset="-122"/>
                <a:ea typeface="微软雅黑" panose="020B0503020204020204" pitchFamily="34" charset="-122"/>
                <a:cs typeface="MiSans" pitchFamily="34" charset="-120"/>
              </a:rPr>
              <a:t> </a:t>
            </a:r>
            <a:r>
              <a:rPr lang="en-US" altLang="zh-CN" sz="750" dirty="0">
                <a:solidFill>
                  <a:srgbClr val="78350F"/>
                </a:solidFill>
                <a:latin typeface="微软雅黑" panose="020B0503020204020204" pitchFamily="34" charset="-122"/>
                <a:ea typeface="微软雅黑" panose="020B0503020204020204" pitchFamily="34" charset="-122"/>
                <a:cs typeface="MiSans" pitchFamily="34" charset="-120"/>
              </a:rPr>
              <a:t>，具有投资风险。受托人的过往业绩并不预示其未来表现，投资经理的过往业绩亦不代表其未来表现，受托人管理的其他信托计划的业绩并不构成本信托计划业绩表现的保证</a:t>
            </a:r>
            <a:r>
              <a:rPr lang="en-US" altLang="zh-CN" sz="750" dirty="0" smtClean="0">
                <a:solidFill>
                  <a:srgbClr val="78350F"/>
                </a:solidFill>
                <a:latin typeface="微软雅黑" panose="020B0503020204020204" pitchFamily="34" charset="-122"/>
                <a:ea typeface="微软雅黑" panose="020B0503020204020204" pitchFamily="34" charset="-122"/>
                <a:cs typeface="MiSans" pitchFamily="34" charset="-120"/>
              </a:rPr>
              <a:t>。</a:t>
            </a:r>
            <a:endParaRPr lang="en-US" sz="750" dirty="0" smtClean="0">
              <a:solidFill>
                <a:srgbClr val="78350F"/>
              </a:solidFill>
              <a:latin typeface="微软雅黑" panose="020B0503020204020204" pitchFamily="34" charset="-122"/>
              <a:ea typeface="微软雅黑" panose="020B0503020204020204" pitchFamily="34" charset="-122"/>
              <a:cs typeface="MiSans" pitchFamily="34" charset="-120"/>
            </a:endParaRPr>
          </a:p>
        </p:txBody>
      </p:sp>
      <p:grpSp>
        <p:nvGrpSpPr>
          <p:cNvPr id="294" name="组合 293"/>
          <p:cNvGrpSpPr/>
          <p:nvPr/>
        </p:nvGrpSpPr>
        <p:grpSpPr>
          <a:xfrm>
            <a:off x="546" y="25614583"/>
            <a:ext cx="6858000" cy="310937"/>
            <a:chOff x="546" y="25476006"/>
            <a:chExt cx="6858000" cy="192283"/>
          </a:xfrm>
        </p:grpSpPr>
        <p:sp>
          <p:nvSpPr>
            <p:cNvPr id="299" name="Shape 296"/>
            <p:cNvSpPr/>
            <p:nvPr/>
          </p:nvSpPr>
          <p:spPr>
            <a:xfrm>
              <a:off x="546" y="25476006"/>
              <a:ext cx="6858000" cy="192283"/>
            </a:xfrm>
            <a:custGeom>
              <a:avLst/>
              <a:gdLst/>
              <a:ahLst/>
              <a:cxnLst/>
              <a:rect l="l" t="t" r="r" b="b"/>
              <a:pathLst>
                <a:path w="12192000" h="457200">
                  <a:moveTo>
                    <a:pt x="0" y="0"/>
                  </a:moveTo>
                  <a:lnTo>
                    <a:pt x="12192000" y="0"/>
                  </a:lnTo>
                  <a:lnTo>
                    <a:pt x="12192000" y="457200"/>
                  </a:lnTo>
                  <a:lnTo>
                    <a:pt x="0" y="457200"/>
                  </a:lnTo>
                  <a:lnTo>
                    <a:pt x="0" y="0"/>
                  </a:lnTo>
                  <a:close/>
                </a:path>
              </a:pathLst>
            </a:custGeom>
            <a:solidFill>
              <a:srgbClr val="1E3A5F"/>
            </a:solidFill>
          </p:spPr>
        </p:sp>
        <p:sp>
          <p:nvSpPr>
            <p:cNvPr id="300" name="Text 297"/>
            <p:cNvSpPr/>
            <p:nvPr/>
          </p:nvSpPr>
          <p:spPr>
            <a:xfrm>
              <a:off x="219459" y="25539702"/>
              <a:ext cx="6461522" cy="85725"/>
            </a:xfrm>
            <a:prstGeom prst="rect">
              <a:avLst/>
            </a:prstGeom>
            <a:noFill/>
          </p:spPr>
          <p:txBody>
            <a:bodyPr wrap="square" lIns="0" tIns="0" rIns="0" bIns="0" rtlCol="0" anchor="ctr"/>
            <a:lstStyle/>
            <a:p>
              <a:pPr algn="ctr">
                <a:lnSpc>
                  <a:spcPct val="110000"/>
                </a:lnSpc>
              </a:pPr>
              <a:r>
                <a:rPr lang="en-US" sz="800" dirty="0">
                  <a:solidFill>
                    <a:srgbClr val="FFFFFF">
                      <a:alpha val="80000"/>
                    </a:srgbClr>
                  </a:solidFill>
                  <a:latin typeface="MiSans" pitchFamily="34" charset="-122"/>
                  <a:ea typeface="MiSans" pitchFamily="34" charset="-122"/>
                  <a:cs typeface="MiSans" pitchFamily="34" charset="-120"/>
                </a:rPr>
                <a:t>中国对外经济贸易信托有限公司 </a:t>
              </a:r>
              <a:r>
                <a:rPr lang="en-US" sz="800" dirty="0" smtClean="0">
                  <a:solidFill>
                    <a:srgbClr val="FFFFFF">
                      <a:alpha val="80000"/>
                    </a:srgbClr>
                  </a:solidFill>
                  <a:latin typeface="MiSans" pitchFamily="34" charset="-122"/>
                  <a:ea typeface="MiSans" pitchFamily="34" charset="-122"/>
                  <a:cs typeface="MiSans" pitchFamily="34" charset="-120"/>
                </a:rPr>
                <a:t>| </a:t>
              </a:r>
              <a:r>
                <a:rPr lang="en-US" sz="800" dirty="0">
                  <a:solidFill>
                    <a:srgbClr val="FFFFFF">
                      <a:alpha val="80000"/>
                    </a:srgbClr>
                  </a:solidFill>
                  <a:latin typeface="MiSans" pitchFamily="34" charset="-122"/>
                  <a:ea typeface="MiSans" pitchFamily="34" charset="-122"/>
                  <a:cs typeface="MiSans" pitchFamily="34" charset="-120"/>
                </a:rPr>
                <a:t>睿泽稳鑫系列产品</a:t>
              </a:r>
              <a:endParaRPr lang="en-US" sz="1100" dirty="0"/>
            </a:p>
          </p:txBody>
        </p:sp>
      </p:grpSp>
      <p:sp>
        <p:nvSpPr>
          <p:cNvPr id="308" name="矩形 307"/>
          <p:cNvSpPr/>
          <p:nvPr/>
        </p:nvSpPr>
        <p:spPr>
          <a:xfrm>
            <a:off x="0" y="0"/>
            <a:ext cx="6858546" cy="909008"/>
          </a:xfrm>
          <a:prstGeom prst="rect">
            <a:avLst/>
          </a:prstGeom>
          <a:solidFill>
            <a:srgbClr val="1E3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文本框 305"/>
          <p:cNvSpPr txBox="1"/>
          <p:nvPr/>
        </p:nvSpPr>
        <p:spPr>
          <a:xfrm>
            <a:off x="-8673" y="359937"/>
            <a:ext cx="6858000" cy="461665"/>
          </a:xfrm>
          <a:prstGeom prst="rect">
            <a:avLst/>
          </a:prstGeom>
          <a:noFill/>
        </p:spPr>
        <p:txBody>
          <a:bodyPr wrap="square" rtlCol="0">
            <a:spAutoFit/>
          </a:bodyPr>
          <a:lstStyle/>
          <a:p>
            <a:pPr algn="ctr"/>
            <a:r>
              <a:rPr lang="zh-CN" altLang="en-US" sz="2400" b="1" dirty="0" smtClean="0">
                <a:solidFill>
                  <a:schemeClr val="bg1"/>
                </a:solidFill>
              </a:rPr>
              <a:t>外贸信托</a:t>
            </a:r>
            <a:r>
              <a:rPr lang="en-US" altLang="zh-CN" sz="2400" b="1" dirty="0" smtClean="0">
                <a:solidFill>
                  <a:schemeClr val="bg1"/>
                </a:solidFill>
              </a:rPr>
              <a:t>-XXXSDATGEAD</a:t>
            </a:r>
            <a:r>
              <a:rPr lang="zh-CN" altLang="en-US" sz="2400" b="1" dirty="0" smtClean="0">
                <a:solidFill>
                  <a:schemeClr val="bg1"/>
                </a:solidFill>
              </a:rPr>
              <a:t>系列产品一页通</a:t>
            </a:r>
            <a:endParaRPr lang="zh-CN" altLang="en-US" sz="2400" b="1" dirty="0">
              <a:solidFill>
                <a:schemeClr val="bg1"/>
              </a:solidFill>
            </a:endParaRPr>
          </a:p>
        </p:txBody>
      </p:sp>
      <p:pic>
        <p:nvPicPr>
          <p:cNvPr id="307" name="图片 30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3" y="-13785"/>
            <a:ext cx="1845162" cy="333267"/>
          </a:xfrm>
          <a:prstGeom prst="rect">
            <a:avLst/>
          </a:prstGeom>
        </p:spPr>
      </p:pic>
      <p:sp>
        <p:nvSpPr>
          <p:cNvPr id="45" name="Shape 43"/>
          <p:cNvSpPr/>
          <p:nvPr/>
        </p:nvSpPr>
        <p:spPr>
          <a:xfrm>
            <a:off x="325984" y="4048667"/>
            <a:ext cx="2946797" cy="5358"/>
          </a:xfrm>
          <a:custGeom>
            <a:avLst/>
            <a:gdLst/>
            <a:ahLst/>
            <a:cxnLst/>
            <a:rect l="l" t="t" r="r" b="b"/>
            <a:pathLst>
              <a:path w="5238750" h="9525">
                <a:moveTo>
                  <a:pt x="0" y="0"/>
                </a:moveTo>
                <a:lnTo>
                  <a:pt x="5238750" y="0"/>
                </a:lnTo>
                <a:lnTo>
                  <a:pt x="5238750" y="9525"/>
                </a:lnTo>
                <a:lnTo>
                  <a:pt x="0" y="9525"/>
                </a:lnTo>
                <a:lnTo>
                  <a:pt x="0" y="0"/>
                </a:lnTo>
                <a:close/>
              </a:path>
            </a:pathLst>
          </a:custGeom>
          <a:solidFill>
            <a:schemeClr val="bg1">
              <a:lumMod val="85000"/>
            </a:schemeClr>
          </a:solidFill>
        </p:spPr>
      </p:sp>
      <p:sp>
        <p:nvSpPr>
          <p:cNvPr id="48" name="Shape 46"/>
          <p:cNvSpPr/>
          <p:nvPr/>
        </p:nvSpPr>
        <p:spPr>
          <a:xfrm>
            <a:off x="325984" y="4225475"/>
            <a:ext cx="2946797" cy="5358"/>
          </a:xfrm>
          <a:custGeom>
            <a:avLst/>
            <a:gdLst/>
            <a:ahLst/>
            <a:cxnLst/>
            <a:rect l="l" t="t" r="r" b="b"/>
            <a:pathLst>
              <a:path w="5238750" h="9525">
                <a:moveTo>
                  <a:pt x="0" y="0"/>
                </a:moveTo>
                <a:lnTo>
                  <a:pt x="5238750" y="0"/>
                </a:lnTo>
                <a:lnTo>
                  <a:pt x="5238750" y="9525"/>
                </a:lnTo>
                <a:lnTo>
                  <a:pt x="0" y="9525"/>
                </a:lnTo>
                <a:lnTo>
                  <a:pt x="0" y="0"/>
                </a:lnTo>
                <a:close/>
              </a:path>
            </a:pathLst>
          </a:custGeom>
          <a:solidFill>
            <a:schemeClr val="bg1">
              <a:lumMod val="85000"/>
            </a:schemeClr>
          </a:solidFill>
        </p:spPr>
      </p:sp>
      <p:sp>
        <p:nvSpPr>
          <p:cNvPr id="51" name="Shape 49"/>
          <p:cNvSpPr/>
          <p:nvPr/>
        </p:nvSpPr>
        <p:spPr>
          <a:xfrm>
            <a:off x="325984" y="4406407"/>
            <a:ext cx="2946797" cy="5358"/>
          </a:xfrm>
          <a:custGeom>
            <a:avLst/>
            <a:gdLst/>
            <a:ahLst/>
            <a:cxnLst/>
            <a:rect l="l" t="t" r="r" b="b"/>
            <a:pathLst>
              <a:path w="5238750" h="9525">
                <a:moveTo>
                  <a:pt x="0" y="0"/>
                </a:moveTo>
                <a:lnTo>
                  <a:pt x="5238750" y="0"/>
                </a:lnTo>
                <a:lnTo>
                  <a:pt x="5238750" y="9525"/>
                </a:lnTo>
                <a:lnTo>
                  <a:pt x="0" y="9525"/>
                </a:lnTo>
                <a:lnTo>
                  <a:pt x="0" y="0"/>
                </a:lnTo>
                <a:close/>
              </a:path>
            </a:pathLst>
          </a:custGeom>
          <a:solidFill>
            <a:schemeClr val="bg1">
              <a:lumMod val="85000"/>
            </a:schemeClr>
          </a:solidFill>
        </p:spPr>
      </p:sp>
      <p:sp>
        <p:nvSpPr>
          <p:cNvPr id="67" name="Shape 65"/>
          <p:cNvSpPr/>
          <p:nvPr/>
        </p:nvSpPr>
        <p:spPr>
          <a:xfrm>
            <a:off x="1629160" y="4544960"/>
            <a:ext cx="1607344" cy="1607344"/>
          </a:xfrm>
          <a:custGeom>
            <a:avLst/>
            <a:gdLst/>
            <a:ahLst/>
            <a:cxnLst/>
            <a:rect l="l" t="t" r="r" b="b"/>
            <a:pathLst>
              <a:path w="2857500" h="2857500">
                <a:moveTo>
                  <a:pt x="1428750" y="0"/>
                </a:moveTo>
                <a:lnTo>
                  <a:pt x="1428750" y="0"/>
                </a:lnTo>
                <a:cubicBezTo>
                  <a:pt x="2217299" y="0"/>
                  <a:pt x="2857500" y="640201"/>
                  <a:pt x="2857500" y="1428750"/>
                </a:cubicBezTo>
                <a:lnTo>
                  <a:pt x="2857500" y="1428750"/>
                </a:lnTo>
                <a:cubicBezTo>
                  <a:pt x="2857500" y="2217299"/>
                  <a:pt x="2217299" y="2857500"/>
                  <a:pt x="1428750" y="2857500"/>
                </a:cubicBezTo>
                <a:lnTo>
                  <a:pt x="1428750" y="2857500"/>
                </a:lnTo>
                <a:cubicBezTo>
                  <a:pt x="640201" y="2857500"/>
                  <a:pt x="0" y="2217299"/>
                  <a:pt x="0" y="1428750"/>
                </a:cubicBezTo>
                <a:lnTo>
                  <a:pt x="0" y="1428750"/>
                </a:lnTo>
                <a:cubicBezTo>
                  <a:pt x="0" y="640201"/>
                  <a:pt x="640201" y="0"/>
                  <a:pt x="1428750" y="0"/>
                </a:cubicBezTo>
                <a:close/>
              </a:path>
            </a:pathLst>
          </a:custGeom>
          <a:gradFill flip="none" rotWithShape="1">
            <a:gsLst>
              <a:gs pos="0">
                <a:srgbClr val="C9A227">
                  <a:alpha val="10000"/>
                </a:srgbClr>
              </a:gs>
              <a:gs pos="70000">
                <a:srgbClr val="000000">
                  <a:alpha val="0"/>
                </a:srgbClr>
              </a:gs>
              <a:gs pos="100000">
                <a:srgbClr val="000000">
                  <a:alpha val="0"/>
                </a:srgbClr>
              </a:gs>
            </a:gsLst>
            <a:path path="circle"/>
          </a:gradFill>
        </p:spPr>
      </p:sp>
      <p:sp>
        <p:nvSpPr>
          <p:cNvPr id="303" name="Shape 65"/>
          <p:cNvSpPr/>
          <p:nvPr/>
        </p:nvSpPr>
        <p:spPr>
          <a:xfrm>
            <a:off x="35292" y="16406066"/>
            <a:ext cx="1607344" cy="1607344"/>
          </a:xfrm>
          <a:custGeom>
            <a:avLst/>
            <a:gdLst/>
            <a:ahLst/>
            <a:cxnLst/>
            <a:rect l="l" t="t" r="r" b="b"/>
            <a:pathLst>
              <a:path w="2857500" h="2857500">
                <a:moveTo>
                  <a:pt x="1428750" y="0"/>
                </a:moveTo>
                <a:lnTo>
                  <a:pt x="1428750" y="0"/>
                </a:lnTo>
                <a:cubicBezTo>
                  <a:pt x="2217299" y="0"/>
                  <a:pt x="2857500" y="640201"/>
                  <a:pt x="2857500" y="1428750"/>
                </a:cubicBezTo>
                <a:lnTo>
                  <a:pt x="2857500" y="1428750"/>
                </a:lnTo>
                <a:cubicBezTo>
                  <a:pt x="2857500" y="2217299"/>
                  <a:pt x="2217299" y="2857500"/>
                  <a:pt x="1428750" y="2857500"/>
                </a:cubicBezTo>
                <a:lnTo>
                  <a:pt x="1428750" y="2857500"/>
                </a:lnTo>
                <a:cubicBezTo>
                  <a:pt x="640201" y="2857500"/>
                  <a:pt x="0" y="2217299"/>
                  <a:pt x="0" y="1428750"/>
                </a:cubicBezTo>
                <a:lnTo>
                  <a:pt x="0" y="1428750"/>
                </a:lnTo>
                <a:cubicBezTo>
                  <a:pt x="0" y="640201"/>
                  <a:pt x="640201" y="0"/>
                  <a:pt x="1428750" y="0"/>
                </a:cubicBezTo>
                <a:close/>
              </a:path>
            </a:pathLst>
          </a:custGeom>
          <a:gradFill flip="none" rotWithShape="1">
            <a:gsLst>
              <a:gs pos="0">
                <a:srgbClr val="C9A227">
                  <a:alpha val="20000"/>
                </a:srgbClr>
              </a:gs>
              <a:gs pos="70000">
                <a:srgbClr val="000000">
                  <a:alpha val="0"/>
                </a:srgbClr>
              </a:gs>
              <a:gs pos="100000">
                <a:srgbClr val="000000">
                  <a:alpha val="0"/>
                </a:srgbClr>
              </a:gs>
            </a:gsLst>
            <a:path path="circle"/>
          </a:gradFill>
        </p:spPr>
      </p:sp>
      <p:grpSp>
        <p:nvGrpSpPr>
          <p:cNvPr id="312" name="组合 311"/>
          <p:cNvGrpSpPr/>
          <p:nvPr/>
        </p:nvGrpSpPr>
        <p:grpSpPr>
          <a:xfrm>
            <a:off x="3543346" y="15560947"/>
            <a:ext cx="3163792" cy="1162910"/>
            <a:chOff x="3543346" y="15560947"/>
            <a:chExt cx="3323114" cy="1162910"/>
          </a:xfrm>
          <a:effectLst>
            <a:outerShdw blurRad="50800" dist="38100" dir="2700000" algn="tl" rotWithShape="0">
              <a:prstClr val="black">
                <a:alpha val="40000"/>
              </a:prstClr>
            </a:outerShdw>
          </a:effectLst>
        </p:grpSpPr>
        <p:sp>
          <p:nvSpPr>
            <p:cNvPr id="219" name="Shape 216"/>
            <p:cNvSpPr/>
            <p:nvPr/>
          </p:nvSpPr>
          <p:spPr>
            <a:xfrm>
              <a:off x="3543346" y="15560947"/>
              <a:ext cx="3323114" cy="1162910"/>
            </a:xfrm>
            <a:custGeom>
              <a:avLst/>
              <a:gdLst/>
              <a:ahLst/>
              <a:cxnLst/>
              <a:rect l="l" t="t" r="r" b="b"/>
              <a:pathLst>
                <a:path w="5629275" h="1733550">
                  <a:moveTo>
                    <a:pt x="114293" y="0"/>
                  </a:moveTo>
                  <a:lnTo>
                    <a:pt x="5514982" y="0"/>
                  </a:lnTo>
                  <a:cubicBezTo>
                    <a:pt x="5578104" y="0"/>
                    <a:pt x="5629275" y="51171"/>
                    <a:pt x="5629275" y="114293"/>
                  </a:cubicBezTo>
                  <a:lnTo>
                    <a:pt x="5629275" y="1619257"/>
                  </a:lnTo>
                  <a:cubicBezTo>
                    <a:pt x="5629275" y="1682379"/>
                    <a:pt x="5578104" y="1733550"/>
                    <a:pt x="5514982" y="1733550"/>
                  </a:cubicBezTo>
                  <a:lnTo>
                    <a:pt x="114293" y="1733550"/>
                  </a:lnTo>
                  <a:cubicBezTo>
                    <a:pt x="51171" y="1733550"/>
                    <a:pt x="0" y="1682379"/>
                    <a:pt x="0" y="1619257"/>
                  </a:cubicBezTo>
                  <a:lnTo>
                    <a:pt x="0" y="114293"/>
                  </a:lnTo>
                  <a:cubicBezTo>
                    <a:pt x="0" y="51171"/>
                    <a:pt x="51171" y="0"/>
                    <a:pt x="114293" y="0"/>
                  </a:cubicBezTo>
                  <a:close/>
                </a:path>
              </a:pathLst>
            </a:custGeom>
            <a:solidFill>
              <a:srgbClr val="FFFFFF"/>
            </a:solidFill>
            <a:ln w="12700">
              <a:solidFill>
                <a:schemeClr val="bg1">
                  <a:lumMod val="85000"/>
                </a:schemeClr>
              </a:solidFill>
              <a:prstDash val="solid"/>
            </a:ln>
          </p:spPr>
        </p:sp>
        <p:sp>
          <p:nvSpPr>
            <p:cNvPr id="221" name="Text 218"/>
            <p:cNvSpPr/>
            <p:nvPr/>
          </p:nvSpPr>
          <p:spPr>
            <a:xfrm>
              <a:off x="3751646" y="15671042"/>
              <a:ext cx="321469" cy="171450"/>
            </a:xfrm>
            <a:prstGeom prst="rect">
              <a:avLst/>
            </a:prstGeom>
            <a:noFill/>
          </p:spPr>
          <p:txBody>
            <a:bodyPr wrap="square" lIns="0" tIns="0" rIns="0" bIns="0" rtlCol="0" anchor="ctr"/>
            <a:lstStyle/>
            <a:p>
              <a:pPr>
                <a:lnSpc>
                  <a:spcPct val="110000"/>
                </a:lnSpc>
              </a:pPr>
              <a:r>
                <a:rPr lang="en-US" sz="1015" b="1" dirty="0">
                  <a:solidFill>
                    <a:srgbClr val="1E3A5F"/>
                  </a:solidFill>
                  <a:latin typeface="微软雅黑" panose="020B0503020204020204" pitchFamily="34" charset="-122"/>
                  <a:ea typeface="微软雅黑" panose="020B0503020204020204" pitchFamily="34" charset="-122"/>
                  <a:cs typeface="MiSans" pitchFamily="34" charset="-120"/>
                </a:rPr>
                <a:t>李思</a:t>
              </a:r>
              <a:endParaRPr lang="en-US" sz="900" dirty="0">
                <a:latin typeface="微软雅黑" panose="020B0503020204020204" pitchFamily="34" charset="-122"/>
                <a:ea typeface="微软雅黑" panose="020B0503020204020204" pitchFamily="34" charset="-122"/>
              </a:endParaRPr>
            </a:p>
          </p:txBody>
        </p:sp>
        <p:sp>
          <p:nvSpPr>
            <p:cNvPr id="222" name="Text 219"/>
            <p:cNvSpPr/>
            <p:nvPr/>
          </p:nvSpPr>
          <p:spPr>
            <a:xfrm>
              <a:off x="6176884" y="15671042"/>
              <a:ext cx="401836" cy="128588"/>
            </a:xfrm>
            <a:prstGeom prst="rect">
              <a:avLst/>
            </a:prstGeom>
            <a:noFill/>
          </p:spPr>
          <p:txBody>
            <a:bodyPr wrap="square" lIns="0" tIns="0" rIns="0" bIns="0" rtlCol="0" anchor="ctr"/>
            <a:lstStyle/>
            <a:p>
              <a:pPr>
                <a:lnSpc>
                  <a:spcPct val="130000"/>
                </a:lnSpc>
              </a:pPr>
              <a:r>
                <a:rPr lang="en-US" sz="675" b="1" kern="0" spc="34" dirty="0">
                  <a:solidFill>
                    <a:srgbClr val="1F2937"/>
                  </a:solidFill>
                  <a:latin typeface="微软雅黑" panose="020B0503020204020204" pitchFamily="34" charset="-122"/>
                  <a:ea typeface="微软雅黑" panose="020B0503020204020204" pitchFamily="34" charset="-122"/>
                  <a:cs typeface="MiSans" pitchFamily="34" charset="-120"/>
                </a:rPr>
                <a:t>投资经理</a:t>
              </a:r>
              <a:endParaRPr lang="en-US" sz="900" dirty="0">
                <a:latin typeface="微软雅黑" panose="020B0503020204020204" pitchFamily="34" charset="-122"/>
                <a:ea typeface="微软雅黑" panose="020B0503020204020204" pitchFamily="34" charset="-122"/>
              </a:endParaRPr>
            </a:p>
          </p:txBody>
        </p:sp>
        <p:sp>
          <p:nvSpPr>
            <p:cNvPr id="223" name="Text 220"/>
            <p:cNvSpPr/>
            <p:nvPr/>
          </p:nvSpPr>
          <p:spPr>
            <a:xfrm>
              <a:off x="3751641" y="15976441"/>
              <a:ext cx="2978944" cy="85725"/>
            </a:xfrm>
            <a:prstGeom prst="rect">
              <a:avLst/>
            </a:prstGeom>
            <a:noFill/>
          </p:spPr>
          <p:txBody>
            <a:bodyPr wrap="square" lIns="0" tIns="0" rIns="0" bIns="0" rtlCol="0" anchor="ctr"/>
            <a:lstStyle/>
            <a:p>
              <a:pPr>
                <a:lnSpc>
                  <a:spcPct val="110000"/>
                </a:lnSpc>
              </a:pPr>
              <a:r>
                <a:rPr lang="en-US" sz="710" b="1" dirty="0">
                  <a:solidFill>
                    <a:srgbClr val="C9A227"/>
                  </a:solidFill>
                  <a:latin typeface="微软雅黑" panose="020B0503020204020204" pitchFamily="34" charset="-122"/>
                  <a:ea typeface="微软雅黑" panose="020B0503020204020204" pitchFamily="34" charset="-122"/>
                  <a:cs typeface="MiSans" pitchFamily="34" charset="-120"/>
                </a:rPr>
                <a:t>波士顿大学银行与金融法硕士</a:t>
              </a:r>
            </a:p>
          </p:txBody>
        </p:sp>
        <p:sp>
          <p:nvSpPr>
            <p:cNvPr id="224" name="Text 221"/>
            <p:cNvSpPr/>
            <p:nvPr/>
          </p:nvSpPr>
          <p:spPr>
            <a:xfrm>
              <a:off x="3751910" y="16105142"/>
              <a:ext cx="2835133" cy="296470"/>
            </a:xfrm>
            <a:prstGeom prst="rect">
              <a:avLst/>
            </a:prstGeom>
            <a:noFill/>
          </p:spPr>
          <p:txBody>
            <a:bodyPr wrap="square" lIns="0" tIns="0" rIns="0" bIns="0" rtlCol="0" anchor="ctr"/>
            <a:lstStyle/>
            <a:p>
              <a:pPr>
                <a:lnSpc>
                  <a:spcPct val="140000"/>
                </a:lnSpc>
              </a:pPr>
              <a:r>
                <a:rPr lang="en-US" sz="710" dirty="0">
                  <a:solidFill>
                    <a:srgbClr val="6B7280"/>
                  </a:solidFill>
                  <a:latin typeface="微软雅黑" panose="020B0503020204020204" pitchFamily="34" charset="-122"/>
                  <a:ea typeface="微软雅黑" panose="020B0503020204020204" pitchFamily="34" charset="-122"/>
                  <a:cs typeface="MiSans" pitchFamily="34" charset="-120"/>
                </a:rPr>
                <a:t>负责稳鑫字母系列（境外债）投资，具备中国与纽约州法律执业资格，擅长跨境资产配置。</a:t>
              </a:r>
            </a:p>
          </p:txBody>
        </p:sp>
        <p:sp>
          <p:nvSpPr>
            <p:cNvPr id="225" name="Shape 222"/>
            <p:cNvSpPr/>
            <p:nvPr/>
          </p:nvSpPr>
          <p:spPr>
            <a:xfrm>
              <a:off x="3761802" y="16489065"/>
              <a:ext cx="230386" cy="150019"/>
            </a:xfrm>
            <a:custGeom>
              <a:avLst/>
              <a:gdLst/>
              <a:ahLst/>
              <a:cxnLst/>
              <a:rect l="l" t="t" r="r" b="b"/>
              <a:pathLst>
                <a:path w="409575" h="266700">
                  <a:moveTo>
                    <a:pt x="38101" y="0"/>
                  </a:moveTo>
                  <a:lnTo>
                    <a:pt x="371474" y="0"/>
                  </a:lnTo>
                  <a:cubicBezTo>
                    <a:pt x="392517" y="0"/>
                    <a:pt x="409575" y="17058"/>
                    <a:pt x="409575" y="38101"/>
                  </a:cubicBezTo>
                  <a:lnTo>
                    <a:pt x="409575" y="228599"/>
                  </a:lnTo>
                  <a:cubicBezTo>
                    <a:pt x="409575" y="249642"/>
                    <a:pt x="392517" y="266700"/>
                    <a:pt x="371474" y="266700"/>
                  </a:cubicBezTo>
                  <a:lnTo>
                    <a:pt x="38101" y="266700"/>
                  </a:lnTo>
                  <a:cubicBezTo>
                    <a:pt x="17058" y="266700"/>
                    <a:pt x="0" y="249642"/>
                    <a:pt x="0" y="228599"/>
                  </a:cubicBezTo>
                  <a:lnTo>
                    <a:pt x="0" y="38101"/>
                  </a:lnTo>
                  <a:cubicBezTo>
                    <a:pt x="0" y="17072"/>
                    <a:pt x="17072" y="0"/>
                    <a:pt x="38101" y="0"/>
                  </a:cubicBezTo>
                  <a:close/>
                </a:path>
              </a:pathLst>
            </a:custGeom>
            <a:solidFill>
              <a:srgbClr val="1E3A5F"/>
            </a:solidFill>
          </p:spPr>
        </p:sp>
        <p:sp>
          <p:nvSpPr>
            <p:cNvPr id="226" name="Text 223"/>
            <p:cNvSpPr/>
            <p:nvPr/>
          </p:nvSpPr>
          <p:spPr>
            <a:xfrm>
              <a:off x="3761807" y="16489065"/>
              <a:ext cx="262533" cy="150019"/>
            </a:xfrm>
            <a:prstGeom prst="rect">
              <a:avLst/>
            </a:prstGeom>
            <a:noFill/>
          </p:spPr>
          <p:txBody>
            <a:bodyPr wrap="square" lIns="53578" tIns="21431" rIns="53578" bIns="21431" rtlCol="0" anchor="ctr"/>
            <a:lstStyle/>
            <a:p>
              <a:pPr>
                <a:lnSpc>
                  <a:spcPct val="130000"/>
                </a:lnSpc>
              </a:pPr>
              <a:r>
                <a:rPr lang="en-US" sz="505" b="1" dirty="0">
                  <a:solidFill>
                    <a:srgbClr val="FFFFFF"/>
                  </a:solidFill>
                  <a:latin typeface="微软雅黑" panose="020B0503020204020204" pitchFamily="34" charset="-122"/>
                  <a:ea typeface="微软雅黑" panose="020B0503020204020204" pitchFamily="34" charset="-122"/>
                  <a:cs typeface="MiSans" pitchFamily="34" charset="-120"/>
                </a:rPr>
                <a:t>CFA</a:t>
              </a:r>
              <a:endParaRPr lang="en-US" sz="900" dirty="0">
                <a:latin typeface="微软雅黑" panose="020B0503020204020204" pitchFamily="34" charset="-122"/>
                <a:ea typeface="微软雅黑" panose="020B0503020204020204" pitchFamily="34" charset="-122"/>
              </a:endParaRPr>
            </a:p>
          </p:txBody>
        </p:sp>
        <p:sp>
          <p:nvSpPr>
            <p:cNvPr id="227" name="Shape 224"/>
            <p:cNvSpPr/>
            <p:nvPr/>
          </p:nvSpPr>
          <p:spPr>
            <a:xfrm>
              <a:off x="4024921" y="16489065"/>
              <a:ext cx="241102" cy="150019"/>
            </a:xfrm>
            <a:custGeom>
              <a:avLst/>
              <a:gdLst/>
              <a:ahLst/>
              <a:cxnLst/>
              <a:rect l="l" t="t" r="r" b="b"/>
              <a:pathLst>
                <a:path w="428625" h="266700">
                  <a:moveTo>
                    <a:pt x="38101" y="0"/>
                  </a:moveTo>
                  <a:lnTo>
                    <a:pt x="390524" y="0"/>
                  </a:lnTo>
                  <a:cubicBezTo>
                    <a:pt x="411567" y="0"/>
                    <a:pt x="428625" y="17058"/>
                    <a:pt x="428625" y="38101"/>
                  </a:cubicBezTo>
                  <a:lnTo>
                    <a:pt x="428625" y="228599"/>
                  </a:lnTo>
                  <a:cubicBezTo>
                    <a:pt x="428625" y="249642"/>
                    <a:pt x="411567" y="266700"/>
                    <a:pt x="390524" y="266700"/>
                  </a:cubicBezTo>
                  <a:lnTo>
                    <a:pt x="38101" y="266700"/>
                  </a:lnTo>
                  <a:cubicBezTo>
                    <a:pt x="17058" y="266700"/>
                    <a:pt x="0" y="249642"/>
                    <a:pt x="0" y="228599"/>
                  </a:cubicBezTo>
                  <a:lnTo>
                    <a:pt x="0" y="38101"/>
                  </a:lnTo>
                  <a:cubicBezTo>
                    <a:pt x="0" y="17072"/>
                    <a:pt x="17072" y="0"/>
                    <a:pt x="38101" y="0"/>
                  </a:cubicBezTo>
                  <a:close/>
                </a:path>
              </a:pathLst>
            </a:custGeom>
            <a:solidFill>
              <a:srgbClr val="1E3A5F"/>
            </a:solidFill>
          </p:spPr>
        </p:sp>
        <p:sp>
          <p:nvSpPr>
            <p:cNvPr id="228" name="Text 225"/>
            <p:cNvSpPr/>
            <p:nvPr/>
          </p:nvSpPr>
          <p:spPr>
            <a:xfrm>
              <a:off x="4024921" y="16489065"/>
              <a:ext cx="273248" cy="150019"/>
            </a:xfrm>
            <a:prstGeom prst="rect">
              <a:avLst/>
            </a:prstGeom>
            <a:noFill/>
          </p:spPr>
          <p:txBody>
            <a:bodyPr wrap="square" lIns="53578" tIns="21431" rIns="53578" bIns="21431" rtlCol="0" anchor="ctr"/>
            <a:lstStyle/>
            <a:p>
              <a:pPr>
                <a:lnSpc>
                  <a:spcPct val="130000"/>
                </a:lnSpc>
              </a:pPr>
              <a:r>
                <a:rPr lang="en-US" sz="505" b="1" dirty="0">
                  <a:solidFill>
                    <a:srgbClr val="FFFFFF"/>
                  </a:solidFill>
                  <a:latin typeface="微软雅黑" panose="020B0503020204020204" pitchFamily="34" charset="-122"/>
                  <a:ea typeface="微软雅黑" panose="020B0503020204020204" pitchFamily="34" charset="-122"/>
                  <a:cs typeface="MiSans" pitchFamily="34" charset="-120"/>
                </a:rPr>
                <a:t>FRM</a:t>
              </a:r>
              <a:endParaRPr lang="en-US" sz="900" dirty="0">
                <a:latin typeface="微软雅黑" panose="020B0503020204020204" pitchFamily="34" charset="-122"/>
                <a:ea typeface="微软雅黑" panose="020B0503020204020204" pitchFamily="34" charset="-122"/>
              </a:endParaRPr>
            </a:p>
          </p:txBody>
        </p:sp>
        <p:sp>
          <p:nvSpPr>
            <p:cNvPr id="229" name="Shape 226"/>
            <p:cNvSpPr/>
            <p:nvPr/>
          </p:nvSpPr>
          <p:spPr>
            <a:xfrm>
              <a:off x="4300100" y="16491743"/>
              <a:ext cx="305395" cy="144661"/>
            </a:xfrm>
            <a:custGeom>
              <a:avLst/>
              <a:gdLst/>
              <a:ahLst/>
              <a:cxnLst/>
              <a:rect l="l" t="t" r="r" b="b"/>
              <a:pathLst>
                <a:path w="542925" h="257175">
                  <a:moveTo>
                    <a:pt x="38100" y="0"/>
                  </a:moveTo>
                  <a:lnTo>
                    <a:pt x="504825" y="0"/>
                  </a:lnTo>
                  <a:cubicBezTo>
                    <a:pt x="525867" y="0"/>
                    <a:pt x="542925" y="17058"/>
                    <a:pt x="542925" y="38100"/>
                  </a:cubicBezTo>
                  <a:lnTo>
                    <a:pt x="542925" y="219075"/>
                  </a:lnTo>
                  <a:cubicBezTo>
                    <a:pt x="542925" y="240117"/>
                    <a:pt x="525867" y="257175"/>
                    <a:pt x="504825" y="257175"/>
                  </a:cubicBezTo>
                  <a:lnTo>
                    <a:pt x="38100" y="257175"/>
                  </a:lnTo>
                  <a:cubicBezTo>
                    <a:pt x="17058" y="257175"/>
                    <a:pt x="0" y="240117"/>
                    <a:pt x="0" y="219075"/>
                  </a:cubicBezTo>
                  <a:lnTo>
                    <a:pt x="0" y="38100"/>
                  </a:lnTo>
                  <a:cubicBezTo>
                    <a:pt x="0" y="17072"/>
                    <a:pt x="17072" y="0"/>
                    <a:pt x="38100" y="0"/>
                  </a:cubicBezTo>
                  <a:close/>
                </a:path>
              </a:pathLst>
            </a:custGeom>
            <a:solidFill>
              <a:srgbClr val="000000">
                <a:alpha val="0"/>
              </a:srgbClr>
            </a:solidFill>
            <a:ln w="12700">
              <a:solidFill>
                <a:srgbClr val="6B7280"/>
              </a:solidFill>
              <a:prstDash val="solid"/>
            </a:ln>
          </p:spPr>
        </p:sp>
        <p:sp>
          <p:nvSpPr>
            <p:cNvPr id="230" name="Text 227"/>
            <p:cNvSpPr/>
            <p:nvPr/>
          </p:nvSpPr>
          <p:spPr>
            <a:xfrm>
              <a:off x="4297415" y="16489065"/>
              <a:ext cx="332184" cy="139303"/>
            </a:xfrm>
            <a:prstGeom prst="rect">
              <a:avLst/>
            </a:prstGeom>
            <a:noFill/>
          </p:spPr>
          <p:txBody>
            <a:bodyPr wrap="square" lIns="53578" tIns="21431" rIns="53578" bIns="21431" rtlCol="0" anchor="ctr"/>
            <a:lstStyle/>
            <a:p>
              <a:pPr>
                <a:lnSpc>
                  <a:spcPct val="130000"/>
                </a:lnSpc>
              </a:pPr>
              <a:r>
                <a:rPr lang="en-US" sz="505" b="1" dirty="0">
                  <a:latin typeface="微软雅黑" panose="020B0503020204020204" pitchFamily="34" charset="-122"/>
                  <a:ea typeface="微软雅黑" panose="020B0503020204020204" pitchFamily="34" charset="-122"/>
                  <a:cs typeface="MiSans" pitchFamily="34" charset="-120"/>
                </a:rPr>
                <a:t>境外债</a:t>
              </a:r>
              <a:endParaRPr lang="en-US" sz="900" dirty="0">
                <a:latin typeface="微软雅黑" panose="020B0503020204020204" pitchFamily="34" charset="-122"/>
                <a:ea typeface="微软雅黑" panose="020B0503020204020204" pitchFamily="34" charset="-122"/>
              </a:endParaRPr>
            </a:p>
          </p:txBody>
        </p:sp>
        <p:sp>
          <p:nvSpPr>
            <p:cNvPr id="305" name="Shape 197"/>
            <p:cNvSpPr/>
            <p:nvPr/>
          </p:nvSpPr>
          <p:spPr>
            <a:xfrm>
              <a:off x="3701439" y="15870997"/>
              <a:ext cx="2880000" cy="18000"/>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1F2937"/>
            </a:solidFill>
          </p:spPr>
        </p:sp>
      </p:grpSp>
      <p:graphicFrame>
        <p:nvGraphicFramePr>
          <p:cNvPr id="309" name="图表 308"/>
          <p:cNvGraphicFramePr>
            <a:graphicFrameLocks/>
          </p:cNvGraphicFramePr>
          <p:nvPr>
            <p:extLst>
              <p:ext uri="{D42A27DB-BD31-4B8C-83A1-F6EECF244321}">
                <p14:modId xmlns:p14="http://schemas.microsoft.com/office/powerpoint/2010/main" val="1369370299"/>
              </p:ext>
            </p:extLst>
          </p:nvPr>
        </p:nvGraphicFramePr>
        <p:xfrm>
          <a:off x="156183" y="6917152"/>
          <a:ext cx="6406542" cy="1942809"/>
        </p:xfrm>
        <a:graphic>
          <a:graphicData uri="http://schemas.openxmlformats.org/drawingml/2006/chart">
            <c:chart xmlns:c="http://schemas.openxmlformats.org/drawingml/2006/chart" xmlns:r="http://schemas.openxmlformats.org/officeDocument/2006/relationships" r:id="rId4"/>
          </a:graphicData>
        </a:graphic>
      </p:graphicFrame>
      <p:sp>
        <p:nvSpPr>
          <p:cNvPr id="310" name="Text 87"/>
          <p:cNvSpPr/>
          <p:nvPr/>
        </p:nvSpPr>
        <p:spPr>
          <a:xfrm>
            <a:off x="4684562" y="6542592"/>
            <a:ext cx="2026190" cy="123861"/>
          </a:xfrm>
          <a:prstGeom prst="rect">
            <a:avLst/>
          </a:prstGeom>
          <a:noFill/>
        </p:spPr>
        <p:txBody>
          <a:bodyPr wrap="square" lIns="0" tIns="0" rIns="0" bIns="0" rtlCol="0" anchor="ctr"/>
          <a:lstStyle/>
          <a:p>
            <a:pPr>
              <a:lnSpc>
                <a:spcPct val="110000"/>
              </a:lnSpc>
            </a:pPr>
            <a:r>
              <a:rPr lang="en-US" sz="505" dirty="0">
                <a:solidFill>
                  <a:srgbClr val="6B7280"/>
                </a:solidFill>
                <a:latin typeface="MiSans" pitchFamily="34" charset="-122"/>
                <a:ea typeface="MiSans" pitchFamily="34" charset="-122"/>
                <a:cs typeface="MiSans" pitchFamily="34" charset="-120"/>
              </a:rPr>
              <a:t>数据截至2026年1月14</a:t>
            </a:r>
            <a:r>
              <a:rPr lang="en-US" sz="505" dirty="0" smtClean="0">
                <a:solidFill>
                  <a:srgbClr val="6B7280"/>
                </a:solidFill>
                <a:latin typeface="MiSans" pitchFamily="34" charset="-122"/>
                <a:ea typeface="MiSans" pitchFamily="34" charset="-122"/>
                <a:cs typeface="MiSans" pitchFamily="34" charset="-120"/>
              </a:rPr>
              <a:t>日</a:t>
            </a:r>
            <a:r>
              <a:rPr lang="zh-CN" altLang="en-US" sz="505" dirty="0" smtClean="0">
                <a:solidFill>
                  <a:srgbClr val="6B7280"/>
                </a:solidFill>
                <a:latin typeface="MiSans" pitchFamily="34" charset="-122"/>
                <a:ea typeface="MiSans" pitchFamily="34" charset="-122"/>
                <a:cs typeface="MiSans" pitchFamily="34" charset="-120"/>
              </a:rPr>
              <a:t>，</a:t>
            </a:r>
            <a:r>
              <a:rPr lang="en-US" sz="505" dirty="0" smtClean="0">
                <a:solidFill>
                  <a:srgbClr val="6B7280"/>
                </a:solidFill>
                <a:latin typeface="MiSans" pitchFamily="34" charset="-122"/>
                <a:ea typeface="MiSans" pitchFamily="34" charset="-122"/>
                <a:cs typeface="MiSans" pitchFamily="34" charset="-120"/>
              </a:rPr>
              <a:t>外贸信托</a:t>
            </a:r>
            <a:r>
              <a:rPr lang="en-US" sz="505" dirty="0">
                <a:solidFill>
                  <a:srgbClr val="6B7280"/>
                </a:solidFill>
                <a:latin typeface="MiSans" pitchFamily="34" charset="-122"/>
                <a:ea typeface="MiSans" pitchFamily="34" charset="-122"/>
                <a:cs typeface="MiSans" pitchFamily="34" charset="-120"/>
              </a:rPr>
              <a:t>-</a:t>
            </a:r>
            <a:r>
              <a:rPr lang="en-US" sz="505" dirty="0" err="1" smtClean="0">
                <a:solidFill>
                  <a:srgbClr val="6B7280"/>
                </a:solidFill>
                <a:latin typeface="MiSans" pitchFamily="34" charset="-122"/>
                <a:ea typeface="MiSans" pitchFamily="34" charset="-122"/>
                <a:cs typeface="MiSans" pitchFamily="34" charset="-120"/>
              </a:rPr>
              <a:t>稳鑫</a:t>
            </a:r>
            <a:r>
              <a:rPr lang="en-US" altLang="zh-CN" sz="505" dirty="0" err="1" smtClean="0">
                <a:solidFill>
                  <a:srgbClr val="6B7280"/>
                </a:solidFill>
                <a:latin typeface="MiSans" pitchFamily="34" charset="-122"/>
                <a:ea typeface="MiSans" pitchFamily="34" charset="-122"/>
                <a:cs typeface="MiSans" pitchFamily="34" charset="-120"/>
              </a:rPr>
              <a:t>A</a:t>
            </a:r>
            <a:r>
              <a:rPr lang="zh-CN" altLang="en-US" sz="505" dirty="0" smtClean="0">
                <a:solidFill>
                  <a:srgbClr val="6B7280"/>
                </a:solidFill>
                <a:latin typeface="MiSans" pitchFamily="34" charset="-122"/>
                <a:ea typeface="MiSans" pitchFamily="34" charset="-122"/>
                <a:cs typeface="MiSans" pitchFamily="34" charset="-120"/>
              </a:rPr>
              <a:t>期</a:t>
            </a:r>
            <a:r>
              <a:rPr lang="en-US" sz="505" dirty="0" err="1" smtClean="0">
                <a:solidFill>
                  <a:srgbClr val="6B7280"/>
                </a:solidFill>
                <a:latin typeface="MiSans" pitchFamily="34" charset="-122"/>
                <a:ea typeface="MiSans" pitchFamily="34" charset="-122"/>
                <a:cs typeface="MiSans" pitchFamily="34" charset="-120"/>
              </a:rPr>
              <a:t>集合资金信托计划</a:t>
            </a:r>
            <a:endParaRPr lang="en-US" sz="900" dirty="0"/>
          </a:p>
        </p:txBody>
      </p:sp>
      <p:pic>
        <p:nvPicPr>
          <p:cNvPr id="302" name="图片 30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534" y="21057238"/>
            <a:ext cx="1927156" cy="348078"/>
          </a:xfrm>
          <a:prstGeom prst="rect">
            <a:avLst/>
          </a:prstGeom>
        </p:spPr>
      </p:pic>
      <p:grpSp>
        <p:nvGrpSpPr>
          <p:cNvPr id="321" name="组合 320"/>
          <p:cNvGrpSpPr/>
          <p:nvPr/>
        </p:nvGrpSpPr>
        <p:grpSpPr>
          <a:xfrm>
            <a:off x="329233" y="21975361"/>
            <a:ext cx="1536374" cy="426699"/>
            <a:chOff x="506999" y="21952501"/>
            <a:chExt cx="1283704" cy="426699"/>
          </a:xfrm>
        </p:grpSpPr>
        <p:sp>
          <p:nvSpPr>
            <p:cNvPr id="301" name="圆角矩形 300"/>
            <p:cNvSpPr/>
            <p:nvPr/>
          </p:nvSpPr>
          <p:spPr>
            <a:xfrm>
              <a:off x="506999" y="21952501"/>
              <a:ext cx="1278095" cy="426699"/>
            </a:xfrm>
            <a:prstGeom prst="roundRect">
              <a:avLst/>
            </a:prstGeom>
            <a:solidFill>
              <a:schemeClr val="tx2">
                <a:lumMod val="60000"/>
                <a:lumOff val="40000"/>
              </a:schemeClr>
            </a:solidFill>
          </p:spPr>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7" name="Text 264"/>
            <p:cNvSpPr/>
            <p:nvPr/>
          </p:nvSpPr>
          <p:spPr>
            <a:xfrm>
              <a:off x="524474" y="22179240"/>
              <a:ext cx="1266229" cy="171719"/>
            </a:xfrm>
            <a:prstGeom prst="rect">
              <a:avLst/>
            </a:prstGeom>
            <a:noFill/>
          </p:spPr>
          <p:txBody>
            <a:bodyPr wrap="square" lIns="0" tIns="0" rIns="0" bIns="0" rtlCol="0" anchor="ctr"/>
            <a:lstStyle/>
            <a:p>
              <a:pPr algn="ctr">
                <a:lnSpc>
                  <a:spcPct val="130000"/>
                </a:lnSpc>
              </a:pPr>
              <a:r>
                <a:rPr lang="en-US" sz="800" b="1" dirty="0">
                  <a:solidFill>
                    <a:schemeClr val="bg1">
                      <a:alpha val="90000"/>
                    </a:schemeClr>
                  </a:solidFill>
                  <a:latin typeface="微软雅黑" panose="020B0503020204020204" pitchFamily="34" charset="-122"/>
                  <a:ea typeface="微软雅黑" panose="020B0503020204020204" pitchFamily="34" charset="-122"/>
                  <a:cs typeface="MiSans" pitchFamily="34" charset="-120"/>
                </a:rPr>
                <a:t>最佳信托公司</a:t>
              </a:r>
            </a:p>
          </p:txBody>
        </p:sp>
        <p:sp>
          <p:nvSpPr>
            <p:cNvPr id="320" name="treats_338547">
              <a:extLst>
                <a:ext uri="{FF2B5EF4-FFF2-40B4-BE49-F238E27FC236}">
                  <a16:creationId xmlns:a16="http://schemas.microsoft.com/office/drawing/2014/main" id="{54405246-CCE2-4201-BBB1-D3F3EB6E740D}"/>
                </a:ext>
              </a:extLst>
            </p:cNvPr>
            <p:cNvSpPr/>
            <p:nvPr/>
          </p:nvSpPr>
          <p:spPr>
            <a:xfrm>
              <a:off x="1064481" y="22020236"/>
              <a:ext cx="187061" cy="177758"/>
            </a:xfrm>
            <a:custGeom>
              <a:avLst/>
              <a:gdLst>
                <a:gd name="T0" fmla="*/ 3049 w 6463"/>
                <a:gd name="T1" fmla="*/ 1595 h 6150"/>
                <a:gd name="T2" fmla="*/ 5793 w 6463"/>
                <a:gd name="T3" fmla="*/ 703 h 6150"/>
                <a:gd name="T4" fmla="*/ 6235 w 6463"/>
                <a:gd name="T5" fmla="*/ 908 h 6150"/>
                <a:gd name="T6" fmla="*/ 6320 w 6463"/>
                <a:gd name="T7" fmla="*/ 345 h 6150"/>
                <a:gd name="T8" fmla="*/ 5793 w 6463"/>
                <a:gd name="T9" fmla="*/ 515 h 6150"/>
                <a:gd name="T10" fmla="*/ 2595 w 6463"/>
                <a:gd name="T11" fmla="*/ 2022 h 6150"/>
                <a:gd name="T12" fmla="*/ 435 w 6463"/>
                <a:gd name="T13" fmla="*/ 1047 h 6150"/>
                <a:gd name="T14" fmla="*/ 581 w 6463"/>
                <a:gd name="T15" fmla="*/ 857 h 6150"/>
                <a:gd name="T16" fmla="*/ 302 w 6463"/>
                <a:gd name="T17" fmla="*/ 2772 h 6150"/>
                <a:gd name="T18" fmla="*/ 334 w 6463"/>
                <a:gd name="T19" fmla="*/ 2534 h 6150"/>
                <a:gd name="T20" fmla="*/ 2139 w 6463"/>
                <a:gd name="T21" fmla="*/ 2054 h 6150"/>
                <a:gd name="T22" fmla="*/ 3423 w 6463"/>
                <a:gd name="T23" fmla="*/ 1609 h 6150"/>
                <a:gd name="T24" fmla="*/ 3304 w 6463"/>
                <a:gd name="T25" fmla="*/ 1473 h 6150"/>
                <a:gd name="T26" fmla="*/ 4465 w 6463"/>
                <a:gd name="T27" fmla="*/ 3324 h 6150"/>
                <a:gd name="T28" fmla="*/ 6246 w 6463"/>
                <a:gd name="T29" fmla="*/ 2642 h 6150"/>
                <a:gd name="T30" fmla="*/ 4908 w 6463"/>
                <a:gd name="T31" fmla="*/ 2938 h 6150"/>
                <a:gd name="T32" fmla="*/ 4291 w 6463"/>
                <a:gd name="T33" fmla="*/ 2219 h 6150"/>
                <a:gd name="T34" fmla="*/ 5475 w 6463"/>
                <a:gd name="T35" fmla="*/ 1161 h 6150"/>
                <a:gd name="T36" fmla="*/ 5311 w 6463"/>
                <a:gd name="T37" fmla="*/ 319 h 6150"/>
                <a:gd name="T38" fmla="*/ 5441 w 6463"/>
                <a:gd name="T39" fmla="*/ 270 h 6150"/>
                <a:gd name="T40" fmla="*/ 5346 w 6463"/>
                <a:gd name="T41" fmla="*/ 76 h 6150"/>
                <a:gd name="T42" fmla="*/ 5103 w 6463"/>
                <a:gd name="T43" fmla="*/ 788 h 6150"/>
                <a:gd name="T44" fmla="*/ 252 w 6463"/>
                <a:gd name="T45" fmla="*/ 755 h 6150"/>
                <a:gd name="T46" fmla="*/ 84 w 6463"/>
                <a:gd name="T47" fmla="*/ 777 h 6150"/>
                <a:gd name="T48" fmla="*/ 3805 w 6463"/>
                <a:gd name="T49" fmla="*/ 4101 h 6150"/>
                <a:gd name="T50" fmla="*/ 2458 w 6463"/>
                <a:gd name="T51" fmla="*/ 3968 h 6150"/>
                <a:gd name="T52" fmla="*/ 2843 w 6463"/>
                <a:gd name="T53" fmla="*/ 2619 h 6150"/>
                <a:gd name="T54" fmla="*/ 4281 w 6463"/>
                <a:gd name="T55" fmla="*/ 2647 h 6150"/>
                <a:gd name="T56" fmla="*/ 3607 w 6463"/>
                <a:gd name="T57" fmla="*/ 3139 h 6150"/>
                <a:gd name="T58" fmla="*/ 3036 w 6463"/>
                <a:gd name="T59" fmla="*/ 2781 h 6150"/>
                <a:gd name="T60" fmla="*/ 2773 w 6463"/>
                <a:gd name="T61" fmla="*/ 3736 h 6150"/>
                <a:gd name="T62" fmla="*/ 3607 w 6463"/>
                <a:gd name="T63" fmla="*/ 3139 h 6150"/>
                <a:gd name="T64" fmla="*/ 5515 w 6463"/>
                <a:gd name="T65" fmla="*/ 6150 h 6150"/>
                <a:gd name="T66" fmla="*/ 429 w 6463"/>
                <a:gd name="T67" fmla="*/ 2097 h 6150"/>
                <a:gd name="T68" fmla="*/ 599 w 6463"/>
                <a:gd name="T69" fmla="*/ 1927 h 6150"/>
                <a:gd name="T70" fmla="*/ 335 w 6463"/>
                <a:gd name="T71" fmla="*/ 1664 h 6150"/>
                <a:gd name="T72" fmla="*/ 166 w 6463"/>
                <a:gd name="T73" fmla="*/ 2191 h 6150"/>
                <a:gd name="T74" fmla="*/ 5154 w 6463"/>
                <a:gd name="T75" fmla="*/ 5756 h 6150"/>
                <a:gd name="T76" fmla="*/ 6322 w 6463"/>
                <a:gd name="T77" fmla="*/ 4245 h 6150"/>
                <a:gd name="T78" fmla="*/ 6058 w 6463"/>
                <a:gd name="T79" fmla="*/ 3981 h 6150"/>
                <a:gd name="T80" fmla="*/ 5889 w 6463"/>
                <a:gd name="T81" fmla="*/ 4508 h 6150"/>
                <a:gd name="T82" fmla="*/ 6416 w 6463"/>
                <a:gd name="T83" fmla="*/ 4508 h 6150"/>
                <a:gd name="T84" fmla="*/ 4332 w 6463"/>
                <a:gd name="T85" fmla="*/ 3891 h 6150"/>
                <a:gd name="T86" fmla="*/ 5619 w 6463"/>
                <a:gd name="T87" fmla="*/ 4728 h 6150"/>
                <a:gd name="T88" fmla="*/ 5004 w 6463"/>
                <a:gd name="T89" fmla="*/ 5484 h 6150"/>
                <a:gd name="T90" fmla="*/ 1949 w 6463"/>
                <a:gd name="T91" fmla="*/ 3863 h 6150"/>
                <a:gd name="T92" fmla="*/ 2095 w 6463"/>
                <a:gd name="T93" fmla="*/ 4053 h 6150"/>
                <a:gd name="T94" fmla="*/ 540 w 6463"/>
                <a:gd name="T95" fmla="*/ 5474 h 6150"/>
                <a:gd name="T96" fmla="*/ 370 w 6463"/>
                <a:gd name="T97" fmla="*/ 6002 h 6150"/>
                <a:gd name="T98" fmla="*/ 897 w 6463"/>
                <a:gd name="T99" fmla="*/ 6002 h 6150"/>
                <a:gd name="T100" fmla="*/ 2071 w 6463"/>
                <a:gd name="T101" fmla="*/ 3189 h 6150"/>
                <a:gd name="T102" fmla="*/ 333 w 6463"/>
                <a:gd name="T103" fmla="*/ 3537 h 6150"/>
                <a:gd name="T104" fmla="*/ 3304 w 6463"/>
                <a:gd name="T105" fmla="*/ 4628 h 6150"/>
                <a:gd name="T106" fmla="*/ 3542 w 6463"/>
                <a:gd name="T107" fmla="*/ 4596 h 6150"/>
                <a:gd name="T108" fmla="*/ 2842 w 6463"/>
                <a:gd name="T109" fmla="*/ 6088 h 6150"/>
                <a:gd name="T110" fmla="*/ 1940 w 6463"/>
                <a:gd name="T111" fmla="*/ 4510 h 6150"/>
                <a:gd name="T112" fmla="*/ 2130 w 6463"/>
                <a:gd name="T113" fmla="*/ 4656 h 6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63" h="6150">
                  <a:moveTo>
                    <a:pt x="2723" y="150"/>
                  </a:moveTo>
                  <a:cubicBezTo>
                    <a:pt x="2714" y="84"/>
                    <a:pt x="2760" y="23"/>
                    <a:pt x="2825" y="14"/>
                  </a:cubicBezTo>
                  <a:cubicBezTo>
                    <a:pt x="2891" y="5"/>
                    <a:pt x="2952" y="50"/>
                    <a:pt x="2961" y="116"/>
                  </a:cubicBezTo>
                  <a:lnTo>
                    <a:pt x="3151" y="1460"/>
                  </a:lnTo>
                  <a:cubicBezTo>
                    <a:pt x="3160" y="1525"/>
                    <a:pt x="3115" y="1586"/>
                    <a:pt x="3049" y="1595"/>
                  </a:cubicBezTo>
                  <a:cubicBezTo>
                    <a:pt x="3043" y="1596"/>
                    <a:pt x="3038" y="1596"/>
                    <a:pt x="3032" y="1596"/>
                  </a:cubicBezTo>
                  <a:cubicBezTo>
                    <a:pt x="2973" y="1596"/>
                    <a:pt x="2922" y="1553"/>
                    <a:pt x="2913" y="1493"/>
                  </a:cubicBezTo>
                  <a:lnTo>
                    <a:pt x="2723" y="150"/>
                  </a:lnTo>
                  <a:close/>
                  <a:moveTo>
                    <a:pt x="5887" y="609"/>
                  </a:moveTo>
                  <a:lnTo>
                    <a:pt x="5793" y="703"/>
                  </a:lnTo>
                  <a:cubicBezTo>
                    <a:pt x="5746" y="750"/>
                    <a:pt x="5746" y="826"/>
                    <a:pt x="5793" y="873"/>
                  </a:cubicBezTo>
                  <a:cubicBezTo>
                    <a:pt x="5840" y="920"/>
                    <a:pt x="5916" y="920"/>
                    <a:pt x="5962" y="873"/>
                  </a:cubicBezTo>
                  <a:lnTo>
                    <a:pt x="6056" y="779"/>
                  </a:lnTo>
                  <a:lnTo>
                    <a:pt x="6150" y="873"/>
                  </a:lnTo>
                  <a:cubicBezTo>
                    <a:pt x="6174" y="896"/>
                    <a:pt x="6204" y="908"/>
                    <a:pt x="6235" y="908"/>
                  </a:cubicBezTo>
                  <a:cubicBezTo>
                    <a:pt x="6266" y="908"/>
                    <a:pt x="6297" y="896"/>
                    <a:pt x="6320" y="873"/>
                  </a:cubicBezTo>
                  <a:cubicBezTo>
                    <a:pt x="6367" y="826"/>
                    <a:pt x="6367" y="750"/>
                    <a:pt x="6320" y="703"/>
                  </a:cubicBezTo>
                  <a:lnTo>
                    <a:pt x="6226" y="609"/>
                  </a:lnTo>
                  <a:lnTo>
                    <a:pt x="6320" y="515"/>
                  </a:lnTo>
                  <a:cubicBezTo>
                    <a:pt x="6367" y="468"/>
                    <a:pt x="6367" y="392"/>
                    <a:pt x="6320" y="345"/>
                  </a:cubicBezTo>
                  <a:cubicBezTo>
                    <a:pt x="6273" y="299"/>
                    <a:pt x="6197" y="299"/>
                    <a:pt x="6150" y="345"/>
                  </a:cubicBezTo>
                  <a:lnTo>
                    <a:pt x="6056" y="439"/>
                  </a:lnTo>
                  <a:lnTo>
                    <a:pt x="5962" y="345"/>
                  </a:lnTo>
                  <a:cubicBezTo>
                    <a:pt x="5916" y="299"/>
                    <a:pt x="5840" y="299"/>
                    <a:pt x="5793" y="345"/>
                  </a:cubicBezTo>
                  <a:cubicBezTo>
                    <a:pt x="5746" y="392"/>
                    <a:pt x="5746" y="468"/>
                    <a:pt x="5793" y="515"/>
                  </a:cubicBezTo>
                  <a:lnTo>
                    <a:pt x="5887" y="609"/>
                  </a:lnTo>
                  <a:close/>
                  <a:moveTo>
                    <a:pt x="2405" y="2168"/>
                  </a:moveTo>
                  <a:cubicBezTo>
                    <a:pt x="2428" y="2199"/>
                    <a:pt x="2464" y="2215"/>
                    <a:pt x="2500" y="2215"/>
                  </a:cubicBezTo>
                  <a:cubicBezTo>
                    <a:pt x="2525" y="2215"/>
                    <a:pt x="2551" y="2207"/>
                    <a:pt x="2573" y="2190"/>
                  </a:cubicBezTo>
                  <a:cubicBezTo>
                    <a:pt x="2625" y="2150"/>
                    <a:pt x="2635" y="2075"/>
                    <a:pt x="2595" y="2022"/>
                  </a:cubicBezTo>
                  <a:lnTo>
                    <a:pt x="1536" y="639"/>
                  </a:lnTo>
                  <a:cubicBezTo>
                    <a:pt x="1496" y="587"/>
                    <a:pt x="1420" y="577"/>
                    <a:pt x="1368" y="617"/>
                  </a:cubicBezTo>
                  <a:cubicBezTo>
                    <a:pt x="1315" y="657"/>
                    <a:pt x="1305" y="733"/>
                    <a:pt x="1345" y="785"/>
                  </a:cubicBezTo>
                  <a:lnTo>
                    <a:pt x="2405" y="2168"/>
                  </a:lnTo>
                  <a:close/>
                  <a:moveTo>
                    <a:pt x="435" y="1047"/>
                  </a:moveTo>
                  <a:lnTo>
                    <a:pt x="475" y="1078"/>
                  </a:lnTo>
                  <a:cubicBezTo>
                    <a:pt x="497" y="1094"/>
                    <a:pt x="522" y="1103"/>
                    <a:pt x="548" y="1103"/>
                  </a:cubicBezTo>
                  <a:cubicBezTo>
                    <a:pt x="584" y="1103"/>
                    <a:pt x="619" y="1086"/>
                    <a:pt x="643" y="1056"/>
                  </a:cubicBezTo>
                  <a:cubicBezTo>
                    <a:pt x="683" y="1003"/>
                    <a:pt x="674" y="928"/>
                    <a:pt x="621" y="887"/>
                  </a:cubicBezTo>
                  <a:lnTo>
                    <a:pt x="581" y="857"/>
                  </a:lnTo>
                  <a:cubicBezTo>
                    <a:pt x="529" y="816"/>
                    <a:pt x="453" y="826"/>
                    <a:pt x="413" y="879"/>
                  </a:cubicBezTo>
                  <a:cubicBezTo>
                    <a:pt x="373" y="931"/>
                    <a:pt x="382" y="1007"/>
                    <a:pt x="435" y="1047"/>
                  </a:cubicBezTo>
                  <a:close/>
                  <a:moveTo>
                    <a:pt x="334" y="2534"/>
                  </a:moveTo>
                  <a:cubicBezTo>
                    <a:pt x="268" y="2526"/>
                    <a:pt x="208" y="2572"/>
                    <a:pt x="199" y="2638"/>
                  </a:cubicBezTo>
                  <a:cubicBezTo>
                    <a:pt x="190" y="2703"/>
                    <a:pt x="236" y="2764"/>
                    <a:pt x="302" y="2772"/>
                  </a:cubicBezTo>
                  <a:lnTo>
                    <a:pt x="1529" y="2935"/>
                  </a:lnTo>
                  <a:cubicBezTo>
                    <a:pt x="1535" y="2936"/>
                    <a:pt x="1540" y="2936"/>
                    <a:pt x="1545" y="2936"/>
                  </a:cubicBezTo>
                  <a:cubicBezTo>
                    <a:pt x="1605" y="2936"/>
                    <a:pt x="1656" y="2892"/>
                    <a:pt x="1664" y="2832"/>
                  </a:cubicBezTo>
                  <a:cubicBezTo>
                    <a:pt x="1673" y="2766"/>
                    <a:pt x="1627" y="2706"/>
                    <a:pt x="1561" y="2697"/>
                  </a:cubicBezTo>
                  <a:lnTo>
                    <a:pt x="334" y="2534"/>
                  </a:lnTo>
                  <a:close/>
                  <a:moveTo>
                    <a:pt x="826" y="1348"/>
                  </a:moveTo>
                  <a:lnTo>
                    <a:pt x="1993" y="2244"/>
                  </a:lnTo>
                  <a:cubicBezTo>
                    <a:pt x="2014" y="2261"/>
                    <a:pt x="2040" y="2269"/>
                    <a:pt x="2066" y="2269"/>
                  </a:cubicBezTo>
                  <a:cubicBezTo>
                    <a:pt x="2102" y="2269"/>
                    <a:pt x="2137" y="2253"/>
                    <a:pt x="2161" y="2222"/>
                  </a:cubicBezTo>
                  <a:cubicBezTo>
                    <a:pt x="2201" y="2170"/>
                    <a:pt x="2191" y="2094"/>
                    <a:pt x="2139" y="2054"/>
                  </a:cubicBezTo>
                  <a:lnTo>
                    <a:pt x="972" y="1158"/>
                  </a:lnTo>
                  <a:cubicBezTo>
                    <a:pt x="920" y="1117"/>
                    <a:pt x="845" y="1127"/>
                    <a:pt x="804" y="1180"/>
                  </a:cubicBezTo>
                  <a:cubicBezTo>
                    <a:pt x="764" y="1232"/>
                    <a:pt x="774" y="1307"/>
                    <a:pt x="826" y="1348"/>
                  </a:cubicBezTo>
                  <a:close/>
                  <a:moveTo>
                    <a:pt x="3407" y="1608"/>
                  </a:moveTo>
                  <a:cubicBezTo>
                    <a:pt x="3413" y="1608"/>
                    <a:pt x="3418" y="1609"/>
                    <a:pt x="3423" y="1609"/>
                  </a:cubicBezTo>
                  <a:cubicBezTo>
                    <a:pt x="3482" y="1609"/>
                    <a:pt x="3534" y="1565"/>
                    <a:pt x="3542" y="1505"/>
                  </a:cubicBezTo>
                  <a:lnTo>
                    <a:pt x="3726" y="150"/>
                  </a:lnTo>
                  <a:cubicBezTo>
                    <a:pt x="3735" y="84"/>
                    <a:pt x="3689" y="24"/>
                    <a:pt x="3623" y="15"/>
                  </a:cubicBezTo>
                  <a:cubicBezTo>
                    <a:pt x="3557" y="6"/>
                    <a:pt x="3497" y="52"/>
                    <a:pt x="3488" y="118"/>
                  </a:cubicBezTo>
                  <a:lnTo>
                    <a:pt x="3304" y="1473"/>
                  </a:lnTo>
                  <a:cubicBezTo>
                    <a:pt x="3295" y="1538"/>
                    <a:pt x="3341" y="1599"/>
                    <a:pt x="3407" y="1608"/>
                  </a:cubicBezTo>
                  <a:close/>
                  <a:moveTo>
                    <a:pt x="6143" y="3304"/>
                  </a:moveTo>
                  <a:lnTo>
                    <a:pt x="4497" y="3086"/>
                  </a:lnTo>
                  <a:cubicBezTo>
                    <a:pt x="4431" y="3077"/>
                    <a:pt x="4371" y="3123"/>
                    <a:pt x="4362" y="3189"/>
                  </a:cubicBezTo>
                  <a:cubicBezTo>
                    <a:pt x="4353" y="3255"/>
                    <a:pt x="4400" y="3315"/>
                    <a:pt x="4465" y="3324"/>
                  </a:cubicBezTo>
                  <a:lnTo>
                    <a:pt x="6111" y="3542"/>
                  </a:lnTo>
                  <a:cubicBezTo>
                    <a:pt x="6116" y="3542"/>
                    <a:pt x="6122" y="3543"/>
                    <a:pt x="6127" y="3543"/>
                  </a:cubicBezTo>
                  <a:cubicBezTo>
                    <a:pt x="6186" y="3543"/>
                    <a:pt x="6238" y="3499"/>
                    <a:pt x="6246" y="3438"/>
                  </a:cubicBezTo>
                  <a:cubicBezTo>
                    <a:pt x="6255" y="3373"/>
                    <a:pt x="6208" y="3312"/>
                    <a:pt x="6143" y="3304"/>
                  </a:cubicBezTo>
                  <a:close/>
                  <a:moveTo>
                    <a:pt x="6246" y="2642"/>
                  </a:moveTo>
                  <a:cubicBezTo>
                    <a:pt x="6238" y="2576"/>
                    <a:pt x="6178" y="2530"/>
                    <a:pt x="6112" y="2539"/>
                  </a:cubicBezTo>
                  <a:lnTo>
                    <a:pt x="4877" y="2700"/>
                  </a:lnTo>
                  <a:cubicBezTo>
                    <a:pt x="4811" y="2709"/>
                    <a:pt x="4765" y="2769"/>
                    <a:pt x="4774" y="2835"/>
                  </a:cubicBezTo>
                  <a:cubicBezTo>
                    <a:pt x="4782" y="2895"/>
                    <a:pt x="4833" y="2939"/>
                    <a:pt x="4892" y="2939"/>
                  </a:cubicBezTo>
                  <a:cubicBezTo>
                    <a:pt x="4898" y="2939"/>
                    <a:pt x="4903" y="2939"/>
                    <a:pt x="4908" y="2938"/>
                  </a:cubicBezTo>
                  <a:lnTo>
                    <a:pt x="6143" y="2777"/>
                  </a:lnTo>
                  <a:cubicBezTo>
                    <a:pt x="6209" y="2768"/>
                    <a:pt x="6255" y="2708"/>
                    <a:pt x="6246" y="2642"/>
                  </a:cubicBezTo>
                  <a:close/>
                  <a:moveTo>
                    <a:pt x="5475" y="1161"/>
                  </a:moveTo>
                  <a:lnTo>
                    <a:pt x="4313" y="2051"/>
                  </a:lnTo>
                  <a:cubicBezTo>
                    <a:pt x="4261" y="2091"/>
                    <a:pt x="4251" y="2167"/>
                    <a:pt x="4291" y="2219"/>
                  </a:cubicBezTo>
                  <a:cubicBezTo>
                    <a:pt x="4315" y="2250"/>
                    <a:pt x="4350" y="2266"/>
                    <a:pt x="4386" y="2266"/>
                  </a:cubicBezTo>
                  <a:cubicBezTo>
                    <a:pt x="4412" y="2266"/>
                    <a:pt x="4438" y="2258"/>
                    <a:pt x="4459" y="2241"/>
                  </a:cubicBezTo>
                  <a:lnTo>
                    <a:pt x="5621" y="1351"/>
                  </a:lnTo>
                  <a:cubicBezTo>
                    <a:pt x="5674" y="1311"/>
                    <a:pt x="5684" y="1236"/>
                    <a:pt x="5643" y="1183"/>
                  </a:cubicBezTo>
                  <a:cubicBezTo>
                    <a:pt x="5603" y="1131"/>
                    <a:pt x="5528" y="1121"/>
                    <a:pt x="5475" y="1161"/>
                  </a:cubicBezTo>
                  <a:close/>
                  <a:moveTo>
                    <a:pt x="5154" y="523"/>
                  </a:moveTo>
                  <a:cubicBezTo>
                    <a:pt x="5176" y="540"/>
                    <a:pt x="5202" y="548"/>
                    <a:pt x="5227" y="548"/>
                  </a:cubicBezTo>
                  <a:cubicBezTo>
                    <a:pt x="5263" y="548"/>
                    <a:pt x="5299" y="532"/>
                    <a:pt x="5322" y="501"/>
                  </a:cubicBezTo>
                  <a:lnTo>
                    <a:pt x="5333" y="487"/>
                  </a:lnTo>
                  <a:cubicBezTo>
                    <a:pt x="5373" y="435"/>
                    <a:pt x="5364" y="359"/>
                    <a:pt x="5311" y="319"/>
                  </a:cubicBezTo>
                  <a:cubicBezTo>
                    <a:pt x="5259" y="278"/>
                    <a:pt x="5183" y="288"/>
                    <a:pt x="5143" y="341"/>
                  </a:cubicBezTo>
                  <a:lnTo>
                    <a:pt x="5132" y="354"/>
                  </a:lnTo>
                  <a:cubicBezTo>
                    <a:pt x="5092" y="407"/>
                    <a:pt x="5102" y="482"/>
                    <a:pt x="5154" y="523"/>
                  </a:cubicBezTo>
                  <a:close/>
                  <a:moveTo>
                    <a:pt x="5368" y="245"/>
                  </a:moveTo>
                  <a:cubicBezTo>
                    <a:pt x="5390" y="261"/>
                    <a:pt x="5415" y="270"/>
                    <a:pt x="5441" y="270"/>
                  </a:cubicBezTo>
                  <a:cubicBezTo>
                    <a:pt x="5477" y="270"/>
                    <a:pt x="5512" y="253"/>
                    <a:pt x="5536" y="223"/>
                  </a:cubicBezTo>
                  <a:lnTo>
                    <a:pt x="5547" y="208"/>
                  </a:lnTo>
                  <a:cubicBezTo>
                    <a:pt x="5588" y="156"/>
                    <a:pt x="5578" y="80"/>
                    <a:pt x="5525" y="40"/>
                  </a:cubicBezTo>
                  <a:cubicBezTo>
                    <a:pt x="5473" y="0"/>
                    <a:pt x="5397" y="9"/>
                    <a:pt x="5357" y="62"/>
                  </a:cubicBezTo>
                  <a:lnTo>
                    <a:pt x="5346" y="76"/>
                  </a:lnTo>
                  <a:cubicBezTo>
                    <a:pt x="5305" y="129"/>
                    <a:pt x="5315" y="204"/>
                    <a:pt x="5368" y="245"/>
                  </a:cubicBezTo>
                  <a:close/>
                  <a:moveTo>
                    <a:pt x="3879" y="2183"/>
                  </a:moveTo>
                  <a:cubicBezTo>
                    <a:pt x="3901" y="2200"/>
                    <a:pt x="3927" y="2208"/>
                    <a:pt x="3952" y="2208"/>
                  </a:cubicBezTo>
                  <a:cubicBezTo>
                    <a:pt x="3988" y="2208"/>
                    <a:pt x="4024" y="2192"/>
                    <a:pt x="4048" y="2161"/>
                  </a:cubicBezTo>
                  <a:lnTo>
                    <a:pt x="5103" y="788"/>
                  </a:lnTo>
                  <a:cubicBezTo>
                    <a:pt x="5143" y="735"/>
                    <a:pt x="5133" y="660"/>
                    <a:pt x="5081" y="620"/>
                  </a:cubicBezTo>
                  <a:cubicBezTo>
                    <a:pt x="5028" y="579"/>
                    <a:pt x="4953" y="589"/>
                    <a:pt x="4913" y="642"/>
                  </a:cubicBezTo>
                  <a:lnTo>
                    <a:pt x="3857" y="2015"/>
                  </a:lnTo>
                  <a:cubicBezTo>
                    <a:pt x="3817" y="2067"/>
                    <a:pt x="3827" y="2143"/>
                    <a:pt x="3879" y="2183"/>
                  </a:cubicBezTo>
                  <a:close/>
                  <a:moveTo>
                    <a:pt x="252" y="755"/>
                  </a:moveTo>
                  <a:cubicBezTo>
                    <a:pt x="292" y="702"/>
                    <a:pt x="283" y="627"/>
                    <a:pt x="230" y="587"/>
                  </a:cubicBezTo>
                  <a:lnTo>
                    <a:pt x="209" y="571"/>
                  </a:lnTo>
                  <a:cubicBezTo>
                    <a:pt x="157" y="530"/>
                    <a:pt x="81" y="540"/>
                    <a:pt x="41" y="593"/>
                  </a:cubicBezTo>
                  <a:cubicBezTo>
                    <a:pt x="0" y="645"/>
                    <a:pt x="10" y="721"/>
                    <a:pt x="63" y="761"/>
                  </a:cubicBezTo>
                  <a:lnTo>
                    <a:pt x="84" y="777"/>
                  </a:lnTo>
                  <a:cubicBezTo>
                    <a:pt x="106" y="794"/>
                    <a:pt x="131" y="802"/>
                    <a:pt x="157" y="802"/>
                  </a:cubicBezTo>
                  <a:cubicBezTo>
                    <a:pt x="193" y="802"/>
                    <a:pt x="228" y="786"/>
                    <a:pt x="252" y="755"/>
                  </a:cubicBezTo>
                  <a:close/>
                  <a:moveTo>
                    <a:pt x="3988" y="3972"/>
                  </a:moveTo>
                  <a:cubicBezTo>
                    <a:pt x="4000" y="4020"/>
                    <a:pt x="3981" y="4071"/>
                    <a:pt x="3940" y="4099"/>
                  </a:cubicBezTo>
                  <a:cubicBezTo>
                    <a:pt x="3900" y="4127"/>
                    <a:pt x="3846" y="4128"/>
                    <a:pt x="3805" y="4101"/>
                  </a:cubicBezTo>
                  <a:lnTo>
                    <a:pt x="3243" y="3726"/>
                  </a:lnTo>
                  <a:lnTo>
                    <a:pt x="2637" y="4103"/>
                  </a:lnTo>
                  <a:cubicBezTo>
                    <a:pt x="2617" y="4115"/>
                    <a:pt x="2595" y="4121"/>
                    <a:pt x="2573" y="4121"/>
                  </a:cubicBezTo>
                  <a:cubicBezTo>
                    <a:pt x="2548" y="4121"/>
                    <a:pt x="2523" y="4113"/>
                    <a:pt x="2501" y="4097"/>
                  </a:cubicBezTo>
                  <a:cubicBezTo>
                    <a:pt x="2462" y="4067"/>
                    <a:pt x="2444" y="4016"/>
                    <a:pt x="2458" y="3968"/>
                  </a:cubicBezTo>
                  <a:lnTo>
                    <a:pt x="2641" y="3318"/>
                  </a:lnTo>
                  <a:lnTo>
                    <a:pt x="2095" y="2858"/>
                  </a:lnTo>
                  <a:cubicBezTo>
                    <a:pt x="2057" y="2826"/>
                    <a:pt x="2043" y="2774"/>
                    <a:pt x="2059" y="2727"/>
                  </a:cubicBezTo>
                  <a:cubicBezTo>
                    <a:pt x="2075" y="2681"/>
                    <a:pt x="2118" y="2648"/>
                    <a:pt x="2168" y="2646"/>
                  </a:cubicBezTo>
                  <a:lnTo>
                    <a:pt x="2843" y="2619"/>
                  </a:lnTo>
                  <a:lnTo>
                    <a:pt x="3111" y="1958"/>
                  </a:lnTo>
                  <a:cubicBezTo>
                    <a:pt x="3130" y="1912"/>
                    <a:pt x="3175" y="1883"/>
                    <a:pt x="3224" y="1883"/>
                  </a:cubicBezTo>
                  <a:cubicBezTo>
                    <a:pt x="3274" y="1884"/>
                    <a:pt x="3318" y="1915"/>
                    <a:pt x="3335" y="1962"/>
                  </a:cubicBezTo>
                  <a:lnTo>
                    <a:pt x="3569" y="2595"/>
                  </a:lnTo>
                  <a:lnTo>
                    <a:pt x="4281" y="2647"/>
                  </a:lnTo>
                  <a:cubicBezTo>
                    <a:pt x="4331" y="2650"/>
                    <a:pt x="4373" y="2684"/>
                    <a:pt x="4387" y="2731"/>
                  </a:cubicBezTo>
                  <a:cubicBezTo>
                    <a:pt x="4402" y="2778"/>
                    <a:pt x="4386" y="2830"/>
                    <a:pt x="4347" y="2861"/>
                  </a:cubicBezTo>
                  <a:lnTo>
                    <a:pt x="3817" y="3279"/>
                  </a:lnTo>
                  <a:lnTo>
                    <a:pt x="3988" y="3972"/>
                  </a:lnTo>
                  <a:close/>
                  <a:moveTo>
                    <a:pt x="3607" y="3139"/>
                  </a:moveTo>
                  <a:lnTo>
                    <a:pt x="3955" y="2864"/>
                  </a:lnTo>
                  <a:lnTo>
                    <a:pt x="3475" y="2829"/>
                  </a:lnTo>
                  <a:cubicBezTo>
                    <a:pt x="3428" y="2826"/>
                    <a:pt x="3387" y="2795"/>
                    <a:pt x="3371" y="2751"/>
                  </a:cubicBezTo>
                  <a:lnTo>
                    <a:pt x="3217" y="2335"/>
                  </a:lnTo>
                  <a:lnTo>
                    <a:pt x="3036" y="2781"/>
                  </a:lnTo>
                  <a:cubicBezTo>
                    <a:pt x="3018" y="2825"/>
                    <a:pt x="2977" y="2854"/>
                    <a:pt x="2929" y="2856"/>
                  </a:cubicBezTo>
                  <a:lnTo>
                    <a:pt x="2486" y="2874"/>
                  </a:lnTo>
                  <a:lnTo>
                    <a:pt x="2854" y="3184"/>
                  </a:lnTo>
                  <a:cubicBezTo>
                    <a:pt x="2890" y="3215"/>
                    <a:pt x="2905" y="3263"/>
                    <a:pt x="2893" y="3308"/>
                  </a:cubicBezTo>
                  <a:lnTo>
                    <a:pt x="2773" y="3736"/>
                  </a:lnTo>
                  <a:lnTo>
                    <a:pt x="3182" y="3481"/>
                  </a:lnTo>
                  <a:cubicBezTo>
                    <a:pt x="3222" y="3456"/>
                    <a:pt x="3272" y="3457"/>
                    <a:pt x="3312" y="3483"/>
                  </a:cubicBezTo>
                  <a:lnTo>
                    <a:pt x="3681" y="3729"/>
                  </a:lnTo>
                  <a:lnTo>
                    <a:pt x="3565" y="3262"/>
                  </a:lnTo>
                  <a:cubicBezTo>
                    <a:pt x="3554" y="3216"/>
                    <a:pt x="3570" y="3168"/>
                    <a:pt x="3607" y="3139"/>
                  </a:cubicBezTo>
                  <a:close/>
                  <a:moveTo>
                    <a:pt x="5593" y="5935"/>
                  </a:moveTo>
                  <a:cubicBezTo>
                    <a:pt x="5552" y="5882"/>
                    <a:pt x="5477" y="5872"/>
                    <a:pt x="5424" y="5912"/>
                  </a:cubicBezTo>
                  <a:cubicBezTo>
                    <a:pt x="5372" y="5953"/>
                    <a:pt x="5362" y="6028"/>
                    <a:pt x="5402" y="6081"/>
                  </a:cubicBezTo>
                  <a:lnTo>
                    <a:pt x="5420" y="6103"/>
                  </a:lnTo>
                  <a:cubicBezTo>
                    <a:pt x="5443" y="6134"/>
                    <a:pt x="5479" y="6150"/>
                    <a:pt x="5515" y="6150"/>
                  </a:cubicBezTo>
                  <a:cubicBezTo>
                    <a:pt x="5540" y="6150"/>
                    <a:pt x="5566" y="6142"/>
                    <a:pt x="5588" y="6125"/>
                  </a:cubicBezTo>
                  <a:cubicBezTo>
                    <a:pt x="5640" y="6085"/>
                    <a:pt x="5650" y="6010"/>
                    <a:pt x="5610" y="5957"/>
                  </a:cubicBezTo>
                  <a:lnTo>
                    <a:pt x="5593" y="5935"/>
                  </a:lnTo>
                  <a:close/>
                  <a:moveTo>
                    <a:pt x="336" y="2191"/>
                  </a:moveTo>
                  <a:lnTo>
                    <a:pt x="429" y="2097"/>
                  </a:lnTo>
                  <a:lnTo>
                    <a:pt x="523" y="2191"/>
                  </a:lnTo>
                  <a:cubicBezTo>
                    <a:pt x="547" y="2215"/>
                    <a:pt x="578" y="2226"/>
                    <a:pt x="608" y="2226"/>
                  </a:cubicBezTo>
                  <a:cubicBezTo>
                    <a:pt x="639" y="2226"/>
                    <a:pt x="670" y="2215"/>
                    <a:pt x="693" y="2191"/>
                  </a:cubicBezTo>
                  <a:cubicBezTo>
                    <a:pt x="740" y="2144"/>
                    <a:pt x="740" y="2068"/>
                    <a:pt x="693" y="2021"/>
                  </a:cubicBezTo>
                  <a:lnTo>
                    <a:pt x="599" y="1927"/>
                  </a:lnTo>
                  <a:lnTo>
                    <a:pt x="693" y="1833"/>
                  </a:lnTo>
                  <a:cubicBezTo>
                    <a:pt x="740" y="1787"/>
                    <a:pt x="740" y="1711"/>
                    <a:pt x="693" y="1664"/>
                  </a:cubicBezTo>
                  <a:cubicBezTo>
                    <a:pt x="646" y="1617"/>
                    <a:pt x="570" y="1617"/>
                    <a:pt x="523" y="1664"/>
                  </a:cubicBezTo>
                  <a:lnTo>
                    <a:pt x="429" y="1758"/>
                  </a:lnTo>
                  <a:lnTo>
                    <a:pt x="335" y="1664"/>
                  </a:lnTo>
                  <a:cubicBezTo>
                    <a:pt x="289" y="1617"/>
                    <a:pt x="213" y="1617"/>
                    <a:pt x="166" y="1664"/>
                  </a:cubicBezTo>
                  <a:cubicBezTo>
                    <a:pt x="119" y="1711"/>
                    <a:pt x="119" y="1787"/>
                    <a:pt x="166" y="1833"/>
                  </a:cubicBezTo>
                  <a:lnTo>
                    <a:pt x="260" y="1927"/>
                  </a:lnTo>
                  <a:lnTo>
                    <a:pt x="166" y="2021"/>
                  </a:lnTo>
                  <a:cubicBezTo>
                    <a:pt x="119" y="2068"/>
                    <a:pt x="119" y="2144"/>
                    <a:pt x="166" y="2191"/>
                  </a:cubicBezTo>
                  <a:cubicBezTo>
                    <a:pt x="213" y="2238"/>
                    <a:pt x="289" y="2238"/>
                    <a:pt x="336" y="2191"/>
                  </a:cubicBezTo>
                  <a:close/>
                  <a:moveTo>
                    <a:pt x="5362" y="5633"/>
                  </a:moveTo>
                  <a:lnTo>
                    <a:pt x="5344" y="5610"/>
                  </a:lnTo>
                  <a:cubicBezTo>
                    <a:pt x="5304" y="5558"/>
                    <a:pt x="5229" y="5548"/>
                    <a:pt x="5176" y="5588"/>
                  </a:cubicBezTo>
                  <a:cubicBezTo>
                    <a:pt x="5124" y="5629"/>
                    <a:pt x="5114" y="5704"/>
                    <a:pt x="5154" y="5756"/>
                  </a:cubicBezTo>
                  <a:lnTo>
                    <a:pt x="5171" y="5779"/>
                  </a:lnTo>
                  <a:cubicBezTo>
                    <a:pt x="5195" y="5810"/>
                    <a:pt x="5231" y="5826"/>
                    <a:pt x="5267" y="5826"/>
                  </a:cubicBezTo>
                  <a:cubicBezTo>
                    <a:pt x="5292" y="5826"/>
                    <a:pt x="5318" y="5818"/>
                    <a:pt x="5340" y="5801"/>
                  </a:cubicBezTo>
                  <a:cubicBezTo>
                    <a:pt x="5392" y="5761"/>
                    <a:pt x="5402" y="5686"/>
                    <a:pt x="5362" y="5633"/>
                  </a:cubicBezTo>
                  <a:close/>
                  <a:moveTo>
                    <a:pt x="6322" y="4245"/>
                  </a:moveTo>
                  <a:lnTo>
                    <a:pt x="6416" y="4151"/>
                  </a:lnTo>
                  <a:cubicBezTo>
                    <a:pt x="6463" y="4104"/>
                    <a:pt x="6463" y="4028"/>
                    <a:pt x="6416" y="3981"/>
                  </a:cubicBezTo>
                  <a:cubicBezTo>
                    <a:pt x="6369" y="3934"/>
                    <a:pt x="6293" y="3934"/>
                    <a:pt x="6246" y="3981"/>
                  </a:cubicBezTo>
                  <a:lnTo>
                    <a:pt x="6152" y="4075"/>
                  </a:lnTo>
                  <a:lnTo>
                    <a:pt x="6058" y="3981"/>
                  </a:lnTo>
                  <a:cubicBezTo>
                    <a:pt x="6011" y="3934"/>
                    <a:pt x="5935" y="3934"/>
                    <a:pt x="5889" y="3981"/>
                  </a:cubicBezTo>
                  <a:cubicBezTo>
                    <a:pt x="5842" y="4028"/>
                    <a:pt x="5842" y="4104"/>
                    <a:pt x="5889" y="4151"/>
                  </a:cubicBezTo>
                  <a:lnTo>
                    <a:pt x="5983" y="4245"/>
                  </a:lnTo>
                  <a:lnTo>
                    <a:pt x="5889" y="4339"/>
                  </a:lnTo>
                  <a:cubicBezTo>
                    <a:pt x="5842" y="4386"/>
                    <a:pt x="5842" y="4462"/>
                    <a:pt x="5889" y="4508"/>
                  </a:cubicBezTo>
                  <a:cubicBezTo>
                    <a:pt x="5935" y="4555"/>
                    <a:pt x="6011" y="4555"/>
                    <a:pt x="6058" y="4508"/>
                  </a:cubicBezTo>
                  <a:lnTo>
                    <a:pt x="6152" y="4415"/>
                  </a:lnTo>
                  <a:lnTo>
                    <a:pt x="6246" y="4508"/>
                  </a:lnTo>
                  <a:cubicBezTo>
                    <a:pt x="6270" y="4532"/>
                    <a:pt x="6300" y="4544"/>
                    <a:pt x="6331" y="4544"/>
                  </a:cubicBezTo>
                  <a:cubicBezTo>
                    <a:pt x="6362" y="4544"/>
                    <a:pt x="6392" y="4532"/>
                    <a:pt x="6416" y="4508"/>
                  </a:cubicBezTo>
                  <a:cubicBezTo>
                    <a:pt x="6463" y="4462"/>
                    <a:pt x="6463" y="4386"/>
                    <a:pt x="6416" y="4339"/>
                  </a:cubicBezTo>
                  <a:lnTo>
                    <a:pt x="6322" y="4245"/>
                  </a:lnTo>
                  <a:close/>
                  <a:moveTo>
                    <a:pt x="5619" y="4728"/>
                  </a:moveTo>
                  <a:lnTo>
                    <a:pt x="4500" y="3869"/>
                  </a:lnTo>
                  <a:cubicBezTo>
                    <a:pt x="4448" y="3828"/>
                    <a:pt x="4372" y="3838"/>
                    <a:pt x="4332" y="3891"/>
                  </a:cubicBezTo>
                  <a:cubicBezTo>
                    <a:pt x="4292" y="3943"/>
                    <a:pt x="4302" y="4019"/>
                    <a:pt x="4354" y="4059"/>
                  </a:cubicBezTo>
                  <a:lnTo>
                    <a:pt x="5472" y="4918"/>
                  </a:lnTo>
                  <a:cubicBezTo>
                    <a:pt x="5494" y="4935"/>
                    <a:pt x="5520" y="4943"/>
                    <a:pt x="5545" y="4943"/>
                  </a:cubicBezTo>
                  <a:cubicBezTo>
                    <a:pt x="5581" y="4943"/>
                    <a:pt x="5617" y="4927"/>
                    <a:pt x="5641" y="4896"/>
                  </a:cubicBezTo>
                  <a:cubicBezTo>
                    <a:pt x="5681" y="4844"/>
                    <a:pt x="5671" y="4769"/>
                    <a:pt x="5619" y="4728"/>
                  </a:cubicBezTo>
                  <a:close/>
                  <a:moveTo>
                    <a:pt x="4503" y="4512"/>
                  </a:moveTo>
                  <a:cubicBezTo>
                    <a:pt x="4463" y="4459"/>
                    <a:pt x="4387" y="4449"/>
                    <a:pt x="4335" y="4490"/>
                  </a:cubicBezTo>
                  <a:cubicBezTo>
                    <a:pt x="4282" y="4530"/>
                    <a:pt x="4272" y="4605"/>
                    <a:pt x="4312" y="4658"/>
                  </a:cubicBezTo>
                  <a:lnTo>
                    <a:pt x="4909" y="5437"/>
                  </a:lnTo>
                  <a:cubicBezTo>
                    <a:pt x="4933" y="5468"/>
                    <a:pt x="4968" y="5484"/>
                    <a:pt x="5004" y="5484"/>
                  </a:cubicBezTo>
                  <a:cubicBezTo>
                    <a:pt x="5030" y="5484"/>
                    <a:pt x="5055" y="5476"/>
                    <a:pt x="5077" y="5459"/>
                  </a:cubicBezTo>
                  <a:cubicBezTo>
                    <a:pt x="5130" y="5419"/>
                    <a:pt x="5140" y="5343"/>
                    <a:pt x="5100" y="5291"/>
                  </a:cubicBezTo>
                  <a:lnTo>
                    <a:pt x="4503" y="4512"/>
                  </a:lnTo>
                  <a:close/>
                  <a:moveTo>
                    <a:pt x="2117" y="3885"/>
                  </a:moveTo>
                  <a:cubicBezTo>
                    <a:pt x="2077" y="3832"/>
                    <a:pt x="2001" y="3822"/>
                    <a:pt x="1949" y="3863"/>
                  </a:cubicBezTo>
                  <a:lnTo>
                    <a:pt x="824" y="4725"/>
                  </a:lnTo>
                  <a:cubicBezTo>
                    <a:pt x="771" y="4765"/>
                    <a:pt x="761" y="4840"/>
                    <a:pt x="801" y="4893"/>
                  </a:cubicBezTo>
                  <a:cubicBezTo>
                    <a:pt x="825" y="4924"/>
                    <a:pt x="861" y="4940"/>
                    <a:pt x="897" y="4940"/>
                  </a:cubicBezTo>
                  <a:cubicBezTo>
                    <a:pt x="922" y="4940"/>
                    <a:pt x="948" y="4932"/>
                    <a:pt x="970" y="4915"/>
                  </a:cubicBezTo>
                  <a:lnTo>
                    <a:pt x="2095" y="4053"/>
                  </a:lnTo>
                  <a:cubicBezTo>
                    <a:pt x="2147" y="4013"/>
                    <a:pt x="2157" y="3937"/>
                    <a:pt x="2117" y="3885"/>
                  </a:cubicBezTo>
                  <a:close/>
                  <a:moveTo>
                    <a:pt x="897" y="5474"/>
                  </a:moveTo>
                  <a:cubicBezTo>
                    <a:pt x="850" y="5427"/>
                    <a:pt x="774" y="5427"/>
                    <a:pt x="728" y="5474"/>
                  </a:cubicBezTo>
                  <a:lnTo>
                    <a:pt x="634" y="5568"/>
                  </a:lnTo>
                  <a:lnTo>
                    <a:pt x="540" y="5474"/>
                  </a:lnTo>
                  <a:cubicBezTo>
                    <a:pt x="493" y="5428"/>
                    <a:pt x="417" y="5428"/>
                    <a:pt x="370" y="5474"/>
                  </a:cubicBezTo>
                  <a:cubicBezTo>
                    <a:pt x="323" y="5521"/>
                    <a:pt x="323" y="5597"/>
                    <a:pt x="370" y="5644"/>
                  </a:cubicBezTo>
                  <a:lnTo>
                    <a:pt x="464" y="5738"/>
                  </a:lnTo>
                  <a:lnTo>
                    <a:pt x="370" y="5832"/>
                  </a:lnTo>
                  <a:cubicBezTo>
                    <a:pt x="323" y="5879"/>
                    <a:pt x="323" y="5955"/>
                    <a:pt x="370" y="6002"/>
                  </a:cubicBezTo>
                  <a:cubicBezTo>
                    <a:pt x="417" y="6049"/>
                    <a:pt x="493" y="6049"/>
                    <a:pt x="540" y="6002"/>
                  </a:cubicBezTo>
                  <a:lnTo>
                    <a:pt x="634" y="5908"/>
                  </a:lnTo>
                  <a:lnTo>
                    <a:pt x="728" y="6002"/>
                  </a:lnTo>
                  <a:cubicBezTo>
                    <a:pt x="751" y="6025"/>
                    <a:pt x="782" y="6037"/>
                    <a:pt x="812" y="6037"/>
                  </a:cubicBezTo>
                  <a:cubicBezTo>
                    <a:pt x="843" y="6037"/>
                    <a:pt x="874" y="6025"/>
                    <a:pt x="897" y="6002"/>
                  </a:cubicBezTo>
                  <a:cubicBezTo>
                    <a:pt x="944" y="5955"/>
                    <a:pt x="944" y="5879"/>
                    <a:pt x="897" y="5832"/>
                  </a:cubicBezTo>
                  <a:lnTo>
                    <a:pt x="803" y="5738"/>
                  </a:lnTo>
                  <a:lnTo>
                    <a:pt x="897" y="5644"/>
                  </a:lnTo>
                  <a:cubicBezTo>
                    <a:pt x="944" y="5597"/>
                    <a:pt x="944" y="5521"/>
                    <a:pt x="897" y="5474"/>
                  </a:cubicBezTo>
                  <a:close/>
                  <a:moveTo>
                    <a:pt x="2071" y="3189"/>
                  </a:moveTo>
                  <a:cubicBezTo>
                    <a:pt x="2063" y="3123"/>
                    <a:pt x="2002" y="3077"/>
                    <a:pt x="1937" y="3085"/>
                  </a:cubicBezTo>
                  <a:lnTo>
                    <a:pt x="302" y="3299"/>
                  </a:lnTo>
                  <a:cubicBezTo>
                    <a:pt x="236" y="3308"/>
                    <a:pt x="190" y="3368"/>
                    <a:pt x="198" y="3434"/>
                  </a:cubicBezTo>
                  <a:cubicBezTo>
                    <a:pt x="206" y="3494"/>
                    <a:pt x="258" y="3538"/>
                    <a:pt x="317" y="3538"/>
                  </a:cubicBezTo>
                  <a:cubicBezTo>
                    <a:pt x="322" y="3538"/>
                    <a:pt x="328" y="3538"/>
                    <a:pt x="333" y="3537"/>
                  </a:cubicBezTo>
                  <a:lnTo>
                    <a:pt x="1968" y="3323"/>
                  </a:lnTo>
                  <a:cubicBezTo>
                    <a:pt x="2034" y="3315"/>
                    <a:pt x="2080" y="3254"/>
                    <a:pt x="2071" y="3189"/>
                  </a:cubicBezTo>
                  <a:close/>
                  <a:moveTo>
                    <a:pt x="3542" y="4596"/>
                  </a:moveTo>
                  <a:cubicBezTo>
                    <a:pt x="3533" y="4530"/>
                    <a:pt x="3473" y="4484"/>
                    <a:pt x="3407" y="4493"/>
                  </a:cubicBezTo>
                  <a:cubicBezTo>
                    <a:pt x="3341" y="4502"/>
                    <a:pt x="3295" y="4562"/>
                    <a:pt x="3304" y="4628"/>
                  </a:cubicBezTo>
                  <a:lnTo>
                    <a:pt x="3488" y="5983"/>
                  </a:lnTo>
                  <a:cubicBezTo>
                    <a:pt x="3496" y="6043"/>
                    <a:pt x="3548" y="6087"/>
                    <a:pt x="3607" y="6087"/>
                  </a:cubicBezTo>
                  <a:cubicBezTo>
                    <a:pt x="3612" y="6087"/>
                    <a:pt x="3618" y="6087"/>
                    <a:pt x="3623" y="6086"/>
                  </a:cubicBezTo>
                  <a:cubicBezTo>
                    <a:pt x="3689" y="6077"/>
                    <a:pt x="3735" y="6017"/>
                    <a:pt x="3726" y="5951"/>
                  </a:cubicBezTo>
                  <a:lnTo>
                    <a:pt x="3542" y="4596"/>
                  </a:lnTo>
                  <a:close/>
                  <a:moveTo>
                    <a:pt x="3049" y="4506"/>
                  </a:moveTo>
                  <a:cubicBezTo>
                    <a:pt x="2983" y="4496"/>
                    <a:pt x="2923" y="4542"/>
                    <a:pt x="2913" y="4608"/>
                  </a:cubicBezTo>
                  <a:lnTo>
                    <a:pt x="2723" y="5951"/>
                  </a:lnTo>
                  <a:cubicBezTo>
                    <a:pt x="2714" y="6017"/>
                    <a:pt x="2760" y="6077"/>
                    <a:pt x="2825" y="6087"/>
                  </a:cubicBezTo>
                  <a:cubicBezTo>
                    <a:pt x="2831" y="6087"/>
                    <a:pt x="2837" y="6088"/>
                    <a:pt x="2842" y="6088"/>
                  </a:cubicBezTo>
                  <a:cubicBezTo>
                    <a:pt x="2901" y="6088"/>
                    <a:pt x="2952" y="6045"/>
                    <a:pt x="2961" y="5985"/>
                  </a:cubicBezTo>
                  <a:lnTo>
                    <a:pt x="3151" y="4641"/>
                  </a:lnTo>
                  <a:cubicBezTo>
                    <a:pt x="3160" y="4576"/>
                    <a:pt x="3115" y="4515"/>
                    <a:pt x="3049" y="4506"/>
                  </a:cubicBezTo>
                  <a:close/>
                  <a:moveTo>
                    <a:pt x="2108" y="4488"/>
                  </a:moveTo>
                  <a:cubicBezTo>
                    <a:pt x="2055" y="4448"/>
                    <a:pt x="1980" y="4458"/>
                    <a:pt x="1940" y="4510"/>
                  </a:cubicBezTo>
                  <a:lnTo>
                    <a:pt x="1342" y="5288"/>
                  </a:lnTo>
                  <a:cubicBezTo>
                    <a:pt x="1302" y="5340"/>
                    <a:pt x="1311" y="5416"/>
                    <a:pt x="1364" y="5456"/>
                  </a:cubicBezTo>
                  <a:cubicBezTo>
                    <a:pt x="1386" y="5473"/>
                    <a:pt x="1411" y="5481"/>
                    <a:pt x="1437" y="5481"/>
                  </a:cubicBezTo>
                  <a:cubicBezTo>
                    <a:pt x="1473" y="5481"/>
                    <a:pt x="1509" y="5465"/>
                    <a:pt x="1532" y="5434"/>
                  </a:cubicBezTo>
                  <a:lnTo>
                    <a:pt x="2130" y="4656"/>
                  </a:lnTo>
                  <a:cubicBezTo>
                    <a:pt x="2170" y="4604"/>
                    <a:pt x="2161" y="4528"/>
                    <a:pt x="2108" y="4488"/>
                  </a:cubicBezTo>
                  <a:close/>
                </a:path>
              </a:pathLst>
            </a:custGeom>
            <a:solidFill>
              <a:srgbClr val="B89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319" name="treats_338547">
            <a:extLst>
              <a:ext uri="{FF2B5EF4-FFF2-40B4-BE49-F238E27FC236}">
                <a16:creationId xmlns:a16="http://schemas.microsoft.com/office/drawing/2014/main" id="{54405246-CCE2-4201-BBB1-D3F3EB6E740D}"/>
              </a:ext>
            </a:extLst>
          </p:cNvPr>
          <p:cNvSpPr/>
          <p:nvPr/>
        </p:nvSpPr>
        <p:spPr>
          <a:xfrm flipV="1">
            <a:off x="4709728" y="1656532"/>
            <a:ext cx="132892" cy="132414"/>
          </a:xfrm>
          <a:custGeom>
            <a:avLst/>
            <a:gdLst>
              <a:gd name="T0" fmla="*/ 5252 w 6855"/>
              <a:gd name="T1" fmla="*/ 3020 h 6841"/>
              <a:gd name="T2" fmla="*/ 6799 w 6855"/>
              <a:gd name="T3" fmla="*/ 1954 h 6841"/>
              <a:gd name="T4" fmla="*/ 4901 w 6855"/>
              <a:gd name="T5" fmla="*/ 56 h 6841"/>
              <a:gd name="T6" fmla="*/ 3427 w 6855"/>
              <a:gd name="T7" fmla="*/ 1045 h 6841"/>
              <a:gd name="T8" fmla="*/ 1954 w 6855"/>
              <a:gd name="T9" fmla="*/ 56 h 6841"/>
              <a:gd name="T10" fmla="*/ 14 w 6855"/>
              <a:gd name="T11" fmla="*/ 1853 h 6841"/>
              <a:gd name="T12" fmla="*/ 1509 w 6855"/>
              <a:gd name="T13" fmla="*/ 2923 h 6841"/>
              <a:gd name="T14" fmla="*/ 510 w 6855"/>
              <a:gd name="T15" fmla="*/ 4219 h 6841"/>
              <a:gd name="T16" fmla="*/ 1752 w 6855"/>
              <a:gd name="T17" fmla="*/ 6799 h 6841"/>
              <a:gd name="T18" fmla="*/ 2468 w 6855"/>
              <a:gd name="T19" fmla="*/ 6027 h 6841"/>
              <a:gd name="T20" fmla="*/ 3932 w 6855"/>
              <a:gd name="T21" fmla="*/ 5345 h 6841"/>
              <a:gd name="T22" fmla="*/ 5002 w 6855"/>
              <a:gd name="T23" fmla="*/ 6841 h 6841"/>
              <a:gd name="T24" fmla="*/ 6799 w 6855"/>
              <a:gd name="T25" fmla="*/ 4901 h 6841"/>
              <a:gd name="T26" fmla="*/ 2523 w 6855"/>
              <a:gd name="T27" fmla="*/ 772 h 6841"/>
              <a:gd name="T28" fmla="*/ 3045 w 6855"/>
              <a:gd name="T29" fmla="*/ 1554 h 6841"/>
              <a:gd name="T30" fmla="*/ 1613 w 6855"/>
              <a:gd name="T31" fmla="*/ 598 h 6841"/>
              <a:gd name="T32" fmla="*/ 2079 w 6855"/>
              <a:gd name="T33" fmla="*/ 1217 h 6841"/>
              <a:gd name="T34" fmla="*/ 2479 w 6855"/>
              <a:gd name="T35" fmla="*/ 2478 h 6841"/>
              <a:gd name="T36" fmla="*/ 1384 w 6855"/>
              <a:gd name="T37" fmla="*/ 1762 h 6841"/>
              <a:gd name="T38" fmla="*/ 940 w 6855"/>
              <a:gd name="T39" fmla="*/ 2206 h 6841"/>
              <a:gd name="T40" fmla="*/ 1272 w 6855"/>
              <a:gd name="T41" fmla="*/ 2024 h 6841"/>
              <a:gd name="T42" fmla="*/ 1875 w 6855"/>
              <a:gd name="T43" fmla="*/ 2899 h 6841"/>
              <a:gd name="T44" fmla="*/ 356 w 6855"/>
              <a:gd name="T45" fmla="*/ 5000 h 6841"/>
              <a:gd name="T46" fmla="*/ 1909 w 6855"/>
              <a:gd name="T47" fmla="*/ 3195 h 6841"/>
              <a:gd name="T48" fmla="*/ 3649 w 6855"/>
              <a:gd name="T49" fmla="*/ 1227 h 6841"/>
              <a:gd name="T50" fmla="*/ 5242 w 6855"/>
              <a:gd name="T51" fmla="*/ 598 h 6841"/>
              <a:gd name="T52" fmla="*/ 3377 w 6855"/>
              <a:gd name="T53" fmla="*/ 2241 h 6841"/>
              <a:gd name="T54" fmla="*/ 1469 w 6855"/>
              <a:gd name="T55" fmla="*/ 3892 h 6841"/>
              <a:gd name="T56" fmla="*/ 356 w 6855"/>
              <a:gd name="T57" fmla="*/ 5000 h 6841"/>
              <a:gd name="T58" fmla="*/ 1671 w 6855"/>
              <a:gd name="T59" fmla="*/ 4094 h 6841"/>
              <a:gd name="T60" fmla="*/ 3639 w 6855"/>
              <a:gd name="T61" fmla="*/ 2353 h 6841"/>
              <a:gd name="T62" fmla="*/ 5444 w 6855"/>
              <a:gd name="T63" fmla="*/ 800 h 6841"/>
              <a:gd name="T64" fmla="*/ 4699 w 6855"/>
              <a:gd name="T65" fmla="*/ 2277 h 6841"/>
              <a:gd name="T66" fmla="*/ 3048 w 6855"/>
              <a:gd name="T67" fmla="*/ 4184 h 6841"/>
              <a:gd name="T68" fmla="*/ 1406 w 6855"/>
              <a:gd name="T69" fmla="*/ 6049 h 6841"/>
              <a:gd name="T70" fmla="*/ 2206 w 6855"/>
              <a:gd name="T71" fmla="*/ 5915 h 6841"/>
              <a:gd name="T72" fmla="*/ 2024 w 6855"/>
              <a:gd name="T73" fmla="*/ 5583 h 6841"/>
              <a:gd name="T74" fmla="*/ 3932 w 6855"/>
              <a:gd name="T75" fmla="*/ 3932 h 6841"/>
              <a:gd name="T76" fmla="*/ 5583 w 6855"/>
              <a:gd name="T77" fmla="*/ 2024 h 6841"/>
              <a:gd name="T78" fmla="*/ 5915 w 6855"/>
              <a:gd name="T79" fmla="*/ 2206 h 6841"/>
              <a:gd name="T80" fmla="*/ 4174 w 6855"/>
              <a:gd name="T81" fmla="*/ 4174 h 6841"/>
              <a:gd name="T82" fmla="*/ 5005 w 6855"/>
              <a:gd name="T83" fmla="*/ 6493 h 6841"/>
              <a:gd name="T84" fmla="*/ 3751 w 6855"/>
              <a:gd name="T85" fmla="*/ 4826 h 6841"/>
              <a:gd name="T86" fmla="*/ 4830 w 6855"/>
              <a:gd name="T87" fmla="*/ 5583 h 6841"/>
              <a:gd name="T88" fmla="*/ 5449 w 6855"/>
              <a:gd name="T89" fmla="*/ 6049 h 6841"/>
              <a:gd name="T90" fmla="*/ 4297 w 6855"/>
              <a:gd name="T91" fmla="*/ 4453 h 6841"/>
              <a:gd name="T92" fmla="*/ 5184 w 6855"/>
              <a:gd name="T93" fmla="*/ 4094 h 6841"/>
              <a:gd name="T94" fmla="*/ 5449 w 6855"/>
              <a:gd name="T95" fmla="*/ 6049 h 6841"/>
              <a:gd name="T96" fmla="*/ 5386 w 6855"/>
              <a:gd name="T97" fmla="*/ 3892 h 6841"/>
              <a:gd name="T98" fmla="*/ 5628 w 6855"/>
              <a:gd name="T99" fmla="*/ 3649 h 6841"/>
              <a:gd name="T100" fmla="*/ 6256 w 6855"/>
              <a:gd name="T101" fmla="*/ 5242 h 6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55" h="6841">
                <a:moveTo>
                  <a:pt x="6345" y="4219"/>
                </a:moveTo>
                <a:cubicBezTo>
                  <a:pt x="6250" y="3998"/>
                  <a:pt x="6152" y="3770"/>
                  <a:pt x="5830" y="3448"/>
                </a:cubicBezTo>
                <a:cubicBezTo>
                  <a:pt x="5600" y="3218"/>
                  <a:pt x="5418" y="3102"/>
                  <a:pt x="5252" y="3020"/>
                </a:cubicBezTo>
                <a:cubicBezTo>
                  <a:pt x="5281" y="2989"/>
                  <a:pt x="5312" y="2956"/>
                  <a:pt x="5345" y="2923"/>
                </a:cubicBezTo>
                <a:cubicBezTo>
                  <a:pt x="5629" y="2639"/>
                  <a:pt x="5822" y="2556"/>
                  <a:pt x="6027" y="2468"/>
                </a:cubicBezTo>
                <a:cubicBezTo>
                  <a:pt x="6248" y="2374"/>
                  <a:pt x="6477" y="2276"/>
                  <a:pt x="6799" y="1954"/>
                </a:cubicBezTo>
                <a:cubicBezTo>
                  <a:pt x="6855" y="1898"/>
                  <a:pt x="6855" y="1807"/>
                  <a:pt x="6799" y="1752"/>
                </a:cubicBezTo>
                <a:lnTo>
                  <a:pt x="5103" y="56"/>
                </a:lnTo>
                <a:cubicBezTo>
                  <a:pt x="5047" y="0"/>
                  <a:pt x="4957" y="0"/>
                  <a:pt x="4901" y="56"/>
                </a:cubicBezTo>
                <a:cubicBezTo>
                  <a:pt x="4618" y="339"/>
                  <a:pt x="4424" y="422"/>
                  <a:pt x="4219" y="510"/>
                </a:cubicBezTo>
                <a:cubicBezTo>
                  <a:pt x="3998" y="605"/>
                  <a:pt x="3770" y="703"/>
                  <a:pt x="3448" y="1025"/>
                </a:cubicBezTo>
                <a:cubicBezTo>
                  <a:pt x="3441" y="1032"/>
                  <a:pt x="3434" y="1039"/>
                  <a:pt x="3427" y="1045"/>
                </a:cubicBezTo>
                <a:cubicBezTo>
                  <a:pt x="3421" y="1039"/>
                  <a:pt x="3414" y="1032"/>
                  <a:pt x="3407" y="1025"/>
                </a:cubicBezTo>
                <a:cubicBezTo>
                  <a:pt x="3085" y="703"/>
                  <a:pt x="2857" y="605"/>
                  <a:pt x="2636" y="510"/>
                </a:cubicBezTo>
                <a:cubicBezTo>
                  <a:pt x="2431" y="422"/>
                  <a:pt x="2237" y="339"/>
                  <a:pt x="1954" y="56"/>
                </a:cubicBezTo>
                <a:cubicBezTo>
                  <a:pt x="1898" y="0"/>
                  <a:pt x="1807" y="0"/>
                  <a:pt x="1752" y="56"/>
                </a:cubicBezTo>
                <a:lnTo>
                  <a:pt x="56" y="1752"/>
                </a:lnTo>
                <a:cubicBezTo>
                  <a:pt x="29" y="1778"/>
                  <a:pt x="14" y="1815"/>
                  <a:pt x="14" y="1853"/>
                </a:cubicBezTo>
                <a:cubicBezTo>
                  <a:pt x="14" y="1890"/>
                  <a:pt x="29" y="1927"/>
                  <a:pt x="56" y="1954"/>
                </a:cubicBezTo>
                <a:cubicBezTo>
                  <a:pt x="378" y="2276"/>
                  <a:pt x="606" y="2374"/>
                  <a:pt x="827" y="2468"/>
                </a:cubicBezTo>
                <a:cubicBezTo>
                  <a:pt x="1032" y="2556"/>
                  <a:pt x="1226" y="2639"/>
                  <a:pt x="1509" y="2923"/>
                </a:cubicBezTo>
                <a:cubicBezTo>
                  <a:pt x="1543" y="2956"/>
                  <a:pt x="1574" y="2989"/>
                  <a:pt x="1602" y="3020"/>
                </a:cubicBezTo>
                <a:cubicBezTo>
                  <a:pt x="1437" y="3102"/>
                  <a:pt x="1255" y="3218"/>
                  <a:pt x="1025" y="3447"/>
                </a:cubicBezTo>
                <a:cubicBezTo>
                  <a:pt x="703" y="3770"/>
                  <a:pt x="605" y="3998"/>
                  <a:pt x="510" y="4219"/>
                </a:cubicBezTo>
                <a:cubicBezTo>
                  <a:pt x="422" y="4424"/>
                  <a:pt x="339" y="4618"/>
                  <a:pt x="56" y="4901"/>
                </a:cubicBezTo>
                <a:cubicBezTo>
                  <a:pt x="0" y="4957"/>
                  <a:pt x="0" y="5047"/>
                  <a:pt x="56" y="5103"/>
                </a:cubicBezTo>
                <a:lnTo>
                  <a:pt x="1752" y="6799"/>
                </a:lnTo>
                <a:cubicBezTo>
                  <a:pt x="1780" y="6827"/>
                  <a:pt x="1816" y="6841"/>
                  <a:pt x="1853" y="6841"/>
                </a:cubicBezTo>
                <a:cubicBezTo>
                  <a:pt x="1889" y="6841"/>
                  <a:pt x="1926" y="6827"/>
                  <a:pt x="1954" y="6799"/>
                </a:cubicBezTo>
                <a:cubicBezTo>
                  <a:pt x="2276" y="6477"/>
                  <a:pt x="2374" y="6248"/>
                  <a:pt x="2468" y="6027"/>
                </a:cubicBezTo>
                <a:cubicBezTo>
                  <a:pt x="2556" y="5822"/>
                  <a:pt x="2639" y="5629"/>
                  <a:pt x="2923" y="5345"/>
                </a:cubicBezTo>
                <a:cubicBezTo>
                  <a:pt x="3124" y="5144"/>
                  <a:pt x="3280" y="5044"/>
                  <a:pt x="3427" y="4971"/>
                </a:cubicBezTo>
                <a:cubicBezTo>
                  <a:pt x="3574" y="5044"/>
                  <a:pt x="3731" y="5144"/>
                  <a:pt x="3932" y="5345"/>
                </a:cubicBezTo>
                <a:cubicBezTo>
                  <a:pt x="4215" y="5629"/>
                  <a:pt x="4298" y="5822"/>
                  <a:pt x="4386" y="6027"/>
                </a:cubicBezTo>
                <a:cubicBezTo>
                  <a:pt x="4481" y="6248"/>
                  <a:pt x="4579" y="6477"/>
                  <a:pt x="4901" y="6799"/>
                </a:cubicBezTo>
                <a:cubicBezTo>
                  <a:pt x="4929" y="6827"/>
                  <a:pt x="4966" y="6841"/>
                  <a:pt x="5002" y="6841"/>
                </a:cubicBezTo>
                <a:cubicBezTo>
                  <a:pt x="5039" y="6841"/>
                  <a:pt x="5075" y="6827"/>
                  <a:pt x="5103" y="6799"/>
                </a:cubicBezTo>
                <a:lnTo>
                  <a:pt x="6799" y="5103"/>
                </a:lnTo>
                <a:cubicBezTo>
                  <a:pt x="6855" y="5047"/>
                  <a:pt x="6855" y="4957"/>
                  <a:pt x="6799" y="4901"/>
                </a:cubicBezTo>
                <a:cubicBezTo>
                  <a:pt x="6515" y="4618"/>
                  <a:pt x="6432" y="4424"/>
                  <a:pt x="6345" y="4219"/>
                </a:cubicBezTo>
                <a:close/>
                <a:moveTo>
                  <a:pt x="1855" y="356"/>
                </a:moveTo>
                <a:cubicBezTo>
                  <a:pt x="2124" y="602"/>
                  <a:pt x="2327" y="688"/>
                  <a:pt x="2523" y="772"/>
                </a:cubicBezTo>
                <a:cubicBezTo>
                  <a:pt x="2728" y="860"/>
                  <a:pt x="2922" y="943"/>
                  <a:pt x="3205" y="1227"/>
                </a:cubicBezTo>
                <a:cubicBezTo>
                  <a:pt x="3216" y="1238"/>
                  <a:pt x="3227" y="1249"/>
                  <a:pt x="3237" y="1259"/>
                </a:cubicBezTo>
                <a:cubicBezTo>
                  <a:pt x="3153" y="1366"/>
                  <a:pt x="3093" y="1463"/>
                  <a:pt x="3045" y="1554"/>
                </a:cubicBezTo>
                <a:cubicBezTo>
                  <a:pt x="3019" y="1526"/>
                  <a:pt x="2992" y="1498"/>
                  <a:pt x="2963" y="1469"/>
                </a:cubicBezTo>
                <a:cubicBezTo>
                  <a:pt x="2641" y="1147"/>
                  <a:pt x="2412" y="1049"/>
                  <a:pt x="2192" y="954"/>
                </a:cubicBezTo>
                <a:cubicBezTo>
                  <a:pt x="2012" y="877"/>
                  <a:pt x="1842" y="804"/>
                  <a:pt x="1613" y="598"/>
                </a:cubicBezTo>
                <a:lnTo>
                  <a:pt x="1855" y="356"/>
                </a:lnTo>
                <a:close/>
                <a:moveTo>
                  <a:pt x="1411" y="801"/>
                </a:moveTo>
                <a:cubicBezTo>
                  <a:pt x="1680" y="1046"/>
                  <a:pt x="1883" y="1132"/>
                  <a:pt x="2079" y="1217"/>
                </a:cubicBezTo>
                <a:cubicBezTo>
                  <a:pt x="2284" y="1305"/>
                  <a:pt x="2478" y="1388"/>
                  <a:pt x="2761" y="1671"/>
                </a:cubicBezTo>
                <a:cubicBezTo>
                  <a:pt x="2821" y="1730"/>
                  <a:pt x="2871" y="1786"/>
                  <a:pt x="2915" y="1838"/>
                </a:cubicBezTo>
                <a:cubicBezTo>
                  <a:pt x="2833" y="2028"/>
                  <a:pt x="2742" y="2214"/>
                  <a:pt x="2479" y="2478"/>
                </a:cubicBezTo>
                <a:cubicBezTo>
                  <a:pt x="2451" y="2506"/>
                  <a:pt x="2425" y="2531"/>
                  <a:pt x="2399" y="2555"/>
                </a:cubicBezTo>
                <a:cubicBezTo>
                  <a:pt x="2335" y="2469"/>
                  <a:pt x="2257" y="2378"/>
                  <a:pt x="2155" y="2277"/>
                </a:cubicBezTo>
                <a:cubicBezTo>
                  <a:pt x="1833" y="1954"/>
                  <a:pt x="1605" y="1856"/>
                  <a:pt x="1384" y="1762"/>
                </a:cubicBezTo>
                <a:cubicBezTo>
                  <a:pt x="1205" y="1685"/>
                  <a:pt x="1034" y="1612"/>
                  <a:pt x="805" y="1406"/>
                </a:cubicBezTo>
                <a:lnTo>
                  <a:pt x="1411" y="801"/>
                </a:lnTo>
                <a:close/>
                <a:moveTo>
                  <a:pt x="940" y="2206"/>
                </a:moveTo>
                <a:cubicBezTo>
                  <a:pt x="761" y="2129"/>
                  <a:pt x="590" y="2056"/>
                  <a:pt x="361" y="1850"/>
                </a:cubicBezTo>
                <a:lnTo>
                  <a:pt x="603" y="1608"/>
                </a:lnTo>
                <a:cubicBezTo>
                  <a:pt x="872" y="1853"/>
                  <a:pt x="1075" y="1940"/>
                  <a:pt x="1272" y="2024"/>
                </a:cubicBezTo>
                <a:cubicBezTo>
                  <a:pt x="1477" y="2112"/>
                  <a:pt x="1670" y="2195"/>
                  <a:pt x="1954" y="2478"/>
                </a:cubicBezTo>
                <a:cubicBezTo>
                  <a:pt x="2048" y="2572"/>
                  <a:pt x="2119" y="2656"/>
                  <a:pt x="2177" y="2734"/>
                </a:cubicBezTo>
                <a:cubicBezTo>
                  <a:pt x="2069" y="2808"/>
                  <a:pt x="1972" y="2856"/>
                  <a:pt x="1875" y="2899"/>
                </a:cubicBezTo>
                <a:cubicBezTo>
                  <a:pt x="1828" y="2842"/>
                  <a:pt x="1774" y="2783"/>
                  <a:pt x="1711" y="2721"/>
                </a:cubicBezTo>
                <a:cubicBezTo>
                  <a:pt x="1389" y="2398"/>
                  <a:pt x="1161" y="2301"/>
                  <a:pt x="940" y="2206"/>
                </a:cubicBezTo>
                <a:close/>
                <a:moveTo>
                  <a:pt x="356" y="5000"/>
                </a:moveTo>
                <a:cubicBezTo>
                  <a:pt x="602" y="4730"/>
                  <a:pt x="688" y="4528"/>
                  <a:pt x="773" y="4331"/>
                </a:cubicBezTo>
                <a:cubicBezTo>
                  <a:pt x="860" y="4126"/>
                  <a:pt x="943" y="3933"/>
                  <a:pt x="1227" y="3649"/>
                </a:cubicBezTo>
                <a:cubicBezTo>
                  <a:pt x="1510" y="3366"/>
                  <a:pt x="1704" y="3283"/>
                  <a:pt x="1909" y="3195"/>
                </a:cubicBezTo>
                <a:cubicBezTo>
                  <a:pt x="2130" y="3100"/>
                  <a:pt x="2358" y="3003"/>
                  <a:pt x="2680" y="2680"/>
                </a:cubicBezTo>
                <a:cubicBezTo>
                  <a:pt x="3003" y="2358"/>
                  <a:pt x="3101" y="2130"/>
                  <a:pt x="3195" y="1909"/>
                </a:cubicBezTo>
                <a:cubicBezTo>
                  <a:pt x="3283" y="1704"/>
                  <a:pt x="3366" y="1510"/>
                  <a:pt x="3649" y="1227"/>
                </a:cubicBezTo>
                <a:cubicBezTo>
                  <a:pt x="3933" y="943"/>
                  <a:pt x="4126" y="860"/>
                  <a:pt x="4332" y="772"/>
                </a:cubicBezTo>
                <a:cubicBezTo>
                  <a:pt x="4528" y="688"/>
                  <a:pt x="4730" y="602"/>
                  <a:pt x="5000" y="356"/>
                </a:cubicBezTo>
                <a:lnTo>
                  <a:pt x="5242" y="598"/>
                </a:lnTo>
                <a:cubicBezTo>
                  <a:pt x="5013" y="804"/>
                  <a:pt x="4842" y="877"/>
                  <a:pt x="4663" y="954"/>
                </a:cubicBezTo>
                <a:cubicBezTo>
                  <a:pt x="4442" y="1049"/>
                  <a:pt x="4214" y="1147"/>
                  <a:pt x="3892" y="1469"/>
                </a:cubicBezTo>
                <a:cubicBezTo>
                  <a:pt x="3569" y="1791"/>
                  <a:pt x="3472" y="2020"/>
                  <a:pt x="3377" y="2241"/>
                </a:cubicBezTo>
                <a:cubicBezTo>
                  <a:pt x="3289" y="2446"/>
                  <a:pt x="3206" y="2639"/>
                  <a:pt x="2923" y="2923"/>
                </a:cubicBezTo>
                <a:cubicBezTo>
                  <a:pt x="2639" y="3206"/>
                  <a:pt x="2446" y="3289"/>
                  <a:pt x="2241" y="3377"/>
                </a:cubicBezTo>
                <a:cubicBezTo>
                  <a:pt x="2020" y="3471"/>
                  <a:pt x="1791" y="3569"/>
                  <a:pt x="1469" y="3892"/>
                </a:cubicBezTo>
                <a:cubicBezTo>
                  <a:pt x="1147" y="4214"/>
                  <a:pt x="1049" y="4442"/>
                  <a:pt x="954" y="4663"/>
                </a:cubicBezTo>
                <a:cubicBezTo>
                  <a:pt x="877" y="4842"/>
                  <a:pt x="804" y="5013"/>
                  <a:pt x="598" y="5242"/>
                </a:cubicBezTo>
                <a:lnTo>
                  <a:pt x="356" y="5000"/>
                </a:lnTo>
                <a:close/>
                <a:moveTo>
                  <a:pt x="801" y="5444"/>
                </a:moveTo>
                <a:cubicBezTo>
                  <a:pt x="1046" y="5175"/>
                  <a:pt x="1132" y="4972"/>
                  <a:pt x="1217" y="4776"/>
                </a:cubicBezTo>
                <a:cubicBezTo>
                  <a:pt x="1305" y="4571"/>
                  <a:pt x="1388" y="4377"/>
                  <a:pt x="1671" y="4094"/>
                </a:cubicBezTo>
                <a:cubicBezTo>
                  <a:pt x="1954" y="3810"/>
                  <a:pt x="2148" y="3727"/>
                  <a:pt x="2353" y="3639"/>
                </a:cubicBezTo>
                <a:cubicBezTo>
                  <a:pt x="2574" y="3545"/>
                  <a:pt x="2802" y="3447"/>
                  <a:pt x="3125" y="3124"/>
                </a:cubicBezTo>
                <a:cubicBezTo>
                  <a:pt x="3447" y="2802"/>
                  <a:pt x="3545" y="2574"/>
                  <a:pt x="3639" y="2353"/>
                </a:cubicBezTo>
                <a:cubicBezTo>
                  <a:pt x="3727" y="2148"/>
                  <a:pt x="3810" y="1954"/>
                  <a:pt x="4094" y="1671"/>
                </a:cubicBezTo>
                <a:cubicBezTo>
                  <a:pt x="4377" y="1387"/>
                  <a:pt x="4571" y="1304"/>
                  <a:pt x="4776" y="1217"/>
                </a:cubicBezTo>
                <a:cubicBezTo>
                  <a:pt x="4972" y="1132"/>
                  <a:pt x="5175" y="1046"/>
                  <a:pt x="5444" y="800"/>
                </a:cubicBezTo>
                <a:lnTo>
                  <a:pt x="6049" y="1406"/>
                </a:lnTo>
                <a:cubicBezTo>
                  <a:pt x="5820" y="1612"/>
                  <a:pt x="5650" y="1685"/>
                  <a:pt x="5471" y="1762"/>
                </a:cubicBezTo>
                <a:cubicBezTo>
                  <a:pt x="5250" y="1856"/>
                  <a:pt x="5021" y="1954"/>
                  <a:pt x="4699" y="2277"/>
                </a:cubicBezTo>
                <a:cubicBezTo>
                  <a:pt x="4377" y="2599"/>
                  <a:pt x="4279" y="2827"/>
                  <a:pt x="4184" y="3048"/>
                </a:cubicBezTo>
                <a:cubicBezTo>
                  <a:pt x="4097" y="3253"/>
                  <a:pt x="4014" y="3447"/>
                  <a:pt x="3730" y="3730"/>
                </a:cubicBezTo>
                <a:cubicBezTo>
                  <a:pt x="3447" y="4013"/>
                  <a:pt x="3253" y="4096"/>
                  <a:pt x="3048" y="4184"/>
                </a:cubicBezTo>
                <a:cubicBezTo>
                  <a:pt x="2827" y="4279"/>
                  <a:pt x="2599" y="4377"/>
                  <a:pt x="2277" y="4699"/>
                </a:cubicBezTo>
                <a:cubicBezTo>
                  <a:pt x="1954" y="5021"/>
                  <a:pt x="1856" y="5250"/>
                  <a:pt x="1762" y="5471"/>
                </a:cubicBezTo>
                <a:cubicBezTo>
                  <a:pt x="1685" y="5650"/>
                  <a:pt x="1612" y="5820"/>
                  <a:pt x="1406" y="6049"/>
                </a:cubicBezTo>
                <a:lnTo>
                  <a:pt x="801" y="5444"/>
                </a:lnTo>
                <a:close/>
                <a:moveTo>
                  <a:pt x="2721" y="5143"/>
                </a:moveTo>
                <a:cubicBezTo>
                  <a:pt x="2398" y="5466"/>
                  <a:pt x="2301" y="5694"/>
                  <a:pt x="2206" y="5915"/>
                </a:cubicBezTo>
                <a:cubicBezTo>
                  <a:pt x="2129" y="6094"/>
                  <a:pt x="2056" y="6264"/>
                  <a:pt x="1850" y="6493"/>
                </a:cubicBezTo>
                <a:lnTo>
                  <a:pt x="1608" y="6251"/>
                </a:lnTo>
                <a:cubicBezTo>
                  <a:pt x="1853" y="5982"/>
                  <a:pt x="1940" y="5780"/>
                  <a:pt x="2024" y="5583"/>
                </a:cubicBezTo>
                <a:cubicBezTo>
                  <a:pt x="2112" y="5378"/>
                  <a:pt x="2195" y="5184"/>
                  <a:pt x="2478" y="4901"/>
                </a:cubicBezTo>
                <a:cubicBezTo>
                  <a:pt x="2762" y="4618"/>
                  <a:pt x="2956" y="4535"/>
                  <a:pt x="3161" y="4447"/>
                </a:cubicBezTo>
                <a:cubicBezTo>
                  <a:pt x="3381" y="4352"/>
                  <a:pt x="3610" y="4254"/>
                  <a:pt x="3932" y="3932"/>
                </a:cubicBezTo>
                <a:cubicBezTo>
                  <a:pt x="4254" y="3610"/>
                  <a:pt x="4352" y="3381"/>
                  <a:pt x="4447" y="3160"/>
                </a:cubicBezTo>
                <a:cubicBezTo>
                  <a:pt x="4535" y="2955"/>
                  <a:pt x="4618" y="2762"/>
                  <a:pt x="4901" y="2478"/>
                </a:cubicBezTo>
                <a:cubicBezTo>
                  <a:pt x="5185" y="2195"/>
                  <a:pt x="5378" y="2112"/>
                  <a:pt x="5583" y="2024"/>
                </a:cubicBezTo>
                <a:cubicBezTo>
                  <a:pt x="5780" y="1940"/>
                  <a:pt x="5982" y="1853"/>
                  <a:pt x="6251" y="1608"/>
                </a:cubicBezTo>
                <a:lnTo>
                  <a:pt x="6493" y="1850"/>
                </a:lnTo>
                <a:cubicBezTo>
                  <a:pt x="6264" y="2056"/>
                  <a:pt x="6094" y="2129"/>
                  <a:pt x="5915" y="2206"/>
                </a:cubicBezTo>
                <a:cubicBezTo>
                  <a:pt x="5694" y="2301"/>
                  <a:pt x="5466" y="2398"/>
                  <a:pt x="5143" y="2721"/>
                </a:cubicBezTo>
                <a:cubicBezTo>
                  <a:pt x="4821" y="3043"/>
                  <a:pt x="4723" y="3271"/>
                  <a:pt x="4629" y="3492"/>
                </a:cubicBezTo>
                <a:cubicBezTo>
                  <a:pt x="4541" y="3697"/>
                  <a:pt x="4458" y="3891"/>
                  <a:pt x="4174" y="4174"/>
                </a:cubicBezTo>
                <a:cubicBezTo>
                  <a:pt x="3891" y="4458"/>
                  <a:pt x="3697" y="4541"/>
                  <a:pt x="3492" y="4629"/>
                </a:cubicBezTo>
                <a:cubicBezTo>
                  <a:pt x="3271" y="4723"/>
                  <a:pt x="3043" y="4821"/>
                  <a:pt x="2721" y="5143"/>
                </a:cubicBezTo>
                <a:close/>
                <a:moveTo>
                  <a:pt x="5005" y="6493"/>
                </a:moveTo>
                <a:cubicBezTo>
                  <a:pt x="4799" y="6264"/>
                  <a:pt x="4725" y="6094"/>
                  <a:pt x="4649" y="5915"/>
                </a:cubicBezTo>
                <a:cubicBezTo>
                  <a:pt x="4554" y="5694"/>
                  <a:pt x="4456" y="5466"/>
                  <a:pt x="4134" y="5143"/>
                </a:cubicBezTo>
                <a:cubicBezTo>
                  <a:pt x="3990" y="5000"/>
                  <a:pt x="3865" y="4900"/>
                  <a:pt x="3751" y="4826"/>
                </a:cubicBezTo>
                <a:cubicBezTo>
                  <a:pt x="3850" y="4780"/>
                  <a:pt x="3953" y="4725"/>
                  <a:pt x="4069" y="4641"/>
                </a:cubicBezTo>
                <a:cubicBezTo>
                  <a:pt x="4161" y="4704"/>
                  <a:pt x="4261" y="4786"/>
                  <a:pt x="4376" y="4901"/>
                </a:cubicBezTo>
                <a:cubicBezTo>
                  <a:pt x="4660" y="5185"/>
                  <a:pt x="4743" y="5378"/>
                  <a:pt x="4830" y="5583"/>
                </a:cubicBezTo>
                <a:cubicBezTo>
                  <a:pt x="4915" y="5780"/>
                  <a:pt x="5002" y="5982"/>
                  <a:pt x="5247" y="6251"/>
                </a:cubicBezTo>
                <a:lnTo>
                  <a:pt x="5005" y="6493"/>
                </a:lnTo>
                <a:close/>
                <a:moveTo>
                  <a:pt x="5449" y="6049"/>
                </a:moveTo>
                <a:cubicBezTo>
                  <a:pt x="5243" y="5820"/>
                  <a:pt x="5170" y="5650"/>
                  <a:pt x="5093" y="5471"/>
                </a:cubicBezTo>
                <a:cubicBezTo>
                  <a:pt x="4998" y="5250"/>
                  <a:pt x="4900" y="5021"/>
                  <a:pt x="4578" y="4699"/>
                </a:cubicBezTo>
                <a:cubicBezTo>
                  <a:pt x="4476" y="4597"/>
                  <a:pt x="4383" y="4517"/>
                  <a:pt x="4297" y="4453"/>
                </a:cubicBezTo>
                <a:cubicBezTo>
                  <a:pt x="4323" y="4429"/>
                  <a:pt x="4349" y="4403"/>
                  <a:pt x="4376" y="4376"/>
                </a:cubicBezTo>
                <a:cubicBezTo>
                  <a:pt x="4610" y="4142"/>
                  <a:pt x="4726" y="3958"/>
                  <a:pt x="4808" y="3790"/>
                </a:cubicBezTo>
                <a:cubicBezTo>
                  <a:pt x="4919" y="3857"/>
                  <a:pt x="5040" y="3949"/>
                  <a:pt x="5184" y="4094"/>
                </a:cubicBezTo>
                <a:cubicBezTo>
                  <a:pt x="5467" y="4377"/>
                  <a:pt x="5550" y="4571"/>
                  <a:pt x="5638" y="4776"/>
                </a:cubicBezTo>
                <a:cubicBezTo>
                  <a:pt x="5722" y="4972"/>
                  <a:pt x="5809" y="5175"/>
                  <a:pt x="6054" y="5444"/>
                </a:cubicBezTo>
                <a:lnTo>
                  <a:pt x="5449" y="6049"/>
                </a:lnTo>
                <a:close/>
                <a:moveTo>
                  <a:pt x="6256" y="5242"/>
                </a:moveTo>
                <a:cubicBezTo>
                  <a:pt x="6050" y="5013"/>
                  <a:pt x="5977" y="4842"/>
                  <a:pt x="5900" y="4663"/>
                </a:cubicBezTo>
                <a:cubicBezTo>
                  <a:pt x="5806" y="4442"/>
                  <a:pt x="5708" y="4214"/>
                  <a:pt x="5386" y="3892"/>
                </a:cubicBezTo>
                <a:cubicBezTo>
                  <a:pt x="5208" y="3714"/>
                  <a:pt x="5060" y="3605"/>
                  <a:pt x="4925" y="3527"/>
                </a:cubicBezTo>
                <a:cubicBezTo>
                  <a:pt x="4964" y="3438"/>
                  <a:pt x="5007" y="3349"/>
                  <a:pt x="5072" y="3251"/>
                </a:cubicBezTo>
                <a:cubicBezTo>
                  <a:pt x="5234" y="3326"/>
                  <a:pt x="5403" y="3424"/>
                  <a:pt x="5628" y="3649"/>
                </a:cubicBezTo>
                <a:cubicBezTo>
                  <a:pt x="5911" y="3933"/>
                  <a:pt x="5994" y="4126"/>
                  <a:pt x="6082" y="4331"/>
                </a:cubicBezTo>
                <a:cubicBezTo>
                  <a:pt x="6166" y="4528"/>
                  <a:pt x="6253" y="4730"/>
                  <a:pt x="6498" y="5000"/>
                </a:cubicBezTo>
                <a:lnTo>
                  <a:pt x="6256" y="524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6" name="Group 321"/>
          <p:cNvGrpSpPr/>
          <p:nvPr/>
        </p:nvGrpSpPr>
        <p:grpSpPr>
          <a:xfrm>
            <a:off x="2010946" y="21978680"/>
            <a:ext cx="1542103" cy="421397"/>
            <a:chOff x="506999" y="21977901"/>
            <a:chExt cx="1278095" cy="426699"/>
          </a:xfrm>
        </p:grpSpPr>
        <p:sp>
          <p:nvSpPr>
            <p:cNvPr id="337" name="圆角矩形 336"/>
            <p:cNvSpPr/>
            <p:nvPr/>
          </p:nvSpPr>
          <p:spPr>
            <a:xfrm>
              <a:off x="506999" y="21977901"/>
              <a:ext cx="1278095" cy="426699"/>
            </a:xfrm>
            <a:prstGeom prst="roundRect">
              <a:avLst/>
            </a:prstGeom>
            <a:solidFill>
              <a:schemeClr val="tx2">
                <a:lumMod val="60000"/>
                <a:lumOff val="40000"/>
              </a:schemeClr>
            </a:solidFill>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38" name="Text 264"/>
            <p:cNvSpPr/>
            <p:nvPr/>
          </p:nvSpPr>
          <p:spPr>
            <a:xfrm>
              <a:off x="507163" y="22188449"/>
              <a:ext cx="1266229" cy="171719"/>
            </a:xfrm>
            <a:prstGeom prst="rect">
              <a:avLst/>
            </a:prstGeom>
            <a:noFill/>
          </p:spPr>
          <p:txBody>
            <a:bodyPr wrap="square" lIns="0" tIns="0" rIns="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pPr>
              <a:r>
                <a:rPr lang="zh-CN" altLang="en-US" sz="800" b="1" dirty="0" smtClean="0">
                  <a:solidFill>
                    <a:schemeClr val="bg1">
                      <a:alpha val="90000"/>
                    </a:schemeClr>
                  </a:solidFill>
                  <a:latin typeface="微软雅黑" panose="020B0503020204020204" pitchFamily="34" charset="-122"/>
                  <a:ea typeface="微软雅黑" panose="020B0503020204020204" pitchFamily="34" charset="-122"/>
                  <a:cs typeface="MiSans" pitchFamily="34" charset="-120"/>
                </a:rPr>
                <a:t>最佳资产管理机构</a:t>
              </a:r>
              <a:endParaRPr lang="en-US" sz="800" b="1" dirty="0">
                <a:solidFill>
                  <a:schemeClr val="bg1">
                    <a:alpha val="90000"/>
                  </a:schemeClr>
                </a:solidFill>
                <a:latin typeface="微软雅黑" panose="020B0503020204020204" pitchFamily="34" charset="-122"/>
                <a:ea typeface="微软雅黑" panose="020B0503020204020204" pitchFamily="34" charset="-122"/>
                <a:cs typeface="MiSans" pitchFamily="34" charset="-120"/>
              </a:endParaRPr>
            </a:p>
          </p:txBody>
        </p:sp>
        <p:sp>
          <p:nvSpPr>
            <p:cNvPr id="339" name="treats_338547">
              <a:extLst>
                <a:ext uri="{FF2B5EF4-FFF2-40B4-BE49-F238E27FC236}">
                  <a16:creationId xmlns:a16="http://schemas.microsoft.com/office/drawing/2014/main" id="{54405246-CCE2-4201-BBB1-D3F3EB6E740D}"/>
                </a:ext>
              </a:extLst>
            </p:cNvPr>
            <p:cNvSpPr/>
            <p:nvPr/>
          </p:nvSpPr>
          <p:spPr>
            <a:xfrm>
              <a:off x="1071747" y="22015583"/>
              <a:ext cx="177457" cy="192407"/>
            </a:xfrm>
            <a:custGeom>
              <a:avLst/>
              <a:gdLst>
                <a:gd name="T0" fmla="*/ 3583 w 3653"/>
                <a:gd name="T1" fmla="*/ 1006 h 3966"/>
                <a:gd name="T2" fmla="*/ 3148 w 3653"/>
                <a:gd name="T3" fmla="*/ 48 h 3966"/>
                <a:gd name="T4" fmla="*/ 2321 w 3653"/>
                <a:gd name="T5" fmla="*/ 262 h 3966"/>
                <a:gd name="T6" fmla="*/ 2025 w 3653"/>
                <a:gd name="T7" fmla="*/ 200 h 3966"/>
                <a:gd name="T8" fmla="*/ 865 w 3653"/>
                <a:gd name="T9" fmla="*/ 24 h 3966"/>
                <a:gd name="T10" fmla="*/ 27 w 3653"/>
                <a:gd name="T11" fmla="*/ 660 h 3966"/>
                <a:gd name="T12" fmla="*/ 495 w 3653"/>
                <a:gd name="T13" fmla="*/ 1662 h 3966"/>
                <a:gd name="T14" fmla="*/ 64 w 3653"/>
                <a:gd name="T15" fmla="*/ 3557 h 3966"/>
                <a:gd name="T16" fmla="*/ 167 w 3653"/>
                <a:gd name="T17" fmla="*/ 3752 h 3966"/>
                <a:gd name="T18" fmla="*/ 546 w 3653"/>
                <a:gd name="T19" fmla="*/ 3537 h 3966"/>
                <a:gd name="T20" fmla="*/ 491 w 3653"/>
                <a:gd name="T21" fmla="*/ 3924 h 3966"/>
                <a:gd name="T22" fmla="*/ 668 w 3653"/>
                <a:gd name="T23" fmla="*/ 3922 h 3966"/>
                <a:gd name="T24" fmla="*/ 2132 w 3653"/>
                <a:gd name="T25" fmla="*/ 3300 h 3966"/>
                <a:gd name="T26" fmla="*/ 3558 w 3653"/>
                <a:gd name="T27" fmla="*/ 2238 h 3966"/>
                <a:gd name="T28" fmla="*/ 3319 w 3653"/>
                <a:gd name="T29" fmla="*/ 1389 h 3966"/>
                <a:gd name="T30" fmla="*/ 3060 w 3653"/>
                <a:gd name="T31" fmla="*/ 282 h 3966"/>
                <a:gd name="T32" fmla="*/ 3349 w 3653"/>
                <a:gd name="T33" fmla="*/ 918 h 3966"/>
                <a:gd name="T34" fmla="*/ 2862 w 3653"/>
                <a:gd name="T35" fmla="*/ 1232 h 3966"/>
                <a:gd name="T36" fmla="*/ 2721 w 3653"/>
                <a:gd name="T37" fmla="*/ 1206 h 3966"/>
                <a:gd name="T38" fmla="*/ 2533 w 3653"/>
                <a:gd name="T39" fmla="*/ 400 h 3966"/>
                <a:gd name="T40" fmla="*/ 1562 w 3653"/>
                <a:gd name="T41" fmla="*/ 770 h 3966"/>
                <a:gd name="T42" fmla="*/ 2198 w 3653"/>
                <a:gd name="T43" fmla="*/ 482 h 3966"/>
                <a:gd name="T44" fmla="*/ 2487 w 3653"/>
                <a:gd name="T45" fmla="*/ 1118 h 3966"/>
                <a:gd name="T46" fmla="*/ 2080 w 3653"/>
                <a:gd name="T47" fmla="*/ 1279 h 3966"/>
                <a:gd name="T48" fmla="*/ 1550 w 3653"/>
                <a:gd name="T49" fmla="*/ 1282 h 3966"/>
                <a:gd name="T50" fmla="*/ 1562 w 3653"/>
                <a:gd name="T51" fmla="*/ 770 h 3966"/>
                <a:gd name="T52" fmla="*/ 1818 w 3653"/>
                <a:gd name="T53" fmla="*/ 1482 h 3966"/>
                <a:gd name="T54" fmla="*/ 2268 w 3653"/>
                <a:gd name="T55" fmla="*/ 1772 h 3966"/>
                <a:gd name="T56" fmla="*/ 1664 w 3653"/>
                <a:gd name="T57" fmla="*/ 2647 h 3966"/>
                <a:gd name="T58" fmla="*/ 1339 w 3653"/>
                <a:gd name="T59" fmla="*/ 2298 h 3966"/>
                <a:gd name="T60" fmla="*/ 275 w 3653"/>
                <a:gd name="T61" fmla="*/ 694 h 3966"/>
                <a:gd name="T62" fmla="*/ 831 w 3653"/>
                <a:gd name="T63" fmla="*/ 271 h 3966"/>
                <a:gd name="T64" fmla="*/ 702 w 3653"/>
                <a:gd name="T65" fmla="*/ 1457 h 3966"/>
                <a:gd name="T66" fmla="*/ 275 w 3653"/>
                <a:gd name="T67" fmla="*/ 694 h 3966"/>
                <a:gd name="T68" fmla="*/ 743 w 3653"/>
                <a:gd name="T69" fmla="*/ 1705 h 3966"/>
                <a:gd name="T70" fmla="*/ 1329 w 3653"/>
                <a:gd name="T71" fmla="*/ 1416 h 3966"/>
                <a:gd name="T72" fmla="*/ 1067 w 3653"/>
                <a:gd name="T73" fmla="*/ 2176 h 3966"/>
                <a:gd name="T74" fmla="*/ 1291 w 3653"/>
                <a:gd name="T75" fmla="*/ 2752 h 3966"/>
                <a:gd name="T76" fmla="*/ 1159 w 3653"/>
                <a:gd name="T77" fmla="*/ 2766 h 3966"/>
                <a:gd name="T78" fmla="*/ 1291 w 3653"/>
                <a:gd name="T79" fmla="*/ 2752 h 3966"/>
                <a:gd name="T80" fmla="*/ 1321 w 3653"/>
                <a:gd name="T81" fmla="*/ 3191 h 3966"/>
                <a:gd name="T82" fmla="*/ 1664 w 3653"/>
                <a:gd name="T83" fmla="*/ 2898 h 3966"/>
                <a:gd name="T84" fmla="*/ 2432 w 3653"/>
                <a:gd name="T85" fmla="*/ 2817 h 3966"/>
                <a:gd name="T86" fmla="*/ 3324 w 3653"/>
                <a:gd name="T87" fmla="*/ 2150 h 3966"/>
                <a:gd name="T88" fmla="*/ 2615 w 3653"/>
                <a:gd name="T89" fmla="*/ 2631 h 3966"/>
                <a:gd name="T90" fmla="*/ 2515 w 3653"/>
                <a:gd name="T91" fmla="*/ 2238 h 3966"/>
                <a:gd name="T92" fmla="*/ 2488 w 3653"/>
                <a:gd name="T93" fmla="*/ 1653 h 3966"/>
                <a:gd name="T94" fmla="*/ 3036 w 3653"/>
                <a:gd name="T95" fmla="*/ 1514 h 3966"/>
                <a:gd name="T96" fmla="*/ 3324 w 3653"/>
                <a:gd name="T97" fmla="*/ 2150 h 3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53" h="3966">
                  <a:moveTo>
                    <a:pt x="3319" y="1389"/>
                  </a:moveTo>
                  <a:cubicBezTo>
                    <a:pt x="3439" y="1274"/>
                    <a:pt x="3534" y="1137"/>
                    <a:pt x="3583" y="1006"/>
                  </a:cubicBezTo>
                  <a:cubicBezTo>
                    <a:pt x="3653" y="820"/>
                    <a:pt x="3646" y="618"/>
                    <a:pt x="3564" y="437"/>
                  </a:cubicBezTo>
                  <a:cubicBezTo>
                    <a:pt x="3482" y="256"/>
                    <a:pt x="3334" y="118"/>
                    <a:pt x="3148" y="48"/>
                  </a:cubicBezTo>
                  <a:cubicBezTo>
                    <a:pt x="3064" y="16"/>
                    <a:pt x="2976" y="0"/>
                    <a:pt x="2886" y="0"/>
                  </a:cubicBezTo>
                  <a:cubicBezTo>
                    <a:pt x="2666" y="0"/>
                    <a:pt x="2460" y="99"/>
                    <a:pt x="2321" y="262"/>
                  </a:cubicBezTo>
                  <a:cubicBezTo>
                    <a:pt x="2309" y="257"/>
                    <a:pt x="2298" y="252"/>
                    <a:pt x="2286" y="248"/>
                  </a:cubicBezTo>
                  <a:cubicBezTo>
                    <a:pt x="2202" y="216"/>
                    <a:pt x="2114" y="200"/>
                    <a:pt x="2025" y="200"/>
                  </a:cubicBezTo>
                  <a:cubicBezTo>
                    <a:pt x="1799" y="200"/>
                    <a:pt x="1589" y="304"/>
                    <a:pt x="1450" y="472"/>
                  </a:cubicBezTo>
                  <a:cubicBezTo>
                    <a:pt x="1351" y="238"/>
                    <a:pt x="1135" y="61"/>
                    <a:pt x="865" y="24"/>
                  </a:cubicBezTo>
                  <a:cubicBezTo>
                    <a:pt x="832" y="19"/>
                    <a:pt x="797" y="17"/>
                    <a:pt x="763" y="17"/>
                  </a:cubicBezTo>
                  <a:cubicBezTo>
                    <a:pt x="394" y="17"/>
                    <a:pt x="77" y="293"/>
                    <a:pt x="27" y="660"/>
                  </a:cubicBezTo>
                  <a:cubicBezTo>
                    <a:pt x="0" y="855"/>
                    <a:pt x="44" y="1092"/>
                    <a:pt x="145" y="1293"/>
                  </a:cubicBezTo>
                  <a:cubicBezTo>
                    <a:pt x="235" y="1472"/>
                    <a:pt x="356" y="1599"/>
                    <a:pt x="495" y="1662"/>
                  </a:cubicBezTo>
                  <a:cubicBezTo>
                    <a:pt x="406" y="1968"/>
                    <a:pt x="218" y="2774"/>
                    <a:pt x="471" y="3280"/>
                  </a:cubicBezTo>
                  <a:cubicBezTo>
                    <a:pt x="359" y="3285"/>
                    <a:pt x="208" y="3341"/>
                    <a:pt x="64" y="3557"/>
                  </a:cubicBezTo>
                  <a:cubicBezTo>
                    <a:pt x="25" y="3614"/>
                    <a:pt x="41" y="3692"/>
                    <a:pt x="98" y="3731"/>
                  </a:cubicBezTo>
                  <a:cubicBezTo>
                    <a:pt x="119" y="3745"/>
                    <a:pt x="143" y="3752"/>
                    <a:pt x="167" y="3752"/>
                  </a:cubicBezTo>
                  <a:cubicBezTo>
                    <a:pt x="208" y="3752"/>
                    <a:pt x="247" y="3732"/>
                    <a:pt x="271" y="3696"/>
                  </a:cubicBezTo>
                  <a:cubicBezTo>
                    <a:pt x="401" y="3502"/>
                    <a:pt x="527" y="3530"/>
                    <a:pt x="546" y="3537"/>
                  </a:cubicBezTo>
                  <a:cubicBezTo>
                    <a:pt x="551" y="3672"/>
                    <a:pt x="494" y="3743"/>
                    <a:pt x="490" y="3747"/>
                  </a:cubicBezTo>
                  <a:cubicBezTo>
                    <a:pt x="441" y="3796"/>
                    <a:pt x="442" y="3875"/>
                    <a:pt x="491" y="3924"/>
                  </a:cubicBezTo>
                  <a:cubicBezTo>
                    <a:pt x="509" y="3942"/>
                    <a:pt x="531" y="3953"/>
                    <a:pt x="555" y="3958"/>
                  </a:cubicBezTo>
                  <a:cubicBezTo>
                    <a:pt x="594" y="3966"/>
                    <a:pt x="637" y="3953"/>
                    <a:pt x="668" y="3922"/>
                  </a:cubicBezTo>
                  <a:cubicBezTo>
                    <a:pt x="675" y="3915"/>
                    <a:pt x="792" y="3794"/>
                    <a:pt x="797" y="3572"/>
                  </a:cubicBezTo>
                  <a:cubicBezTo>
                    <a:pt x="1362" y="3612"/>
                    <a:pt x="1828" y="3452"/>
                    <a:pt x="2132" y="3300"/>
                  </a:cubicBezTo>
                  <a:cubicBezTo>
                    <a:pt x="2473" y="3130"/>
                    <a:pt x="2682" y="2938"/>
                    <a:pt x="2724" y="2897"/>
                  </a:cubicBezTo>
                  <a:cubicBezTo>
                    <a:pt x="3075" y="2886"/>
                    <a:pt x="3443" y="2545"/>
                    <a:pt x="3558" y="2238"/>
                  </a:cubicBezTo>
                  <a:cubicBezTo>
                    <a:pt x="3628" y="2052"/>
                    <a:pt x="3621" y="1850"/>
                    <a:pt x="3539" y="1669"/>
                  </a:cubicBezTo>
                  <a:cubicBezTo>
                    <a:pt x="3489" y="1557"/>
                    <a:pt x="3413" y="1462"/>
                    <a:pt x="3319" y="1389"/>
                  </a:cubicBezTo>
                  <a:close/>
                  <a:moveTo>
                    <a:pt x="2886" y="250"/>
                  </a:moveTo>
                  <a:cubicBezTo>
                    <a:pt x="2946" y="250"/>
                    <a:pt x="3004" y="261"/>
                    <a:pt x="3060" y="282"/>
                  </a:cubicBezTo>
                  <a:cubicBezTo>
                    <a:pt x="3184" y="328"/>
                    <a:pt x="3282" y="420"/>
                    <a:pt x="3336" y="540"/>
                  </a:cubicBezTo>
                  <a:cubicBezTo>
                    <a:pt x="3391" y="660"/>
                    <a:pt x="3395" y="795"/>
                    <a:pt x="3349" y="918"/>
                  </a:cubicBezTo>
                  <a:cubicBezTo>
                    <a:pt x="3303" y="1038"/>
                    <a:pt x="3203" y="1169"/>
                    <a:pt x="3083" y="1266"/>
                  </a:cubicBezTo>
                  <a:cubicBezTo>
                    <a:pt x="3011" y="1243"/>
                    <a:pt x="2937" y="1232"/>
                    <a:pt x="2862" y="1232"/>
                  </a:cubicBezTo>
                  <a:cubicBezTo>
                    <a:pt x="2808" y="1232"/>
                    <a:pt x="2755" y="1238"/>
                    <a:pt x="2703" y="1249"/>
                  </a:cubicBezTo>
                  <a:cubicBezTo>
                    <a:pt x="2709" y="1235"/>
                    <a:pt x="2716" y="1220"/>
                    <a:pt x="2721" y="1206"/>
                  </a:cubicBezTo>
                  <a:cubicBezTo>
                    <a:pt x="2791" y="1020"/>
                    <a:pt x="2784" y="818"/>
                    <a:pt x="2702" y="637"/>
                  </a:cubicBezTo>
                  <a:cubicBezTo>
                    <a:pt x="2661" y="546"/>
                    <a:pt x="2603" y="466"/>
                    <a:pt x="2533" y="400"/>
                  </a:cubicBezTo>
                  <a:cubicBezTo>
                    <a:pt x="2624" y="307"/>
                    <a:pt x="2751" y="250"/>
                    <a:pt x="2886" y="250"/>
                  </a:cubicBezTo>
                  <a:close/>
                  <a:moveTo>
                    <a:pt x="1562" y="770"/>
                  </a:moveTo>
                  <a:cubicBezTo>
                    <a:pt x="1634" y="579"/>
                    <a:pt x="1820" y="450"/>
                    <a:pt x="2025" y="450"/>
                  </a:cubicBezTo>
                  <a:cubicBezTo>
                    <a:pt x="2084" y="450"/>
                    <a:pt x="2142" y="461"/>
                    <a:pt x="2198" y="482"/>
                  </a:cubicBezTo>
                  <a:cubicBezTo>
                    <a:pt x="2322" y="528"/>
                    <a:pt x="2420" y="620"/>
                    <a:pt x="2474" y="740"/>
                  </a:cubicBezTo>
                  <a:cubicBezTo>
                    <a:pt x="2529" y="860"/>
                    <a:pt x="2533" y="995"/>
                    <a:pt x="2487" y="1118"/>
                  </a:cubicBezTo>
                  <a:cubicBezTo>
                    <a:pt x="2451" y="1214"/>
                    <a:pt x="2380" y="1316"/>
                    <a:pt x="2292" y="1402"/>
                  </a:cubicBezTo>
                  <a:cubicBezTo>
                    <a:pt x="2230" y="1351"/>
                    <a:pt x="2158" y="1309"/>
                    <a:pt x="2080" y="1279"/>
                  </a:cubicBezTo>
                  <a:cubicBezTo>
                    <a:pt x="1996" y="1248"/>
                    <a:pt x="1908" y="1232"/>
                    <a:pt x="1818" y="1232"/>
                  </a:cubicBezTo>
                  <a:cubicBezTo>
                    <a:pt x="1725" y="1232"/>
                    <a:pt x="1634" y="1250"/>
                    <a:pt x="1550" y="1282"/>
                  </a:cubicBezTo>
                  <a:cubicBezTo>
                    <a:pt x="1549" y="1277"/>
                    <a:pt x="1547" y="1272"/>
                    <a:pt x="1546" y="1267"/>
                  </a:cubicBezTo>
                  <a:cubicBezTo>
                    <a:pt x="1504" y="1098"/>
                    <a:pt x="1511" y="907"/>
                    <a:pt x="1562" y="770"/>
                  </a:cubicBezTo>
                  <a:close/>
                  <a:moveTo>
                    <a:pt x="1356" y="1802"/>
                  </a:moveTo>
                  <a:cubicBezTo>
                    <a:pt x="1416" y="1606"/>
                    <a:pt x="1614" y="1482"/>
                    <a:pt x="1818" y="1482"/>
                  </a:cubicBezTo>
                  <a:cubicBezTo>
                    <a:pt x="1877" y="1482"/>
                    <a:pt x="1936" y="1492"/>
                    <a:pt x="1992" y="1514"/>
                  </a:cubicBezTo>
                  <a:cubicBezTo>
                    <a:pt x="2115" y="1560"/>
                    <a:pt x="2214" y="1652"/>
                    <a:pt x="2268" y="1772"/>
                  </a:cubicBezTo>
                  <a:cubicBezTo>
                    <a:pt x="2322" y="1892"/>
                    <a:pt x="2327" y="2026"/>
                    <a:pt x="2280" y="2150"/>
                  </a:cubicBezTo>
                  <a:cubicBezTo>
                    <a:pt x="2194" y="2380"/>
                    <a:pt x="1906" y="2647"/>
                    <a:pt x="1664" y="2647"/>
                  </a:cubicBezTo>
                  <a:cubicBezTo>
                    <a:pt x="1631" y="2647"/>
                    <a:pt x="1600" y="2642"/>
                    <a:pt x="1572" y="2631"/>
                  </a:cubicBezTo>
                  <a:cubicBezTo>
                    <a:pt x="1466" y="2592"/>
                    <a:pt x="1384" y="2470"/>
                    <a:pt x="1339" y="2298"/>
                  </a:cubicBezTo>
                  <a:cubicBezTo>
                    <a:pt x="1286" y="2091"/>
                    <a:pt x="1319" y="1921"/>
                    <a:pt x="1356" y="1802"/>
                  </a:cubicBezTo>
                  <a:close/>
                  <a:moveTo>
                    <a:pt x="275" y="694"/>
                  </a:moveTo>
                  <a:cubicBezTo>
                    <a:pt x="308" y="450"/>
                    <a:pt x="518" y="267"/>
                    <a:pt x="763" y="267"/>
                  </a:cubicBezTo>
                  <a:cubicBezTo>
                    <a:pt x="786" y="267"/>
                    <a:pt x="809" y="268"/>
                    <a:pt x="831" y="271"/>
                  </a:cubicBezTo>
                  <a:cubicBezTo>
                    <a:pt x="1101" y="309"/>
                    <a:pt x="1291" y="558"/>
                    <a:pt x="1253" y="828"/>
                  </a:cubicBezTo>
                  <a:cubicBezTo>
                    <a:pt x="1216" y="1103"/>
                    <a:pt x="941" y="1457"/>
                    <a:pt x="702" y="1457"/>
                  </a:cubicBezTo>
                  <a:cubicBezTo>
                    <a:pt x="691" y="1457"/>
                    <a:pt x="680" y="1456"/>
                    <a:pt x="669" y="1455"/>
                  </a:cubicBezTo>
                  <a:cubicBezTo>
                    <a:pt x="421" y="1421"/>
                    <a:pt x="234" y="990"/>
                    <a:pt x="275" y="694"/>
                  </a:cubicBezTo>
                  <a:close/>
                  <a:moveTo>
                    <a:pt x="690" y="3154"/>
                  </a:moveTo>
                  <a:cubicBezTo>
                    <a:pt x="474" y="2715"/>
                    <a:pt x="668" y="1959"/>
                    <a:pt x="743" y="1705"/>
                  </a:cubicBezTo>
                  <a:cubicBezTo>
                    <a:pt x="958" y="1687"/>
                    <a:pt x="1161" y="1533"/>
                    <a:pt x="1305" y="1332"/>
                  </a:cubicBezTo>
                  <a:cubicBezTo>
                    <a:pt x="1312" y="1361"/>
                    <a:pt x="1320" y="1389"/>
                    <a:pt x="1329" y="1416"/>
                  </a:cubicBezTo>
                  <a:cubicBezTo>
                    <a:pt x="1238" y="1495"/>
                    <a:pt x="1166" y="1597"/>
                    <a:pt x="1122" y="1714"/>
                  </a:cubicBezTo>
                  <a:cubicBezTo>
                    <a:pt x="1071" y="1848"/>
                    <a:pt x="1053" y="2012"/>
                    <a:pt x="1067" y="2176"/>
                  </a:cubicBezTo>
                  <a:cubicBezTo>
                    <a:pt x="1008" y="2468"/>
                    <a:pt x="869" y="2910"/>
                    <a:pt x="690" y="3154"/>
                  </a:cubicBezTo>
                  <a:close/>
                  <a:moveTo>
                    <a:pt x="1291" y="2752"/>
                  </a:moveTo>
                  <a:cubicBezTo>
                    <a:pt x="1286" y="2766"/>
                    <a:pt x="1196" y="3021"/>
                    <a:pt x="975" y="3174"/>
                  </a:cubicBezTo>
                  <a:cubicBezTo>
                    <a:pt x="1041" y="3061"/>
                    <a:pt x="1102" y="2925"/>
                    <a:pt x="1159" y="2766"/>
                  </a:cubicBezTo>
                  <a:cubicBezTo>
                    <a:pt x="1176" y="2718"/>
                    <a:pt x="1192" y="2671"/>
                    <a:pt x="1206" y="2626"/>
                  </a:cubicBezTo>
                  <a:cubicBezTo>
                    <a:pt x="1233" y="2670"/>
                    <a:pt x="1258" y="2718"/>
                    <a:pt x="1291" y="2752"/>
                  </a:cubicBezTo>
                  <a:close/>
                  <a:moveTo>
                    <a:pt x="1197" y="3317"/>
                  </a:moveTo>
                  <a:cubicBezTo>
                    <a:pt x="1241" y="3279"/>
                    <a:pt x="1282" y="3237"/>
                    <a:pt x="1321" y="3191"/>
                  </a:cubicBezTo>
                  <a:cubicBezTo>
                    <a:pt x="1428" y="3063"/>
                    <a:pt x="1487" y="2935"/>
                    <a:pt x="1511" y="2875"/>
                  </a:cubicBezTo>
                  <a:cubicBezTo>
                    <a:pt x="1560" y="2890"/>
                    <a:pt x="1611" y="2898"/>
                    <a:pt x="1664" y="2898"/>
                  </a:cubicBezTo>
                  <a:cubicBezTo>
                    <a:pt x="1869" y="2898"/>
                    <a:pt x="2082" y="2781"/>
                    <a:pt x="2248" y="2623"/>
                  </a:cubicBezTo>
                  <a:cubicBezTo>
                    <a:pt x="2298" y="2705"/>
                    <a:pt x="2360" y="2771"/>
                    <a:pt x="2432" y="2817"/>
                  </a:cubicBezTo>
                  <a:cubicBezTo>
                    <a:pt x="2230" y="2974"/>
                    <a:pt x="1792" y="3257"/>
                    <a:pt x="1197" y="3317"/>
                  </a:cubicBezTo>
                  <a:close/>
                  <a:moveTo>
                    <a:pt x="3324" y="2150"/>
                  </a:moveTo>
                  <a:cubicBezTo>
                    <a:pt x="3238" y="2380"/>
                    <a:pt x="2949" y="2647"/>
                    <a:pt x="2707" y="2647"/>
                  </a:cubicBezTo>
                  <a:cubicBezTo>
                    <a:pt x="2674" y="2647"/>
                    <a:pt x="2643" y="2642"/>
                    <a:pt x="2615" y="2631"/>
                  </a:cubicBezTo>
                  <a:cubicBezTo>
                    <a:pt x="2536" y="2602"/>
                    <a:pt x="2468" y="2525"/>
                    <a:pt x="2422" y="2416"/>
                  </a:cubicBezTo>
                  <a:cubicBezTo>
                    <a:pt x="2461" y="2357"/>
                    <a:pt x="2492" y="2297"/>
                    <a:pt x="2515" y="2238"/>
                  </a:cubicBezTo>
                  <a:cubicBezTo>
                    <a:pt x="2585" y="2052"/>
                    <a:pt x="2578" y="1850"/>
                    <a:pt x="2496" y="1669"/>
                  </a:cubicBezTo>
                  <a:cubicBezTo>
                    <a:pt x="2493" y="1663"/>
                    <a:pt x="2491" y="1658"/>
                    <a:pt x="2488" y="1653"/>
                  </a:cubicBezTo>
                  <a:cubicBezTo>
                    <a:pt x="2581" y="1547"/>
                    <a:pt x="2716" y="1482"/>
                    <a:pt x="2862" y="1482"/>
                  </a:cubicBezTo>
                  <a:cubicBezTo>
                    <a:pt x="2921" y="1482"/>
                    <a:pt x="2980" y="1492"/>
                    <a:pt x="3036" y="1514"/>
                  </a:cubicBezTo>
                  <a:cubicBezTo>
                    <a:pt x="3159" y="1560"/>
                    <a:pt x="3257" y="1652"/>
                    <a:pt x="3312" y="1772"/>
                  </a:cubicBezTo>
                  <a:cubicBezTo>
                    <a:pt x="3366" y="1892"/>
                    <a:pt x="3371" y="2026"/>
                    <a:pt x="3324" y="2150"/>
                  </a:cubicBezTo>
                  <a:close/>
                </a:path>
              </a:pathLst>
            </a:custGeom>
            <a:solidFill>
              <a:srgbClr val="B89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solidFill>
                  <a:srgbClr val="B8982C"/>
                </a:solidFill>
              </a:endParaRPr>
            </a:p>
          </p:txBody>
        </p:sp>
      </p:grpSp>
      <p:grpSp>
        <p:nvGrpSpPr>
          <p:cNvPr id="344" name="Group 339"/>
          <p:cNvGrpSpPr/>
          <p:nvPr/>
        </p:nvGrpSpPr>
        <p:grpSpPr>
          <a:xfrm>
            <a:off x="329233" y="22433782"/>
            <a:ext cx="1536374" cy="391966"/>
            <a:chOff x="506999" y="21996952"/>
            <a:chExt cx="1278095" cy="426699"/>
          </a:xfrm>
        </p:grpSpPr>
        <p:sp>
          <p:nvSpPr>
            <p:cNvPr id="345" name="圆角矩形 344"/>
            <p:cNvSpPr/>
            <p:nvPr/>
          </p:nvSpPr>
          <p:spPr>
            <a:xfrm>
              <a:off x="506999" y="21996952"/>
              <a:ext cx="1278095" cy="426699"/>
            </a:xfrm>
            <a:prstGeom prst="roundRect">
              <a:avLst/>
            </a:prstGeom>
            <a:solidFill>
              <a:schemeClr val="tx2">
                <a:lumMod val="60000"/>
                <a:lumOff val="40000"/>
              </a:schemeClr>
            </a:solidFill>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46" name="Text 264"/>
            <p:cNvSpPr/>
            <p:nvPr/>
          </p:nvSpPr>
          <p:spPr>
            <a:xfrm>
              <a:off x="518865" y="22217199"/>
              <a:ext cx="1266229" cy="171719"/>
            </a:xfrm>
            <a:prstGeom prst="rect">
              <a:avLst/>
            </a:prstGeom>
            <a:noFill/>
          </p:spPr>
          <p:txBody>
            <a:bodyPr wrap="square" lIns="0" tIns="0" rIns="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pPr>
              <a:r>
                <a:rPr lang="zh-CN" altLang="en-US" sz="800" b="1" dirty="0" smtClean="0">
                  <a:solidFill>
                    <a:schemeClr val="bg1">
                      <a:alpha val="90000"/>
                    </a:schemeClr>
                  </a:solidFill>
                  <a:latin typeface="微软雅黑" panose="020B0503020204020204" pitchFamily="34" charset="-122"/>
                  <a:ea typeface="微软雅黑" panose="020B0503020204020204" pitchFamily="34" charset="-122"/>
                  <a:cs typeface="MiSans" pitchFamily="34" charset="-120"/>
                </a:rPr>
                <a:t>最佳财富管理信托公司</a:t>
              </a:r>
              <a:endParaRPr lang="en-US" sz="800" b="1" dirty="0">
                <a:solidFill>
                  <a:schemeClr val="bg1">
                    <a:alpha val="90000"/>
                  </a:schemeClr>
                </a:solidFill>
                <a:latin typeface="微软雅黑" panose="020B0503020204020204" pitchFamily="34" charset="-122"/>
                <a:ea typeface="微软雅黑" panose="020B0503020204020204" pitchFamily="34" charset="-122"/>
                <a:cs typeface="MiSans" pitchFamily="34" charset="-120"/>
              </a:endParaRPr>
            </a:p>
          </p:txBody>
        </p:sp>
        <p:sp>
          <p:nvSpPr>
            <p:cNvPr id="347" name="treats_338547">
              <a:extLst>
                <a:ext uri="{FF2B5EF4-FFF2-40B4-BE49-F238E27FC236}">
                  <a16:creationId xmlns:a16="http://schemas.microsoft.com/office/drawing/2014/main" id="{54405246-CCE2-4201-BBB1-D3F3EB6E740D}"/>
                </a:ext>
              </a:extLst>
            </p:cNvPr>
            <p:cNvSpPr/>
            <p:nvPr/>
          </p:nvSpPr>
          <p:spPr>
            <a:xfrm>
              <a:off x="1077976" y="22021818"/>
              <a:ext cx="148007" cy="177632"/>
            </a:xfrm>
            <a:custGeom>
              <a:avLst/>
              <a:gdLst>
                <a:gd name="connsiteX0" fmla="*/ 0 w 604534"/>
                <a:gd name="connsiteY0" fmla="*/ 318885 h 564241"/>
                <a:gd name="connsiteX1" fmla="*/ 302026 w 604534"/>
                <a:gd name="connsiteY1" fmla="*/ 338639 h 564241"/>
                <a:gd name="connsiteX2" fmla="*/ 302750 w 604534"/>
                <a:gd name="connsiteY2" fmla="*/ 338639 h 564241"/>
                <a:gd name="connsiteX3" fmla="*/ 604534 w 604534"/>
                <a:gd name="connsiteY3" fmla="*/ 318885 h 564241"/>
                <a:gd name="connsiteX4" fmla="*/ 604534 w 604534"/>
                <a:gd name="connsiteY4" fmla="*/ 564241 h 564241"/>
                <a:gd name="connsiteX5" fmla="*/ 0 w 604534"/>
                <a:gd name="connsiteY5" fmla="*/ 564241 h 564241"/>
                <a:gd name="connsiteX6" fmla="*/ 302267 w 604534"/>
                <a:gd name="connsiteY6" fmla="*/ 19150 h 564241"/>
                <a:gd name="connsiteX7" fmla="*/ 244250 w 604534"/>
                <a:gd name="connsiteY7" fmla="*/ 77080 h 564241"/>
                <a:gd name="connsiteX8" fmla="*/ 244250 w 604534"/>
                <a:gd name="connsiteY8" fmla="*/ 94062 h 564241"/>
                <a:gd name="connsiteX9" fmla="*/ 360284 w 604534"/>
                <a:gd name="connsiteY9" fmla="*/ 94062 h 564241"/>
                <a:gd name="connsiteX10" fmla="*/ 360284 w 604534"/>
                <a:gd name="connsiteY10" fmla="*/ 77080 h 564241"/>
                <a:gd name="connsiteX11" fmla="*/ 302267 w 604534"/>
                <a:gd name="connsiteY11" fmla="*/ 19150 h 564241"/>
                <a:gd name="connsiteX12" fmla="*/ 302267 w 604534"/>
                <a:gd name="connsiteY12" fmla="*/ 0 h 564241"/>
                <a:gd name="connsiteX13" fmla="*/ 379462 w 604534"/>
                <a:gd name="connsiteY13" fmla="*/ 77080 h 564241"/>
                <a:gd name="connsiteX14" fmla="*/ 379462 w 604534"/>
                <a:gd name="connsiteY14" fmla="*/ 94062 h 564241"/>
                <a:gd name="connsiteX15" fmla="*/ 604534 w 604534"/>
                <a:gd name="connsiteY15" fmla="*/ 94062 h 564241"/>
                <a:gd name="connsiteX16" fmla="*/ 604534 w 604534"/>
                <a:gd name="connsiteY16" fmla="*/ 299768 h 564241"/>
                <a:gd name="connsiteX17" fmla="*/ 603931 w 604534"/>
                <a:gd name="connsiteY17" fmla="*/ 299768 h 564241"/>
                <a:gd name="connsiteX18" fmla="*/ 302750 w 604534"/>
                <a:gd name="connsiteY18" fmla="*/ 319520 h 564241"/>
                <a:gd name="connsiteX19" fmla="*/ 603 w 604534"/>
                <a:gd name="connsiteY19" fmla="*/ 299768 h 564241"/>
                <a:gd name="connsiteX20" fmla="*/ 0 w 604534"/>
                <a:gd name="connsiteY20" fmla="*/ 299648 h 564241"/>
                <a:gd name="connsiteX21" fmla="*/ 0 w 604534"/>
                <a:gd name="connsiteY21" fmla="*/ 94062 h 564241"/>
                <a:gd name="connsiteX22" fmla="*/ 225072 w 604534"/>
                <a:gd name="connsiteY22" fmla="*/ 94062 h 564241"/>
                <a:gd name="connsiteX23" fmla="*/ 225072 w 604534"/>
                <a:gd name="connsiteY23" fmla="*/ 77080 h 564241"/>
                <a:gd name="connsiteX24" fmla="*/ 302267 w 604534"/>
                <a:gd name="connsiteY24" fmla="*/ 0 h 56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4534" h="564241">
                  <a:moveTo>
                    <a:pt x="0" y="318885"/>
                  </a:moveTo>
                  <a:lnTo>
                    <a:pt x="302026" y="338639"/>
                  </a:lnTo>
                  <a:lnTo>
                    <a:pt x="302750" y="338639"/>
                  </a:lnTo>
                  <a:lnTo>
                    <a:pt x="604534" y="318885"/>
                  </a:lnTo>
                  <a:lnTo>
                    <a:pt x="604534" y="564241"/>
                  </a:lnTo>
                  <a:lnTo>
                    <a:pt x="0" y="564241"/>
                  </a:lnTo>
                  <a:close/>
                  <a:moveTo>
                    <a:pt x="302267" y="19150"/>
                  </a:moveTo>
                  <a:cubicBezTo>
                    <a:pt x="270304" y="19150"/>
                    <a:pt x="244250" y="45164"/>
                    <a:pt x="244250" y="77080"/>
                  </a:cubicBezTo>
                  <a:lnTo>
                    <a:pt x="244250" y="94062"/>
                  </a:lnTo>
                  <a:lnTo>
                    <a:pt x="360284" y="94062"/>
                  </a:lnTo>
                  <a:lnTo>
                    <a:pt x="360284" y="77080"/>
                  </a:lnTo>
                  <a:cubicBezTo>
                    <a:pt x="360284" y="45164"/>
                    <a:pt x="334231" y="19150"/>
                    <a:pt x="302267" y="19150"/>
                  </a:cubicBezTo>
                  <a:close/>
                  <a:moveTo>
                    <a:pt x="302267" y="0"/>
                  </a:moveTo>
                  <a:cubicBezTo>
                    <a:pt x="344845" y="0"/>
                    <a:pt x="379462" y="34566"/>
                    <a:pt x="379462" y="77080"/>
                  </a:cubicBezTo>
                  <a:lnTo>
                    <a:pt x="379462" y="94062"/>
                  </a:lnTo>
                  <a:lnTo>
                    <a:pt x="604534" y="94062"/>
                  </a:lnTo>
                  <a:lnTo>
                    <a:pt x="604534" y="299768"/>
                  </a:lnTo>
                  <a:lnTo>
                    <a:pt x="603931" y="299768"/>
                  </a:lnTo>
                  <a:lnTo>
                    <a:pt x="302750" y="319520"/>
                  </a:lnTo>
                  <a:lnTo>
                    <a:pt x="603" y="299768"/>
                  </a:lnTo>
                  <a:lnTo>
                    <a:pt x="0" y="299648"/>
                  </a:lnTo>
                  <a:lnTo>
                    <a:pt x="0" y="94062"/>
                  </a:lnTo>
                  <a:lnTo>
                    <a:pt x="225072" y="94062"/>
                  </a:lnTo>
                  <a:lnTo>
                    <a:pt x="225072" y="77080"/>
                  </a:lnTo>
                  <a:cubicBezTo>
                    <a:pt x="225072" y="34566"/>
                    <a:pt x="259689" y="0"/>
                    <a:pt x="302267" y="0"/>
                  </a:cubicBezTo>
                  <a:close/>
                </a:path>
              </a:pathLst>
            </a:custGeom>
            <a:solidFill>
              <a:srgbClr val="B89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grpSp>
        <p:nvGrpSpPr>
          <p:cNvPr id="361" name="Group 339"/>
          <p:cNvGrpSpPr/>
          <p:nvPr/>
        </p:nvGrpSpPr>
        <p:grpSpPr>
          <a:xfrm>
            <a:off x="2016680" y="22433931"/>
            <a:ext cx="1536374" cy="391966"/>
            <a:chOff x="506999" y="21996952"/>
            <a:chExt cx="1278095" cy="426699"/>
          </a:xfrm>
        </p:grpSpPr>
        <p:sp>
          <p:nvSpPr>
            <p:cNvPr id="362" name="圆角矩形 361"/>
            <p:cNvSpPr/>
            <p:nvPr/>
          </p:nvSpPr>
          <p:spPr>
            <a:xfrm>
              <a:off x="506999" y="21996952"/>
              <a:ext cx="1278095" cy="426699"/>
            </a:xfrm>
            <a:prstGeom prst="roundRect">
              <a:avLst/>
            </a:prstGeom>
            <a:solidFill>
              <a:schemeClr val="tx2">
                <a:lumMod val="60000"/>
                <a:lumOff val="40000"/>
              </a:schemeClr>
            </a:solidFill>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363" name="Text 264"/>
            <p:cNvSpPr/>
            <p:nvPr/>
          </p:nvSpPr>
          <p:spPr>
            <a:xfrm>
              <a:off x="518865" y="22217199"/>
              <a:ext cx="1266229" cy="171719"/>
            </a:xfrm>
            <a:prstGeom prst="rect">
              <a:avLst/>
            </a:prstGeom>
            <a:noFill/>
          </p:spPr>
          <p:txBody>
            <a:bodyPr wrap="square" lIns="0" tIns="0" rIns="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pPr>
              <a:r>
                <a:rPr lang="zh-CN" altLang="en-US" sz="800" b="1" dirty="0">
                  <a:solidFill>
                    <a:schemeClr val="bg1">
                      <a:alpha val="90000"/>
                    </a:schemeClr>
                  </a:solidFill>
                  <a:latin typeface="微软雅黑" panose="020B0503020204020204" pitchFamily="34" charset="-122"/>
                  <a:ea typeface="微软雅黑" panose="020B0503020204020204" pitchFamily="34" charset="-122"/>
                  <a:cs typeface="MiSans" pitchFamily="34" charset="-120"/>
                </a:rPr>
                <a:t>银行</a:t>
              </a:r>
              <a:r>
                <a:rPr lang="zh-CN" altLang="en-US" sz="800" b="1" dirty="0" smtClean="0">
                  <a:solidFill>
                    <a:schemeClr val="bg1">
                      <a:alpha val="90000"/>
                    </a:schemeClr>
                  </a:solidFill>
                  <a:latin typeface="微软雅黑" panose="020B0503020204020204" pitchFamily="34" charset="-122"/>
                  <a:ea typeface="微软雅黑" panose="020B0503020204020204" pitchFamily="34" charset="-122"/>
                  <a:cs typeface="MiSans" pitchFamily="34" charset="-120"/>
                </a:rPr>
                <a:t>间市场优秀发行人</a:t>
              </a:r>
              <a:endParaRPr lang="en-US" sz="800" b="1" dirty="0">
                <a:solidFill>
                  <a:schemeClr val="bg1">
                    <a:alpha val="90000"/>
                  </a:schemeClr>
                </a:solidFill>
                <a:latin typeface="微软雅黑" panose="020B0503020204020204" pitchFamily="34" charset="-122"/>
                <a:ea typeface="微软雅黑" panose="020B0503020204020204" pitchFamily="34" charset="-122"/>
                <a:cs typeface="MiSans" pitchFamily="34" charset="-120"/>
              </a:endParaRPr>
            </a:p>
          </p:txBody>
        </p:sp>
        <p:sp>
          <p:nvSpPr>
            <p:cNvPr id="364" name="treats_338547">
              <a:extLst>
                <a:ext uri="{FF2B5EF4-FFF2-40B4-BE49-F238E27FC236}">
                  <a16:creationId xmlns:a16="http://schemas.microsoft.com/office/drawing/2014/main" id="{54405246-CCE2-4201-BBB1-D3F3EB6E740D}"/>
                </a:ext>
              </a:extLst>
            </p:cNvPr>
            <p:cNvSpPr/>
            <p:nvPr/>
          </p:nvSpPr>
          <p:spPr>
            <a:xfrm>
              <a:off x="1070925" y="22016081"/>
              <a:ext cx="159233" cy="172121"/>
            </a:xfrm>
            <a:custGeom>
              <a:avLst/>
              <a:gdLst>
                <a:gd name="connsiteX0" fmla="*/ 23498 w 561136"/>
                <a:gd name="connsiteY0" fmla="*/ 321396 h 606551"/>
                <a:gd name="connsiteX1" fmla="*/ 215532 w 561136"/>
                <a:gd name="connsiteY1" fmla="*/ 321396 h 606551"/>
                <a:gd name="connsiteX2" fmla="*/ 215532 w 561136"/>
                <a:gd name="connsiteY2" fmla="*/ 479765 h 606551"/>
                <a:gd name="connsiteX3" fmla="*/ 284329 w 561136"/>
                <a:gd name="connsiteY3" fmla="*/ 433117 h 606551"/>
                <a:gd name="connsiteX4" fmla="*/ 352945 w 561136"/>
                <a:gd name="connsiteY4" fmla="*/ 479765 h 606551"/>
                <a:gd name="connsiteX5" fmla="*/ 352945 w 561136"/>
                <a:gd name="connsiteY5" fmla="*/ 321396 h 606551"/>
                <a:gd name="connsiteX6" fmla="*/ 537708 w 561136"/>
                <a:gd name="connsiteY6" fmla="*/ 321396 h 606551"/>
                <a:gd name="connsiteX7" fmla="*/ 537708 w 561136"/>
                <a:gd name="connsiteY7" fmla="*/ 606551 h 606551"/>
                <a:gd name="connsiteX8" fmla="*/ 23498 w 561136"/>
                <a:gd name="connsiteY8" fmla="*/ 606551 h 606551"/>
                <a:gd name="connsiteX9" fmla="*/ 477520 w 561136"/>
                <a:gd name="connsiteY9" fmla="*/ 35746 h 606551"/>
                <a:gd name="connsiteX10" fmla="*/ 387815 w 561136"/>
                <a:gd name="connsiteY10" fmla="*/ 61519 h 606551"/>
                <a:gd name="connsiteX11" fmla="*/ 342462 w 561136"/>
                <a:gd name="connsiteY11" fmla="*/ 94369 h 606551"/>
                <a:gd name="connsiteX12" fmla="*/ 336009 w 561136"/>
                <a:gd name="connsiteY12" fmla="*/ 100722 h 606551"/>
                <a:gd name="connsiteX13" fmla="*/ 369183 w 561136"/>
                <a:gd name="connsiteY13" fmla="*/ 94369 h 606551"/>
                <a:gd name="connsiteX14" fmla="*/ 400811 w 561136"/>
                <a:gd name="connsiteY14" fmla="*/ 85204 h 606551"/>
                <a:gd name="connsiteX15" fmla="*/ 446709 w 561136"/>
                <a:gd name="connsiteY15" fmla="*/ 64967 h 606551"/>
                <a:gd name="connsiteX16" fmla="*/ 467704 w 561136"/>
                <a:gd name="connsiteY16" fmla="*/ 52716 h 606551"/>
                <a:gd name="connsiteX17" fmla="*/ 477520 w 561136"/>
                <a:gd name="connsiteY17" fmla="*/ 35746 h 606551"/>
                <a:gd name="connsiteX18" fmla="*/ 87342 w 561136"/>
                <a:gd name="connsiteY18" fmla="*/ 35746 h 606551"/>
                <a:gd name="connsiteX19" fmla="*/ 97158 w 561136"/>
                <a:gd name="connsiteY19" fmla="*/ 52716 h 606551"/>
                <a:gd name="connsiteX20" fmla="*/ 118153 w 561136"/>
                <a:gd name="connsiteY20" fmla="*/ 64967 h 606551"/>
                <a:gd name="connsiteX21" fmla="*/ 164051 w 561136"/>
                <a:gd name="connsiteY21" fmla="*/ 85204 h 606551"/>
                <a:gd name="connsiteX22" fmla="*/ 195680 w 561136"/>
                <a:gd name="connsiteY22" fmla="*/ 94369 h 606551"/>
                <a:gd name="connsiteX23" fmla="*/ 228853 w 561136"/>
                <a:gd name="connsiteY23" fmla="*/ 100722 h 606551"/>
                <a:gd name="connsiteX24" fmla="*/ 222400 w 561136"/>
                <a:gd name="connsiteY24" fmla="*/ 94369 h 606551"/>
                <a:gd name="connsiteX25" fmla="*/ 177048 w 561136"/>
                <a:gd name="connsiteY25" fmla="*/ 61519 h 606551"/>
                <a:gd name="connsiteX26" fmla="*/ 87342 w 561136"/>
                <a:gd name="connsiteY26" fmla="*/ 35746 h 606551"/>
                <a:gd name="connsiteX27" fmla="*/ 85684 w 561136"/>
                <a:gd name="connsiteY27" fmla="*/ 60 h 606551"/>
                <a:gd name="connsiteX28" fmla="*/ 120243 w 561136"/>
                <a:gd name="connsiteY28" fmla="*/ 3803 h 606551"/>
                <a:gd name="connsiteX29" fmla="*/ 180592 w 561136"/>
                <a:gd name="connsiteY29" fmla="*/ 23586 h 606551"/>
                <a:gd name="connsiteX30" fmla="*/ 270389 w 561136"/>
                <a:gd name="connsiteY30" fmla="*/ 94369 h 606551"/>
                <a:gd name="connsiteX31" fmla="*/ 277569 w 561136"/>
                <a:gd name="connsiteY31" fmla="*/ 103626 h 606551"/>
                <a:gd name="connsiteX32" fmla="*/ 280932 w 561136"/>
                <a:gd name="connsiteY32" fmla="*/ 108163 h 606551"/>
                <a:gd name="connsiteX33" fmla="*/ 282386 w 561136"/>
                <a:gd name="connsiteY33" fmla="*/ 110613 h 606551"/>
                <a:gd name="connsiteX34" fmla="*/ 283931 w 561136"/>
                <a:gd name="connsiteY34" fmla="*/ 108163 h 606551"/>
                <a:gd name="connsiteX35" fmla="*/ 287203 w 561136"/>
                <a:gd name="connsiteY35" fmla="*/ 103626 h 606551"/>
                <a:gd name="connsiteX36" fmla="*/ 294474 w 561136"/>
                <a:gd name="connsiteY36" fmla="*/ 94369 h 606551"/>
                <a:gd name="connsiteX37" fmla="*/ 384179 w 561136"/>
                <a:gd name="connsiteY37" fmla="*/ 23586 h 606551"/>
                <a:gd name="connsiteX38" fmla="*/ 444619 w 561136"/>
                <a:gd name="connsiteY38" fmla="*/ 3803 h 606551"/>
                <a:gd name="connsiteX39" fmla="*/ 510239 w 561136"/>
                <a:gd name="connsiteY39" fmla="*/ 12515 h 606551"/>
                <a:gd name="connsiteX40" fmla="*/ 467432 w 561136"/>
                <a:gd name="connsiteY40" fmla="*/ 94369 h 606551"/>
                <a:gd name="connsiteX41" fmla="*/ 448891 w 561136"/>
                <a:gd name="connsiteY41" fmla="*/ 103626 h 606551"/>
                <a:gd name="connsiteX42" fmla="*/ 448345 w 561136"/>
                <a:gd name="connsiteY42" fmla="*/ 103898 h 606551"/>
                <a:gd name="connsiteX43" fmla="*/ 427896 w 561136"/>
                <a:gd name="connsiteY43" fmla="*/ 112882 h 606551"/>
                <a:gd name="connsiteX44" fmla="*/ 561136 w 561136"/>
                <a:gd name="connsiteY44" fmla="*/ 112882 h 606551"/>
                <a:gd name="connsiteX45" fmla="*/ 561136 w 561136"/>
                <a:gd name="connsiteY45" fmla="*/ 302908 h 606551"/>
                <a:gd name="connsiteX46" fmla="*/ 537687 w 561136"/>
                <a:gd name="connsiteY46" fmla="*/ 302908 h 606551"/>
                <a:gd name="connsiteX47" fmla="*/ 23449 w 561136"/>
                <a:gd name="connsiteY47" fmla="*/ 302908 h 606551"/>
                <a:gd name="connsiteX48" fmla="*/ 0 w 561136"/>
                <a:gd name="connsiteY48" fmla="*/ 302908 h 606551"/>
                <a:gd name="connsiteX49" fmla="*/ 0 w 561136"/>
                <a:gd name="connsiteY49" fmla="*/ 112882 h 606551"/>
                <a:gd name="connsiteX50" fmla="*/ 136967 w 561136"/>
                <a:gd name="connsiteY50" fmla="*/ 112882 h 606551"/>
                <a:gd name="connsiteX51" fmla="*/ 116517 w 561136"/>
                <a:gd name="connsiteY51" fmla="*/ 103898 h 606551"/>
                <a:gd name="connsiteX52" fmla="*/ 115972 w 561136"/>
                <a:gd name="connsiteY52" fmla="*/ 103626 h 606551"/>
                <a:gd name="connsiteX53" fmla="*/ 97431 w 561136"/>
                <a:gd name="connsiteY53" fmla="*/ 94369 h 606551"/>
                <a:gd name="connsiteX54" fmla="*/ 54532 w 561136"/>
                <a:gd name="connsiteY54" fmla="*/ 12515 h 606551"/>
                <a:gd name="connsiteX55" fmla="*/ 85684 w 561136"/>
                <a:gd name="connsiteY55" fmla="*/ 60 h 60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61136" h="606551">
                  <a:moveTo>
                    <a:pt x="23498" y="321396"/>
                  </a:moveTo>
                  <a:lnTo>
                    <a:pt x="215532" y="321396"/>
                  </a:lnTo>
                  <a:lnTo>
                    <a:pt x="215532" y="479765"/>
                  </a:lnTo>
                  <a:lnTo>
                    <a:pt x="284329" y="433117"/>
                  </a:lnTo>
                  <a:lnTo>
                    <a:pt x="352945" y="479765"/>
                  </a:lnTo>
                  <a:lnTo>
                    <a:pt x="352945" y="321396"/>
                  </a:lnTo>
                  <a:lnTo>
                    <a:pt x="537708" y="321396"/>
                  </a:lnTo>
                  <a:lnTo>
                    <a:pt x="537708" y="606551"/>
                  </a:lnTo>
                  <a:lnTo>
                    <a:pt x="23498" y="606551"/>
                  </a:lnTo>
                  <a:close/>
                  <a:moveTo>
                    <a:pt x="477520" y="35746"/>
                  </a:moveTo>
                  <a:cubicBezTo>
                    <a:pt x="448164" y="32842"/>
                    <a:pt x="412990" y="48088"/>
                    <a:pt x="387815" y="61519"/>
                  </a:cubicBezTo>
                  <a:cubicBezTo>
                    <a:pt x="371273" y="70412"/>
                    <a:pt x="356095" y="81483"/>
                    <a:pt x="342462" y="94369"/>
                  </a:cubicBezTo>
                  <a:cubicBezTo>
                    <a:pt x="340281" y="96457"/>
                    <a:pt x="338099" y="98544"/>
                    <a:pt x="336009" y="100722"/>
                  </a:cubicBezTo>
                  <a:cubicBezTo>
                    <a:pt x="347097" y="99179"/>
                    <a:pt x="358185" y="97001"/>
                    <a:pt x="369183" y="94369"/>
                  </a:cubicBezTo>
                  <a:cubicBezTo>
                    <a:pt x="379817" y="91828"/>
                    <a:pt x="390359" y="88743"/>
                    <a:pt x="400811" y="85204"/>
                  </a:cubicBezTo>
                  <a:cubicBezTo>
                    <a:pt x="416717" y="79759"/>
                    <a:pt x="431895" y="72771"/>
                    <a:pt x="446709" y="64967"/>
                  </a:cubicBezTo>
                  <a:cubicBezTo>
                    <a:pt x="453889" y="61246"/>
                    <a:pt x="460797" y="56981"/>
                    <a:pt x="467704" y="52716"/>
                  </a:cubicBezTo>
                  <a:cubicBezTo>
                    <a:pt x="473067" y="49449"/>
                    <a:pt x="495152" y="37380"/>
                    <a:pt x="477520" y="35746"/>
                  </a:cubicBezTo>
                  <a:close/>
                  <a:moveTo>
                    <a:pt x="87342" y="35746"/>
                  </a:moveTo>
                  <a:cubicBezTo>
                    <a:pt x="69710" y="37380"/>
                    <a:pt x="91796" y="49449"/>
                    <a:pt x="97158" y="52716"/>
                  </a:cubicBezTo>
                  <a:cubicBezTo>
                    <a:pt x="104066" y="56981"/>
                    <a:pt x="110973" y="61246"/>
                    <a:pt x="118153" y="64967"/>
                  </a:cubicBezTo>
                  <a:cubicBezTo>
                    <a:pt x="132968" y="72771"/>
                    <a:pt x="148146" y="79759"/>
                    <a:pt x="164051" y="85204"/>
                  </a:cubicBezTo>
                  <a:cubicBezTo>
                    <a:pt x="174503" y="88743"/>
                    <a:pt x="185046" y="91828"/>
                    <a:pt x="195680" y="94369"/>
                  </a:cubicBezTo>
                  <a:cubicBezTo>
                    <a:pt x="206677" y="97001"/>
                    <a:pt x="217765" y="99179"/>
                    <a:pt x="228853" y="100722"/>
                  </a:cubicBezTo>
                  <a:cubicBezTo>
                    <a:pt x="226763" y="98544"/>
                    <a:pt x="224582" y="96457"/>
                    <a:pt x="222400" y="94369"/>
                  </a:cubicBezTo>
                  <a:cubicBezTo>
                    <a:pt x="208767" y="81483"/>
                    <a:pt x="193589" y="70412"/>
                    <a:pt x="177048" y="61519"/>
                  </a:cubicBezTo>
                  <a:cubicBezTo>
                    <a:pt x="151872" y="48088"/>
                    <a:pt x="116699" y="32842"/>
                    <a:pt x="87342" y="35746"/>
                  </a:cubicBezTo>
                  <a:close/>
                  <a:moveTo>
                    <a:pt x="85684" y="60"/>
                  </a:moveTo>
                  <a:cubicBezTo>
                    <a:pt x="97681" y="-394"/>
                    <a:pt x="110246" y="1852"/>
                    <a:pt x="120243" y="3803"/>
                  </a:cubicBezTo>
                  <a:cubicBezTo>
                    <a:pt x="141057" y="7887"/>
                    <a:pt x="161415" y="14421"/>
                    <a:pt x="180592" y="23586"/>
                  </a:cubicBezTo>
                  <a:cubicBezTo>
                    <a:pt x="215857" y="40374"/>
                    <a:pt x="245940" y="64423"/>
                    <a:pt x="270389" y="94369"/>
                  </a:cubicBezTo>
                  <a:cubicBezTo>
                    <a:pt x="272843" y="97364"/>
                    <a:pt x="275206" y="100450"/>
                    <a:pt x="277569" y="103626"/>
                  </a:cubicBezTo>
                  <a:cubicBezTo>
                    <a:pt x="278750" y="105078"/>
                    <a:pt x="279841" y="106620"/>
                    <a:pt x="280932" y="108163"/>
                  </a:cubicBezTo>
                  <a:cubicBezTo>
                    <a:pt x="281477" y="108980"/>
                    <a:pt x="282022" y="109797"/>
                    <a:pt x="282386" y="110613"/>
                  </a:cubicBezTo>
                  <a:cubicBezTo>
                    <a:pt x="282840" y="109797"/>
                    <a:pt x="283295" y="108980"/>
                    <a:pt x="283931" y="108163"/>
                  </a:cubicBezTo>
                  <a:cubicBezTo>
                    <a:pt x="285021" y="106620"/>
                    <a:pt x="286112" y="105078"/>
                    <a:pt x="287203" y="103626"/>
                  </a:cubicBezTo>
                  <a:cubicBezTo>
                    <a:pt x="289566" y="100450"/>
                    <a:pt x="292020" y="97364"/>
                    <a:pt x="294474" y="94369"/>
                  </a:cubicBezTo>
                  <a:cubicBezTo>
                    <a:pt x="318831" y="64423"/>
                    <a:pt x="349006" y="40374"/>
                    <a:pt x="384179" y="23586"/>
                  </a:cubicBezTo>
                  <a:cubicBezTo>
                    <a:pt x="403447" y="14421"/>
                    <a:pt x="423715" y="7887"/>
                    <a:pt x="444619" y="3803"/>
                  </a:cubicBezTo>
                  <a:cubicBezTo>
                    <a:pt x="464614" y="-99"/>
                    <a:pt x="494879" y="-5181"/>
                    <a:pt x="510239" y="12515"/>
                  </a:cubicBezTo>
                  <a:cubicBezTo>
                    <a:pt x="541504" y="48360"/>
                    <a:pt x="500696" y="76855"/>
                    <a:pt x="467432" y="94369"/>
                  </a:cubicBezTo>
                  <a:cubicBezTo>
                    <a:pt x="460706" y="97909"/>
                    <a:pt x="454344" y="100994"/>
                    <a:pt x="448891" y="103626"/>
                  </a:cubicBezTo>
                  <a:cubicBezTo>
                    <a:pt x="448709" y="103716"/>
                    <a:pt x="448527" y="103807"/>
                    <a:pt x="448345" y="103898"/>
                  </a:cubicBezTo>
                  <a:cubicBezTo>
                    <a:pt x="441620" y="107074"/>
                    <a:pt x="434803" y="110069"/>
                    <a:pt x="427896" y="112882"/>
                  </a:cubicBezTo>
                  <a:lnTo>
                    <a:pt x="561136" y="112882"/>
                  </a:lnTo>
                  <a:lnTo>
                    <a:pt x="561136" y="302908"/>
                  </a:lnTo>
                  <a:lnTo>
                    <a:pt x="537687" y="302908"/>
                  </a:lnTo>
                  <a:lnTo>
                    <a:pt x="23449" y="302908"/>
                  </a:lnTo>
                  <a:lnTo>
                    <a:pt x="0" y="302908"/>
                  </a:lnTo>
                  <a:lnTo>
                    <a:pt x="0" y="112882"/>
                  </a:lnTo>
                  <a:lnTo>
                    <a:pt x="136967" y="112882"/>
                  </a:lnTo>
                  <a:cubicBezTo>
                    <a:pt x="130059" y="110069"/>
                    <a:pt x="123243" y="107074"/>
                    <a:pt x="116517" y="103898"/>
                  </a:cubicBezTo>
                  <a:cubicBezTo>
                    <a:pt x="116335" y="103807"/>
                    <a:pt x="116154" y="103716"/>
                    <a:pt x="115972" y="103626"/>
                  </a:cubicBezTo>
                  <a:cubicBezTo>
                    <a:pt x="110519" y="100994"/>
                    <a:pt x="104156" y="97909"/>
                    <a:pt x="97431" y="94369"/>
                  </a:cubicBezTo>
                  <a:cubicBezTo>
                    <a:pt x="64166" y="76855"/>
                    <a:pt x="23358" y="48360"/>
                    <a:pt x="54532" y="12515"/>
                  </a:cubicBezTo>
                  <a:cubicBezTo>
                    <a:pt x="62258" y="3667"/>
                    <a:pt x="73687" y="513"/>
                    <a:pt x="85684" y="60"/>
                  </a:cubicBezTo>
                  <a:close/>
                </a:path>
              </a:pathLst>
            </a:custGeom>
            <a:solidFill>
              <a:srgbClr val="B898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048b90ea-9ce7-46d5-8881-8c8ffdf73b2a&quot;,&quot;Name&quot;:null,&quot;Kind&quot;:1,&quot;OldGuidesSetting&quot;:{&quot;HeaderHeight&quot;:0.0,&quot;FooterHeight&quot;:0.0,&quot;SideMargin&quot;:0.0,&quot;TopMargin&quot;:0.0,&quot;BottomMargin&quot;:0.0,&quot;IntervalMargin&quot;:0.0}}"/>
</p:tagLst>
</file>

<file path=ppt/theme/theme1.xml><?xml version="1.0" encoding="utf-8"?>
<a:theme xmlns:a="http://schemas.openxmlformats.org/drawingml/2006/main" name="Custom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F2937"/>
        </a:solidFill>
      </a:spPr>
      <a:body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TotalTime>
  <Words>564</Words>
  <Application>Microsoft Office PowerPoint</Application>
  <PresentationFormat>自定义</PresentationFormat>
  <Paragraphs>192</Paragraphs>
  <Slides>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微软雅黑</vt:lpstr>
      <vt:lpstr>等线 Light</vt:lpstr>
      <vt:lpstr>Arial</vt:lpstr>
      <vt:lpstr>等线</vt:lpstr>
      <vt:lpstr>Calibri</vt:lpstr>
      <vt:lpstr>MiSans</vt:lpstr>
      <vt:lpstr>Calibri Light</vt:lpstr>
      <vt:lpstr>Custom Theme</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外贸信托-稳鑫系列产品介绍</dc:title>
  <dc:subject>外贸信托-稳鑫系列产品介绍</dc:subject>
  <dc:creator>Kimi</dc:creator>
  <cp:lastModifiedBy>刘沛丰</cp:lastModifiedBy>
  <cp:revision>26</cp:revision>
  <dcterms:created xsi:type="dcterms:W3CDTF">2026-02-24T03:18:00Z</dcterms:created>
  <dcterms:modified xsi:type="dcterms:W3CDTF">2026-02-24T09:18:22Z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{"Label":"外贸信托-稳鑫系列产品介绍","ContentProducer":"001191110108MACG2KBH8F10000","ProduceID":"19c8da2a-7782-8793-8000-0000fa4feffe","ReservedCode1":"","ContentPropagator":"001191110108MACG2KBH8F20000","PropagateID":"19c8da2a-7782-8793-8000-0000fa4feffe","Reserved</vt:lpwstr>
  </property>
  <property fmtid="{D5CDD505-2E9C-101B-9397-08002B2CF9AE}" pid="3" name="ICV">
    <vt:lpwstr>281F8BF937534BC0BE09AA48BEED0BCC_12</vt:lpwstr>
  </property>
  <property fmtid="{D5CDD505-2E9C-101B-9397-08002B2CF9AE}" pid="4" name="KSOProductBuildVer">
    <vt:lpwstr>2052-12.1.0.22175</vt:lpwstr>
  </property>
</Properties>
</file>